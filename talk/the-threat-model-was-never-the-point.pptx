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786"/>
  </p:normalViewPr>
  <p:slideViewPr>
    <p:cSldViewPr snapToGrid="0" snapToObjects="1">
      <p:cViewPr varScale="1">
        <p:scale>
          <a:sx n="70" d="100"/>
          <a:sy n="70" d="100"/>
        </p:scale>
        <p:origin x="13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947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c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0E121A"/>
          </a:solidFill>
          <a:ln>
            <a:noFill/>
          </a:ln>
          <a:effectLst/>
        </p:spPr>
        <p:txBody>
          <a:bodyPr rtlCol="0" anchor="ctr"/>
          <a:lstStyle/>
          <a:p>
            <a:pPr algn="ctr"/>
            <a:endParaRPr/>
          </a:p>
        </p:txBody>
      </p:sp>
      <p:sp>
        <p:nvSpPr>
          <p:cNvPr id="3" name="Rectangle 2"/>
          <p:cNvSpPr/>
          <p:nvPr/>
        </p:nvSpPr>
        <p:spPr>
          <a:xfrm>
            <a:off x="841248" y="3383280"/>
            <a:ext cx="54864" cy="5120640"/>
          </a:xfrm>
          <a:prstGeom prst="rect">
            <a:avLst/>
          </a:prstGeom>
          <a:solidFill>
            <a:srgbClr val="B14B26"/>
          </a:solidFill>
          <a:ln>
            <a:noFill/>
          </a:ln>
          <a:effectLst/>
        </p:spPr>
        <p:txBody>
          <a:bodyPr wrap="square" rtlCol="0" anchor="ctr"/>
          <a:lstStyle/>
          <a:p>
            <a:pPr algn="ctr"/>
            <a:endParaRPr/>
          </a:p>
        </p:txBody>
      </p:sp>
      <p:sp>
        <p:nvSpPr>
          <p:cNvPr id="4" name="TextBox 3"/>
          <p:cNvSpPr txBox="1"/>
          <p:nvPr/>
        </p:nvSpPr>
        <p:spPr>
          <a:xfrm>
            <a:off x="1188720" y="3364992"/>
            <a:ext cx="12801600" cy="274320"/>
          </a:xfrm>
          <a:prstGeom prst="rect">
            <a:avLst/>
          </a:prstGeom>
          <a:noFill/>
        </p:spPr>
        <p:txBody>
          <a:bodyPr wrap="square" lIns="0" tIns="0" rIns="0" bIns="0" anchor="t">
            <a:spAutoFit/>
          </a:bodyPr>
          <a:lstStyle/>
          <a:p>
            <a:pPr algn="l">
              <a:lnSpc>
                <a:spcPts val="1593"/>
              </a:lnSpc>
              <a:spcAft>
                <a:spcPts val="0"/>
              </a:spcAft>
            </a:pPr>
            <a:r>
              <a:rPr sz="1350" b="1" spc="220">
                <a:solidFill>
                  <a:srgbClr val="B14B26"/>
                </a:solidFill>
                <a:latin typeface="Arial"/>
              </a:rPr>
              <a:t>SECURITY CHAMPION SUMMIT 2026</a:t>
            </a:r>
          </a:p>
        </p:txBody>
      </p:sp>
      <p:sp>
        <p:nvSpPr>
          <p:cNvPr id="5" name="TextBox 4"/>
          <p:cNvSpPr txBox="1"/>
          <p:nvPr/>
        </p:nvSpPr>
        <p:spPr>
          <a:xfrm>
            <a:off x="1188720" y="4023360"/>
            <a:ext cx="15727680" cy="882396"/>
          </a:xfrm>
          <a:prstGeom prst="rect">
            <a:avLst/>
          </a:prstGeom>
          <a:noFill/>
        </p:spPr>
        <p:txBody>
          <a:bodyPr wrap="square" lIns="0" tIns="0" rIns="0" bIns="0" anchor="t">
            <a:spAutoFit/>
          </a:bodyPr>
          <a:lstStyle/>
          <a:p>
            <a:pPr algn="l">
              <a:lnSpc>
                <a:spcPts val="6372"/>
              </a:lnSpc>
              <a:spcAft>
                <a:spcPts val="0"/>
              </a:spcAft>
            </a:pPr>
            <a:r>
              <a:rPr sz="5400" b="0">
                <a:solidFill>
                  <a:srgbClr val="F4F2ED"/>
                </a:solidFill>
                <a:latin typeface="Georgia"/>
              </a:rPr>
              <a:t>The threat model was never the point.</a:t>
            </a:r>
          </a:p>
        </p:txBody>
      </p:sp>
      <p:sp>
        <p:nvSpPr>
          <p:cNvPr id="6" name="TextBox 5"/>
          <p:cNvSpPr txBox="1"/>
          <p:nvPr/>
        </p:nvSpPr>
        <p:spPr>
          <a:xfrm>
            <a:off x="1188720" y="7516368"/>
            <a:ext cx="13331952" cy="475488"/>
          </a:xfrm>
          <a:prstGeom prst="rect">
            <a:avLst/>
          </a:prstGeom>
          <a:noFill/>
        </p:spPr>
        <p:txBody>
          <a:bodyPr wrap="square" lIns="0" tIns="0" rIns="0" bIns="0" anchor="t">
            <a:spAutoFit/>
          </a:bodyPr>
          <a:lstStyle/>
          <a:p>
            <a:pPr algn="l">
              <a:lnSpc>
                <a:spcPts val="3068"/>
              </a:lnSpc>
              <a:spcAft>
                <a:spcPts val="0"/>
              </a:spcAft>
            </a:pPr>
            <a:r>
              <a:rPr sz="2600" b="0">
                <a:solidFill>
                  <a:srgbClr val="969DAA"/>
                </a:solidFill>
                <a:latin typeface="Georgia"/>
              </a:rPr>
              <a:t>Five runs, one system, one variable each.</a:t>
            </a:r>
          </a:p>
        </p:txBody>
      </p:sp>
      <p:sp>
        <p:nvSpPr>
          <p:cNvPr id="7" name="TextBox 6"/>
          <p:cNvSpPr txBox="1"/>
          <p:nvPr/>
        </p:nvSpPr>
        <p:spPr>
          <a:xfrm>
            <a:off x="1188720" y="8193024"/>
            <a:ext cx="13716000" cy="310896"/>
          </a:xfrm>
          <a:prstGeom prst="rect">
            <a:avLst/>
          </a:prstGeom>
          <a:noFill/>
        </p:spPr>
        <p:txBody>
          <a:bodyPr wrap="square" lIns="0" tIns="0" rIns="0" bIns="0" anchor="t">
            <a:spAutoFit/>
          </a:bodyPr>
          <a:lstStyle/>
          <a:p>
            <a:pPr algn="l">
              <a:lnSpc>
                <a:spcPts val="2124"/>
              </a:lnSpc>
              <a:spcAft>
                <a:spcPts val="0"/>
              </a:spcAft>
            </a:pPr>
            <a:r>
              <a:rPr sz="1800" b="0" spc="60">
                <a:solidFill>
                  <a:srgbClr val="969DAA"/>
                </a:solidFill>
                <a:latin typeface="Arial"/>
              </a:rPr>
              <a:t>Brett Crawley, Principal Application Security Engineer</a:t>
            </a:r>
          </a:p>
        </p:txBody>
      </p:sp>
      <p:sp>
        <p:nvSpPr>
          <p:cNvPr id="8" name="TextBox 7"/>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969DAA"/>
                </a:solidFill>
                <a:latin typeface="Arial"/>
              </a:rPr>
              <a:t>01      Security Champion Summit 2026      Brett Crawley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Rounded Rectangle 2"/>
          <p:cNvSpPr/>
          <p:nvPr/>
        </p:nvSpPr>
        <p:spPr>
          <a:xfrm>
            <a:off x="841248" y="713232"/>
            <a:ext cx="2452851"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 name="TextBox 3"/>
          <p:cNvSpPr txBox="1"/>
          <p:nvPr/>
        </p:nvSpPr>
        <p:spPr>
          <a:xfrm>
            <a:off x="1042416" y="781812"/>
            <a:ext cx="2087091" cy="201168"/>
          </a:xfrm>
          <a:prstGeom prst="rect">
            <a:avLst/>
          </a:prstGeom>
          <a:noFill/>
        </p:spPr>
        <p:txBody>
          <a:bodyPr wrap="square" lIns="0" tIns="0" rIns="0" bIns="0" anchor="t">
            <a:spAutoFit/>
          </a:bodyPr>
          <a:lstStyle/>
          <a:p>
            <a:pPr algn="l">
              <a:lnSpc>
                <a:spcPts val="1534"/>
              </a:lnSpc>
              <a:spcAft>
                <a:spcPts val="0"/>
              </a:spcAft>
            </a:pPr>
            <a:r>
              <a:rPr sz="1300" b="1" spc="140">
                <a:solidFill>
                  <a:srgbClr val="FFFFFF"/>
                </a:solidFill>
                <a:latin typeface="Arial"/>
              </a:rPr>
              <a:t>SETTING THE SCENE</a:t>
            </a:r>
          </a:p>
        </p:txBody>
      </p:sp>
      <p:sp>
        <p:nvSpPr>
          <p:cNvPr id="5" name="TextBox 4"/>
          <p:cNvSpPr txBox="1"/>
          <p:nvPr/>
        </p:nvSpPr>
        <p:spPr>
          <a:xfrm>
            <a:off x="841248" y="1335024"/>
            <a:ext cx="15179040" cy="1133856"/>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Application security is outnumbered, and champions are the only arithmetic that changes.</a:t>
            </a:r>
          </a:p>
        </p:txBody>
      </p:sp>
      <p:sp>
        <p:nvSpPr>
          <p:cNvPr id="6" name="TextBox 5"/>
          <p:cNvSpPr txBox="1"/>
          <p:nvPr/>
        </p:nvSpPr>
        <p:spPr>
          <a:xfrm>
            <a:off x="841248" y="2651760"/>
            <a:ext cx="5120640" cy="1025651"/>
          </a:xfrm>
          <a:prstGeom prst="rect">
            <a:avLst/>
          </a:prstGeom>
          <a:noFill/>
        </p:spPr>
        <p:txBody>
          <a:bodyPr wrap="square" lIns="0" tIns="0" rIns="0" bIns="0" anchor="t">
            <a:spAutoFit/>
          </a:bodyPr>
          <a:lstStyle/>
          <a:p>
            <a:pPr algn="l">
              <a:lnSpc>
                <a:spcPts val="7788"/>
              </a:lnSpc>
              <a:spcAft>
                <a:spcPts val="0"/>
              </a:spcAft>
            </a:pPr>
            <a:r>
              <a:rPr sz="6600" b="1">
                <a:solidFill>
                  <a:srgbClr val="B14B26"/>
                </a:solidFill>
                <a:latin typeface="Arial"/>
              </a:rPr>
              <a:t>1.38</a:t>
            </a:r>
          </a:p>
        </p:txBody>
      </p:sp>
      <p:sp>
        <p:nvSpPr>
          <p:cNvPr id="7" name="TextBox 6"/>
          <p:cNvSpPr txBox="1"/>
          <p:nvPr/>
        </p:nvSpPr>
        <p:spPr>
          <a:xfrm>
            <a:off x="841248" y="3768851"/>
            <a:ext cx="5120640" cy="594359"/>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security team members for every 100 developers</a:t>
            </a:r>
          </a:p>
        </p:txBody>
      </p:sp>
      <p:sp>
        <p:nvSpPr>
          <p:cNvPr id="8" name="Rectangle 7"/>
          <p:cNvSpPr/>
          <p:nvPr/>
        </p:nvSpPr>
        <p:spPr>
          <a:xfrm>
            <a:off x="841248" y="4783836"/>
            <a:ext cx="5120640" cy="10972"/>
          </a:xfrm>
          <a:prstGeom prst="rect">
            <a:avLst/>
          </a:prstGeom>
          <a:solidFill>
            <a:srgbClr val="D6D1C6"/>
          </a:solidFill>
          <a:ln>
            <a:noFill/>
          </a:ln>
          <a:effectLst/>
        </p:spPr>
        <p:txBody>
          <a:bodyPr wrap="square" rtlCol="0" anchor="ctr"/>
          <a:lstStyle/>
          <a:p>
            <a:pPr algn="ctr"/>
            <a:endParaRPr/>
          </a:p>
        </p:txBody>
      </p:sp>
      <p:sp>
        <p:nvSpPr>
          <p:cNvPr id="9" name="TextBox 8"/>
          <p:cNvSpPr txBox="1"/>
          <p:nvPr/>
        </p:nvSpPr>
        <p:spPr>
          <a:xfrm>
            <a:off x="841248" y="5021580"/>
            <a:ext cx="5120640" cy="1025651"/>
          </a:xfrm>
          <a:prstGeom prst="rect">
            <a:avLst/>
          </a:prstGeom>
          <a:noFill/>
        </p:spPr>
        <p:txBody>
          <a:bodyPr wrap="square" lIns="0" tIns="0" rIns="0" bIns="0" anchor="t">
            <a:spAutoFit/>
          </a:bodyPr>
          <a:lstStyle/>
          <a:p>
            <a:pPr algn="l">
              <a:lnSpc>
                <a:spcPts val="7788"/>
              </a:lnSpc>
              <a:spcAft>
                <a:spcPts val="0"/>
              </a:spcAft>
            </a:pPr>
            <a:r>
              <a:rPr sz="6600" b="1">
                <a:solidFill>
                  <a:srgbClr val="8A381B"/>
                </a:solidFill>
                <a:latin typeface="Arial"/>
              </a:rPr>
              <a:t>4.56</a:t>
            </a:r>
          </a:p>
        </p:txBody>
      </p:sp>
      <p:sp>
        <p:nvSpPr>
          <p:cNvPr id="10" name="TextBox 9"/>
          <p:cNvSpPr txBox="1"/>
          <p:nvPr/>
        </p:nvSpPr>
        <p:spPr>
          <a:xfrm>
            <a:off x="841248" y="6138672"/>
            <a:ext cx="5120640" cy="594359"/>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once security champions are counted alongside them</a:t>
            </a:r>
          </a:p>
        </p:txBody>
      </p:sp>
      <p:sp>
        <p:nvSpPr>
          <p:cNvPr id="11" name="TextBox 10"/>
          <p:cNvSpPr txBox="1"/>
          <p:nvPr/>
        </p:nvSpPr>
        <p:spPr>
          <a:xfrm>
            <a:off x="7223760" y="2670048"/>
            <a:ext cx="4572000" cy="256032"/>
          </a:xfrm>
          <a:prstGeom prst="rect">
            <a:avLst/>
          </a:prstGeom>
          <a:noFill/>
        </p:spPr>
        <p:txBody>
          <a:bodyPr wrap="square" lIns="0" tIns="0" rIns="0" bIns="0" anchor="t">
            <a:spAutoFit/>
          </a:bodyPr>
          <a:lstStyle/>
          <a:p>
            <a:pPr algn="l">
              <a:lnSpc>
                <a:spcPts val="1475"/>
              </a:lnSpc>
              <a:spcAft>
                <a:spcPts val="0"/>
              </a:spcAft>
            </a:pPr>
            <a:r>
              <a:rPr sz="1250" b="1" spc="150">
                <a:solidFill>
                  <a:srgbClr val="606978"/>
                </a:solidFill>
                <a:latin typeface="Arial"/>
              </a:rPr>
              <a:t>SECURITY STAFF ALONE</a:t>
            </a:r>
          </a:p>
        </p:txBody>
      </p:sp>
      <p:sp>
        <p:nvSpPr>
          <p:cNvPr id="12" name="Oval 11"/>
          <p:cNvSpPr/>
          <p:nvPr/>
        </p:nvSpPr>
        <p:spPr>
          <a:xfrm>
            <a:off x="7223760" y="3108960"/>
            <a:ext cx="169164" cy="169164"/>
          </a:xfrm>
          <a:prstGeom prst="ellipse">
            <a:avLst/>
          </a:prstGeom>
          <a:solidFill>
            <a:srgbClr val="B14B26"/>
          </a:solidFill>
          <a:ln>
            <a:noFill/>
          </a:ln>
          <a:effectLst/>
        </p:spPr>
        <p:txBody>
          <a:bodyPr wrap="square" rtlCol="0" anchor="ctr"/>
          <a:lstStyle/>
          <a:p>
            <a:pPr algn="ctr"/>
            <a:endParaRPr/>
          </a:p>
        </p:txBody>
      </p:sp>
      <p:sp>
        <p:nvSpPr>
          <p:cNvPr id="13" name="Oval 12"/>
          <p:cNvSpPr/>
          <p:nvPr/>
        </p:nvSpPr>
        <p:spPr>
          <a:xfrm>
            <a:off x="7488936" y="3108960"/>
            <a:ext cx="169164" cy="169164"/>
          </a:xfrm>
          <a:prstGeom prst="ellipse">
            <a:avLst/>
          </a:prstGeom>
          <a:solidFill>
            <a:srgbClr val="D6D1C6"/>
          </a:solidFill>
          <a:ln>
            <a:noFill/>
          </a:ln>
          <a:effectLst/>
        </p:spPr>
        <p:txBody>
          <a:bodyPr wrap="square" rtlCol="0" anchor="ctr"/>
          <a:lstStyle/>
          <a:p>
            <a:pPr algn="ctr"/>
            <a:endParaRPr/>
          </a:p>
        </p:txBody>
      </p:sp>
      <p:sp>
        <p:nvSpPr>
          <p:cNvPr id="14" name="Oval 13"/>
          <p:cNvSpPr/>
          <p:nvPr/>
        </p:nvSpPr>
        <p:spPr>
          <a:xfrm>
            <a:off x="7754112" y="3108960"/>
            <a:ext cx="169164" cy="169164"/>
          </a:xfrm>
          <a:prstGeom prst="ellipse">
            <a:avLst/>
          </a:prstGeom>
          <a:solidFill>
            <a:srgbClr val="D6D1C6"/>
          </a:solidFill>
          <a:ln>
            <a:noFill/>
          </a:ln>
          <a:effectLst/>
        </p:spPr>
        <p:txBody>
          <a:bodyPr wrap="square" rtlCol="0" anchor="ctr"/>
          <a:lstStyle/>
          <a:p>
            <a:pPr algn="ctr"/>
            <a:endParaRPr/>
          </a:p>
        </p:txBody>
      </p:sp>
      <p:sp>
        <p:nvSpPr>
          <p:cNvPr id="15" name="Oval 14"/>
          <p:cNvSpPr/>
          <p:nvPr/>
        </p:nvSpPr>
        <p:spPr>
          <a:xfrm>
            <a:off x="8019288" y="3108960"/>
            <a:ext cx="169164" cy="169164"/>
          </a:xfrm>
          <a:prstGeom prst="ellipse">
            <a:avLst/>
          </a:prstGeom>
          <a:solidFill>
            <a:srgbClr val="D6D1C6"/>
          </a:solidFill>
          <a:ln>
            <a:noFill/>
          </a:ln>
          <a:effectLst/>
        </p:spPr>
        <p:txBody>
          <a:bodyPr wrap="square" rtlCol="0" anchor="ctr"/>
          <a:lstStyle/>
          <a:p>
            <a:pPr algn="ctr"/>
            <a:endParaRPr/>
          </a:p>
        </p:txBody>
      </p:sp>
      <p:sp>
        <p:nvSpPr>
          <p:cNvPr id="16" name="Oval 15"/>
          <p:cNvSpPr/>
          <p:nvPr/>
        </p:nvSpPr>
        <p:spPr>
          <a:xfrm>
            <a:off x="8284464" y="3108960"/>
            <a:ext cx="169164" cy="169164"/>
          </a:xfrm>
          <a:prstGeom prst="ellipse">
            <a:avLst/>
          </a:prstGeom>
          <a:solidFill>
            <a:srgbClr val="D6D1C6"/>
          </a:solidFill>
          <a:ln>
            <a:noFill/>
          </a:ln>
          <a:effectLst/>
        </p:spPr>
        <p:txBody>
          <a:bodyPr wrap="square" rtlCol="0" anchor="ctr"/>
          <a:lstStyle/>
          <a:p>
            <a:pPr algn="ctr"/>
            <a:endParaRPr/>
          </a:p>
        </p:txBody>
      </p:sp>
      <p:sp>
        <p:nvSpPr>
          <p:cNvPr id="17" name="Oval 16"/>
          <p:cNvSpPr/>
          <p:nvPr/>
        </p:nvSpPr>
        <p:spPr>
          <a:xfrm>
            <a:off x="8549640" y="3108960"/>
            <a:ext cx="169164" cy="169164"/>
          </a:xfrm>
          <a:prstGeom prst="ellipse">
            <a:avLst/>
          </a:prstGeom>
          <a:solidFill>
            <a:srgbClr val="D6D1C6"/>
          </a:solidFill>
          <a:ln>
            <a:noFill/>
          </a:ln>
          <a:effectLst/>
        </p:spPr>
        <p:txBody>
          <a:bodyPr wrap="square" rtlCol="0" anchor="ctr"/>
          <a:lstStyle/>
          <a:p>
            <a:pPr algn="ctr"/>
            <a:endParaRPr/>
          </a:p>
        </p:txBody>
      </p:sp>
      <p:sp>
        <p:nvSpPr>
          <p:cNvPr id="18" name="Oval 17"/>
          <p:cNvSpPr/>
          <p:nvPr/>
        </p:nvSpPr>
        <p:spPr>
          <a:xfrm>
            <a:off x="8814816" y="3108960"/>
            <a:ext cx="169164" cy="169164"/>
          </a:xfrm>
          <a:prstGeom prst="ellipse">
            <a:avLst/>
          </a:prstGeom>
          <a:solidFill>
            <a:srgbClr val="D6D1C6"/>
          </a:solidFill>
          <a:ln>
            <a:noFill/>
          </a:ln>
          <a:effectLst/>
        </p:spPr>
        <p:txBody>
          <a:bodyPr wrap="square" rtlCol="0" anchor="ctr"/>
          <a:lstStyle/>
          <a:p>
            <a:pPr algn="ctr"/>
            <a:endParaRPr/>
          </a:p>
        </p:txBody>
      </p:sp>
      <p:sp>
        <p:nvSpPr>
          <p:cNvPr id="19" name="Oval 18"/>
          <p:cNvSpPr/>
          <p:nvPr/>
        </p:nvSpPr>
        <p:spPr>
          <a:xfrm>
            <a:off x="9079992" y="3108960"/>
            <a:ext cx="169164" cy="169164"/>
          </a:xfrm>
          <a:prstGeom prst="ellipse">
            <a:avLst/>
          </a:prstGeom>
          <a:solidFill>
            <a:srgbClr val="D6D1C6"/>
          </a:solidFill>
          <a:ln>
            <a:noFill/>
          </a:ln>
          <a:effectLst/>
        </p:spPr>
        <p:txBody>
          <a:bodyPr wrap="square" rtlCol="0" anchor="ctr"/>
          <a:lstStyle/>
          <a:p>
            <a:pPr algn="ctr"/>
            <a:endParaRPr/>
          </a:p>
        </p:txBody>
      </p:sp>
      <p:sp>
        <p:nvSpPr>
          <p:cNvPr id="20" name="Oval 19"/>
          <p:cNvSpPr/>
          <p:nvPr/>
        </p:nvSpPr>
        <p:spPr>
          <a:xfrm>
            <a:off x="9345168" y="3108960"/>
            <a:ext cx="169164" cy="169164"/>
          </a:xfrm>
          <a:prstGeom prst="ellipse">
            <a:avLst/>
          </a:prstGeom>
          <a:solidFill>
            <a:srgbClr val="D6D1C6"/>
          </a:solidFill>
          <a:ln>
            <a:noFill/>
          </a:ln>
          <a:effectLst/>
        </p:spPr>
        <p:txBody>
          <a:bodyPr wrap="square" rtlCol="0" anchor="ctr"/>
          <a:lstStyle/>
          <a:p>
            <a:pPr algn="ctr"/>
            <a:endParaRPr/>
          </a:p>
        </p:txBody>
      </p:sp>
      <p:sp>
        <p:nvSpPr>
          <p:cNvPr id="21" name="Oval 20"/>
          <p:cNvSpPr/>
          <p:nvPr/>
        </p:nvSpPr>
        <p:spPr>
          <a:xfrm>
            <a:off x="9610344" y="3108960"/>
            <a:ext cx="169164" cy="169164"/>
          </a:xfrm>
          <a:prstGeom prst="ellipse">
            <a:avLst/>
          </a:prstGeom>
          <a:solidFill>
            <a:srgbClr val="D6D1C6"/>
          </a:solidFill>
          <a:ln>
            <a:noFill/>
          </a:ln>
          <a:effectLst/>
        </p:spPr>
        <p:txBody>
          <a:bodyPr wrap="square" rtlCol="0" anchor="ctr"/>
          <a:lstStyle/>
          <a:p>
            <a:pPr algn="ctr"/>
            <a:endParaRPr/>
          </a:p>
        </p:txBody>
      </p:sp>
      <p:sp>
        <p:nvSpPr>
          <p:cNvPr id="22" name="Oval 21"/>
          <p:cNvSpPr/>
          <p:nvPr/>
        </p:nvSpPr>
        <p:spPr>
          <a:xfrm>
            <a:off x="7223760" y="3374136"/>
            <a:ext cx="169164" cy="169164"/>
          </a:xfrm>
          <a:prstGeom prst="ellipse">
            <a:avLst/>
          </a:prstGeom>
          <a:solidFill>
            <a:srgbClr val="D6D1C6"/>
          </a:solidFill>
          <a:ln>
            <a:noFill/>
          </a:ln>
          <a:effectLst/>
        </p:spPr>
        <p:txBody>
          <a:bodyPr wrap="square" rtlCol="0" anchor="ctr"/>
          <a:lstStyle/>
          <a:p>
            <a:pPr algn="ctr"/>
            <a:endParaRPr/>
          </a:p>
        </p:txBody>
      </p:sp>
      <p:sp>
        <p:nvSpPr>
          <p:cNvPr id="23" name="Oval 22"/>
          <p:cNvSpPr/>
          <p:nvPr/>
        </p:nvSpPr>
        <p:spPr>
          <a:xfrm>
            <a:off x="7488936" y="3374136"/>
            <a:ext cx="169164" cy="169164"/>
          </a:xfrm>
          <a:prstGeom prst="ellipse">
            <a:avLst/>
          </a:prstGeom>
          <a:solidFill>
            <a:srgbClr val="D6D1C6"/>
          </a:solidFill>
          <a:ln>
            <a:noFill/>
          </a:ln>
          <a:effectLst/>
        </p:spPr>
        <p:txBody>
          <a:bodyPr wrap="square" rtlCol="0" anchor="ctr"/>
          <a:lstStyle/>
          <a:p>
            <a:pPr algn="ctr"/>
            <a:endParaRPr/>
          </a:p>
        </p:txBody>
      </p:sp>
      <p:sp>
        <p:nvSpPr>
          <p:cNvPr id="24" name="Oval 23"/>
          <p:cNvSpPr/>
          <p:nvPr/>
        </p:nvSpPr>
        <p:spPr>
          <a:xfrm>
            <a:off x="7754112" y="3374136"/>
            <a:ext cx="169164" cy="169164"/>
          </a:xfrm>
          <a:prstGeom prst="ellipse">
            <a:avLst/>
          </a:prstGeom>
          <a:solidFill>
            <a:srgbClr val="D6D1C6"/>
          </a:solidFill>
          <a:ln>
            <a:noFill/>
          </a:ln>
          <a:effectLst/>
        </p:spPr>
        <p:txBody>
          <a:bodyPr wrap="square" rtlCol="0" anchor="ctr"/>
          <a:lstStyle/>
          <a:p>
            <a:pPr algn="ctr"/>
            <a:endParaRPr/>
          </a:p>
        </p:txBody>
      </p:sp>
      <p:sp>
        <p:nvSpPr>
          <p:cNvPr id="25" name="Oval 24"/>
          <p:cNvSpPr/>
          <p:nvPr/>
        </p:nvSpPr>
        <p:spPr>
          <a:xfrm>
            <a:off x="8019288" y="3374136"/>
            <a:ext cx="169164" cy="169164"/>
          </a:xfrm>
          <a:prstGeom prst="ellipse">
            <a:avLst/>
          </a:prstGeom>
          <a:solidFill>
            <a:srgbClr val="D6D1C6"/>
          </a:solidFill>
          <a:ln>
            <a:noFill/>
          </a:ln>
          <a:effectLst/>
        </p:spPr>
        <p:txBody>
          <a:bodyPr wrap="square" rtlCol="0" anchor="ctr"/>
          <a:lstStyle/>
          <a:p>
            <a:pPr algn="ctr"/>
            <a:endParaRPr/>
          </a:p>
        </p:txBody>
      </p:sp>
      <p:sp>
        <p:nvSpPr>
          <p:cNvPr id="26" name="Oval 25"/>
          <p:cNvSpPr/>
          <p:nvPr/>
        </p:nvSpPr>
        <p:spPr>
          <a:xfrm>
            <a:off x="8284464" y="3374136"/>
            <a:ext cx="169164" cy="169164"/>
          </a:xfrm>
          <a:prstGeom prst="ellipse">
            <a:avLst/>
          </a:prstGeom>
          <a:solidFill>
            <a:srgbClr val="D6D1C6"/>
          </a:solidFill>
          <a:ln>
            <a:noFill/>
          </a:ln>
          <a:effectLst/>
        </p:spPr>
        <p:txBody>
          <a:bodyPr wrap="square" rtlCol="0" anchor="ctr"/>
          <a:lstStyle/>
          <a:p>
            <a:pPr algn="ctr"/>
            <a:endParaRPr/>
          </a:p>
        </p:txBody>
      </p:sp>
      <p:sp>
        <p:nvSpPr>
          <p:cNvPr id="27" name="Oval 26"/>
          <p:cNvSpPr/>
          <p:nvPr/>
        </p:nvSpPr>
        <p:spPr>
          <a:xfrm>
            <a:off x="8549640" y="3374136"/>
            <a:ext cx="169164" cy="169164"/>
          </a:xfrm>
          <a:prstGeom prst="ellipse">
            <a:avLst/>
          </a:prstGeom>
          <a:solidFill>
            <a:srgbClr val="D6D1C6"/>
          </a:solidFill>
          <a:ln>
            <a:noFill/>
          </a:ln>
          <a:effectLst/>
        </p:spPr>
        <p:txBody>
          <a:bodyPr wrap="square" rtlCol="0" anchor="ctr"/>
          <a:lstStyle/>
          <a:p>
            <a:pPr algn="ctr"/>
            <a:endParaRPr/>
          </a:p>
        </p:txBody>
      </p:sp>
      <p:sp>
        <p:nvSpPr>
          <p:cNvPr id="28" name="Oval 27"/>
          <p:cNvSpPr/>
          <p:nvPr/>
        </p:nvSpPr>
        <p:spPr>
          <a:xfrm>
            <a:off x="8814816" y="3374136"/>
            <a:ext cx="169164" cy="169164"/>
          </a:xfrm>
          <a:prstGeom prst="ellipse">
            <a:avLst/>
          </a:prstGeom>
          <a:solidFill>
            <a:srgbClr val="D6D1C6"/>
          </a:solidFill>
          <a:ln>
            <a:noFill/>
          </a:ln>
          <a:effectLst/>
        </p:spPr>
        <p:txBody>
          <a:bodyPr wrap="square" rtlCol="0" anchor="ctr"/>
          <a:lstStyle/>
          <a:p>
            <a:pPr algn="ctr"/>
            <a:endParaRPr/>
          </a:p>
        </p:txBody>
      </p:sp>
      <p:sp>
        <p:nvSpPr>
          <p:cNvPr id="29" name="Oval 28"/>
          <p:cNvSpPr/>
          <p:nvPr/>
        </p:nvSpPr>
        <p:spPr>
          <a:xfrm>
            <a:off x="9079992" y="3374136"/>
            <a:ext cx="169164" cy="169164"/>
          </a:xfrm>
          <a:prstGeom prst="ellipse">
            <a:avLst/>
          </a:prstGeom>
          <a:solidFill>
            <a:srgbClr val="D6D1C6"/>
          </a:solidFill>
          <a:ln>
            <a:noFill/>
          </a:ln>
          <a:effectLst/>
        </p:spPr>
        <p:txBody>
          <a:bodyPr wrap="square" rtlCol="0" anchor="ctr"/>
          <a:lstStyle/>
          <a:p>
            <a:pPr algn="ctr"/>
            <a:endParaRPr/>
          </a:p>
        </p:txBody>
      </p:sp>
      <p:sp>
        <p:nvSpPr>
          <p:cNvPr id="30" name="Oval 29"/>
          <p:cNvSpPr/>
          <p:nvPr/>
        </p:nvSpPr>
        <p:spPr>
          <a:xfrm>
            <a:off x="9345168" y="3374136"/>
            <a:ext cx="169164" cy="169164"/>
          </a:xfrm>
          <a:prstGeom prst="ellipse">
            <a:avLst/>
          </a:prstGeom>
          <a:solidFill>
            <a:srgbClr val="D6D1C6"/>
          </a:solidFill>
          <a:ln>
            <a:noFill/>
          </a:ln>
          <a:effectLst/>
        </p:spPr>
        <p:txBody>
          <a:bodyPr wrap="square" rtlCol="0" anchor="ctr"/>
          <a:lstStyle/>
          <a:p>
            <a:pPr algn="ctr"/>
            <a:endParaRPr/>
          </a:p>
        </p:txBody>
      </p:sp>
      <p:sp>
        <p:nvSpPr>
          <p:cNvPr id="31" name="Oval 30"/>
          <p:cNvSpPr/>
          <p:nvPr/>
        </p:nvSpPr>
        <p:spPr>
          <a:xfrm>
            <a:off x="9610344" y="3374136"/>
            <a:ext cx="169164" cy="169164"/>
          </a:xfrm>
          <a:prstGeom prst="ellipse">
            <a:avLst/>
          </a:prstGeom>
          <a:solidFill>
            <a:srgbClr val="D6D1C6"/>
          </a:solidFill>
          <a:ln>
            <a:noFill/>
          </a:ln>
          <a:effectLst/>
        </p:spPr>
        <p:txBody>
          <a:bodyPr wrap="square" rtlCol="0" anchor="ctr"/>
          <a:lstStyle/>
          <a:p>
            <a:pPr algn="ctr"/>
            <a:endParaRPr/>
          </a:p>
        </p:txBody>
      </p:sp>
      <p:sp>
        <p:nvSpPr>
          <p:cNvPr id="32" name="Oval 31"/>
          <p:cNvSpPr/>
          <p:nvPr/>
        </p:nvSpPr>
        <p:spPr>
          <a:xfrm>
            <a:off x="7223760" y="3639312"/>
            <a:ext cx="169164" cy="169164"/>
          </a:xfrm>
          <a:prstGeom prst="ellipse">
            <a:avLst/>
          </a:prstGeom>
          <a:solidFill>
            <a:srgbClr val="D6D1C6"/>
          </a:solidFill>
          <a:ln>
            <a:noFill/>
          </a:ln>
          <a:effectLst/>
        </p:spPr>
        <p:txBody>
          <a:bodyPr wrap="square" rtlCol="0" anchor="ctr"/>
          <a:lstStyle/>
          <a:p>
            <a:pPr algn="ctr"/>
            <a:endParaRPr/>
          </a:p>
        </p:txBody>
      </p:sp>
      <p:sp>
        <p:nvSpPr>
          <p:cNvPr id="33" name="Oval 32"/>
          <p:cNvSpPr/>
          <p:nvPr/>
        </p:nvSpPr>
        <p:spPr>
          <a:xfrm>
            <a:off x="7488936" y="3639312"/>
            <a:ext cx="169164" cy="169164"/>
          </a:xfrm>
          <a:prstGeom prst="ellipse">
            <a:avLst/>
          </a:prstGeom>
          <a:solidFill>
            <a:srgbClr val="D6D1C6"/>
          </a:solidFill>
          <a:ln>
            <a:noFill/>
          </a:ln>
          <a:effectLst/>
        </p:spPr>
        <p:txBody>
          <a:bodyPr wrap="square" rtlCol="0" anchor="ctr"/>
          <a:lstStyle/>
          <a:p>
            <a:pPr algn="ctr"/>
            <a:endParaRPr/>
          </a:p>
        </p:txBody>
      </p:sp>
      <p:sp>
        <p:nvSpPr>
          <p:cNvPr id="34" name="Oval 33"/>
          <p:cNvSpPr/>
          <p:nvPr/>
        </p:nvSpPr>
        <p:spPr>
          <a:xfrm>
            <a:off x="7754112" y="3639312"/>
            <a:ext cx="169164" cy="169164"/>
          </a:xfrm>
          <a:prstGeom prst="ellipse">
            <a:avLst/>
          </a:prstGeom>
          <a:solidFill>
            <a:srgbClr val="D6D1C6"/>
          </a:solidFill>
          <a:ln>
            <a:noFill/>
          </a:ln>
          <a:effectLst/>
        </p:spPr>
        <p:txBody>
          <a:bodyPr wrap="square" rtlCol="0" anchor="ctr"/>
          <a:lstStyle/>
          <a:p>
            <a:pPr algn="ctr"/>
            <a:endParaRPr/>
          </a:p>
        </p:txBody>
      </p:sp>
      <p:sp>
        <p:nvSpPr>
          <p:cNvPr id="35" name="Oval 34"/>
          <p:cNvSpPr/>
          <p:nvPr/>
        </p:nvSpPr>
        <p:spPr>
          <a:xfrm>
            <a:off x="8019288" y="3639312"/>
            <a:ext cx="169164" cy="169164"/>
          </a:xfrm>
          <a:prstGeom prst="ellipse">
            <a:avLst/>
          </a:prstGeom>
          <a:solidFill>
            <a:srgbClr val="D6D1C6"/>
          </a:solidFill>
          <a:ln>
            <a:noFill/>
          </a:ln>
          <a:effectLst/>
        </p:spPr>
        <p:txBody>
          <a:bodyPr wrap="square" rtlCol="0" anchor="ctr"/>
          <a:lstStyle/>
          <a:p>
            <a:pPr algn="ctr"/>
            <a:endParaRPr/>
          </a:p>
        </p:txBody>
      </p:sp>
      <p:sp>
        <p:nvSpPr>
          <p:cNvPr id="36" name="Oval 35"/>
          <p:cNvSpPr/>
          <p:nvPr/>
        </p:nvSpPr>
        <p:spPr>
          <a:xfrm>
            <a:off x="8284464" y="3639312"/>
            <a:ext cx="169164" cy="169164"/>
          </a:xfrm>
          <a:prstGeom prst="ellipse">
            <a:avLst/>
          </a:prstGeom>
          <a:solidFill>
            <a:srgbClr val="D6D1C6"/>
          </a:solidFill>
          <a:ln>
            <a:noFill/>
          </a:ln>
          <a:effectLst/>
        </p:spPr>
        <p:txBody>
          <a:bodyPr wrap="square" rtlCol="0" anchor="ctr"/>
          <a:lstStyle/>
          <a:p>
            <a:pPr algn="ctr"/>
            <a:endParaRPr/>
          </a:p>
        </p:txBody>
      </p:sp>
      <p:sp>
        <p:nvSpPr>
          <p:cNvPr id="37" name="Oval 36"/>
          <p:cNvSpPr/>
          <p:nvPr/>
        </p:nvSpPr>
        <p:spPr>
          <a:xfrm>
            <a:off x="8549640" y="3639312"/>
            <a:ext cx="169164" cy="169164"/>
          </a:xfrm>
          <a:prstGeom prst="ellipse">
            <a:avLst/>
          </a:prstGeom>
          <a:solidFill>
            <a:srgbClr val="D6D1C6"/>
          </a:solidFill>
          <a:ln>
            <a:noFill/>
          </a:ln>
          <a:effectLst/>
        </p:spPr>
        <p:txBody>
          <a:bodyPr wrap="square" rtlCol="0" anchor="ctr"/>
          <a:lstStyle/>
          <a:p>
            <a:pPr algn="ctr"/>
            <a:endParaRPr/>
          </a:p>
        </p:txBody>
      </p:sp>
      <p:sp>
        <p:nvSpPr>
          <p:cNvPr id="38" name="Oval 37"/>
          <p:cNvSpPr/>
          <p:nvPr/>
        </p:nvSpPr>
        <p:spPr>
          <a:xfrm>
            <a:off x="8814816" y="3639312"/>
            <a:ext cx="169164" cy="169164"/>
          </a:xfrm>
          <a:prstGeom prst="ellipse">
            <a:avLst/>
          </a:prstGeom>
          <a:solidFill>
            <a:srgbClr val="D6D1C6"/>
          </a:solidFill>
          <a:ln>
            <a:noFill/>
          </a:ln>
          <a:effectLst/>
        </p:spPr>
        <p:txBody>
          <a:bodyPr wrap="square" rtlCol="0" anchor="ctr"/>
          <a:lstStyle/>
          <a:p>
            <a:pPr algn="ctr"/>
            <a:endParaRPr/>
          </a:p>
        </p:txBody>
      </p:sp>
      <p:sp>
        <p:nvSpPr>
          <p:cNvPr id="39" name="Oval 38"/>
          <p:cNvSpPr/>
          <p:nvPr/>
        </p:nvSpPr>
        <p:spPr>
          <a:xfrm>
            <a:off x="9079992" y="3639312"/>
            <a:ext cx="169164" cy="169164"/>
          </a:xfrm>
          <a:prstGeom prst="ellipse">
            <a:avLst/>
          </a:prstGeom>
          <a:solidFill>
            <a:srgbClr val="D6D1C6"/>
          </a:solidFill>
          <a:ln>
            <a:noFill/>
          </a:ln>
          <a:effectLst/>
        </p:spPr>
        <p:txBody>
          <a:bodyPr wrap="square" rtlCol="0" anchor="ctr"/>
          <a:lstStyle/>
          <a:p>
            <a:pPr algn="ctr"/>
            <a:endParaRPr/>
          </a:p>
        </p:txBody>
      </p:sp>
      <p:sp>
        <p:nvSpPr>
          <p:cNvPr id="40" name="Oval 39"/>
          <p:cNvSpPr/>
          <p:nvPr/>
        </p:nvSpPr>
        <p:spPr>
          <a:xfrm>
            <a:off x="9345168" y="3639312"/>
            <a:ext cx="169164" cy="169164"/>
          </a:xfrm>
          <a:prstGeom prst="ellipse">
            <a:avLst/>
          </a:prstGeom>
          <a:solidFill>
            <a:srgbClr val="D6D1C6"/>
          </a:solidFill>
          <a:ln>
            <a:noFill/>
          </a:ln>
          <a:effectLst/>
        </p:spPr>
        <p:txBody>
          <a:bodyPr wrap="square" rtlCol="0" anchor="ctr"/>
          <a:lstStyle/>
          <a:p>
            <a:pPr algn="ctr"/>
            <a:endParaRPr/>
          </a:p>
        </p:txBody>
      </p:sp>
      <p:sp>
        <p:nvSpPr>
          <p:cNvPr id="41" name="Oval 40"/>
          <p:cNvSpPr/>
          <p:nvPr/>
        </p:nvSpPr>
        <p:spPr>
          <a:xfrm>
            <a:off x="9610344" y="3639312"/>
            <a:ext cx="169164" cy="169164"/>
          </a:xfrm>
          <a:prstGeom prst="ellipse">
            <a:avLst/>
          </a:prstGeom>
          <a:solidFill>
            <a:srgbClr val="D6D1C6"/>
          </a:solidFill>
          <a:ln>
            <a:noFill/>
          </a:ln>
          <a:effectLst/>
        </p:spPr>
        <p:txBody>
          <a:bodyPr wrap="square" rtlCol="0" anchor="ctr"/>
          <a:lstStyle/>
          <a:p>
            <a:pPr algn="ctr"/>
            <a:endParaRPr/>
          </a:p>
        </p:txBody>
      </p:sp>
      <p:sp>
        <p:nvSpPr>
          <p:cNvPr id="42" name="Oval 41"/>
          <p:cNvSpPr/>
          <p:nvPr/>
        </p:nvSpPr>
        <p:spPr>
          <a:xfrm>
            <a:off x="7223760" y="3904487"/>
            <a:ext cx="169164" cy="169164"/>
          </a:xfrm>
          <a:prstGeom prst="ellipse">
            <a:avLst/>
          </a:prstGeom>
          <a:solidFill>
            <a:srgbClr val="D6D1C6"/>
          </a:solidFill>
          <a:ln>
            <a:noFill/>
          </a:ln>
          <a:effectLst/>
        </p:spPr>
        <p:txBody>
          <a:bodyPr wrap="square" rtlCol="0" anchor="ctr"/>
          <a:lstStyle/>
          <a:p>
            <a:pPr algn="ctr"/>
            <a:endParaRPr/>
          </a:p>
        </p:txBody>
      </p:sp>
      <p:sp>
        <p:nvSpPr>
          <p:cNvPr id="43" name="Oval 42"/>
          <p:cNvSpPr/>
          <p:nvPr/>
        </p:nvSpPr>
        <p:spPr>
          <a:xfrm>
            <a:off x="7488936" y="3904487"/>
            <a:ext cx="169164" cy="169164"/>
          </a:xfrm>
          <a:prstGeom prst="ellipse">
            <a:avLst/>
          </a:prstGeom>
          <a:solidFill>
            <a:srgbClr val="D6D1C6"/>
          </a:solidFill>
          <a:ln>
            <a:noFill/>
          </a:ln>
          <a:effectLst/>
        </p:spPr>
        <p:txBody>
          <a:bodyPr wrap="square" rtlCol="0" anchor="ctr"/>
          <a:lstStyle/>
          <a:p>
            <a:pPr algn="ctr"/>
            <a:endParaRPr/>
          </a:p>
        </p:txBody>
      </p:sp>
      <p:sp>
        <p:nvSpPr>
          <p:cNvPr id="44" name="Oval 43"/>
          <p:cNvSpPr/>
          <p:nvPr/>
        </p:nvSpPr>
        <p:spPr>
          <a:xfrm>
            <a:off x="7754112" y="3904487"/>
            <a:ext cx="169164" cy="169164"/>
          </a:xfrm>
          <a:prstGeom prst="ellipse">
            <a:avLst/>
          </a:prstGeom>
          <a:solidFill>
            <a:srgbClr val="D6D1C6"/>
          </a:solidFill>
          <a:ln>
            <a:noFill/>
          </a:ln>
          <a:effectLst/>
        </p:spPr>
        <p:txBody>
          <a:bodyPr wrap="square" rtlCol="0" anchor="ctr"/>
          <a:lstStyle/>
          <a:p>
            <a:pPr algn="ctr"/>
            <a:endParaRPr/>
          </a:p>
        </p:txBody>
      </p:sp>
      <p:sp>
        <p:nvSpPr>
          <p:cNvPr id="45" name="Oval 44"/>
          <p:cNvSpPr/>
          <p:nvPr/>
        </p:nvSpPr>
        <p:spPr>
          <a:xfrm>
            <a:off x="8019288" y="3904487"/>
            <a:ext cx="169164" cy="169164"/>
          </a:xfrm>
          <a:prstGeom prst="ellipse">
            <a:avLst/>
          </a:prstGeom>
          <a:solidFill>
            <a:srgbClr val="D6D1C6"/>
          </a:solidFill>
          <a:ln>
            <a:noFill/>
          </a:ln>
          <a:effectLst/>
        </p:spPr>
        <p:txBody>
          <a:bodyPr wrap="square" rtlCol="0" anchor="ctr"/>
          <a:lstStyle/>
          <a:p>
            <a:pPr algn="ctr"/>
            <a:endParaRPr/>
          </a:p>
        </p:txBody>
      </p:sp>
      <p:sp>
        <p:nvSpPr>
          <p:cNvPr id="46" name="Oval 45"/>
          <p:cNvSpPr/>
          <p:nvPr/>
        </p:nvSpPr>
        <p:spPr>
          <a:xfrm>
            <a:off x="8284464" y="3904487"/>
            <a:ext cx="169164" cy="169164"/>
          </a:xfrm>
          <a:prstGeom prst="ellipse">
            <a:avLst/>
          </a:prstGeom>
          <a:solidFill>
            <a:srgbClr val="D6D1C6"/>
          </a:solidFill>
          <a:ln>
            <a:noFill/>
          </a:ln>
          <a:effectLst/>
        </p:spPr>
        <p:txBody>
          <a:bodyPr wrap="square" rtlCol="0" anchor="ctr"/>
          <a:lstStyle/>
          <a:p>
            <a:pPr algn="ctr"/>
            <a:endParaRPr/>
          </a:p>
        </p:txBody>
      </p:sp>
      <p:sp>
        <p:nvSpPr>
          <p:cNvPr id="47" name="Oval 46"/>
          <p:cNvSpPr/>
          <p:nvPr/>
        </p:nvSpPr>
        <p:spPr>
          <a:xfrm>
            <a:off x="8549640" y="3904487"/>
            <a:ext cx="169164" cy="169164"/>
          </a:xfrm>
          <a:prstGeom prst="ellipse">
            <a:avLst/>
          </a:prstGeom>
          <a:solidFill>
            <a:srgbClr val="D6D1C6"/>
          </a:solidFill>
          <a:ln>
            <a:noFill/>
          </a:ln>
          <a:effectLst/>
        </p:spPr>
        <p:txBody>
          <a:bodyPr wrap="square" rtlCol="0" anchor="ctr"/>
          <a:lstStyle/>
          <a:p>
            <a:pPr algn="ctr"/>
            <a:endParaRPr/>
          </a:p>
        </p:txBody>
      </p:sp>
      <p:sp>
        <p:nvSpPr>
          <p:cNvPr id="48" name="Oval 47"/>
          <p:cNvSpPr/>
          <p:nvPr/>
        </p:nvSpPr>
        <p:spPr>
          <a:xfrm>
            <a:off x="8814816" y="3904487"/>
            <a:ext cx="169164" cy="169164"/>
          </a:xfrm>
          <a:prstGeom prst="ellipse">
            <a:avLst/>
          </a:prstGeom>
          <a:solidFill>
            <a:srgbClr val="D6D1C6"/>
          </a:solidFill>
          <a:ln>
            <a:noFill/>
          </a:ln>
          <a:effectLst/>
        </p:spPr>
        <p:txBody>
          <a:bodyPr wrap="square" rtlCol="0" anchor="ctr"/>
          <a:lstStyle/>
          <a:p>
            <a:pPr algn="ctr"/>
            <a:endParaRPr/>
          </a:p>
        </p:txBody>
      </p:sp>
      <p:sp>
        <p:nvSpPr>
          <p:cNvPr id="49" name="Oval 48"/>
          <p:cNvSpPr/>
          <p:nvPr/>
        </p:nvSpPr>
        <p:spPr>
          <a:xfrm>
            <a:off x="9079992" y="3904487"/>
            <a:ext cx="169164" cy="169164"/>
          </a:xfrm>
          <a:prstGeom prst="ellipse">
            <a:avLst/>
          </a:prstGeom>
          <a:solidFill>
            <a:srgbClr val="D6D1C6"/>
          </a:solidFill>
          <a:ln>
            <a:noFill/>
          </a:ln>
          <a:effectLst/>
        </p:spPr>
        <p:txBody>
          <a:bodyPr wrap="square" rtlCol="0" anchor="ctr"/>
          <a:lstStyle/>
          <a:p>
            <a:pPr algn="ctr"/>
            <a:endParaRPr/>
          </a:p>
        </p:txBody>
      </p:sp>
      <p:sp>
        <p:nvSpPr>
          <p:cNvPr id="50" name="Oval 49"/>
          <p:cNvSpPr/>
          <p:nvPr/>
        </p:nvSpPr>
        <p:spPr>
          <a:xfrm>
            <a:off x="9345168" y="3904487"/>
            <a:ext cx="169164" cy="169164"/>
          </a:xfrm>
          <a:prstGeom prst="ellipse">
            <a:avLst/>
          </a:prstGeom>
          <a:solidFill>
            <a:srgbClr val="D6D1C6"/>
          </a:solidFill>
          <a:ln>
            <a:noFill/>
          </a:ln>
          <a:effectLst/>
        </p:spPr>
        <p:txBody>
          <a:bodyPr wrap="square" rtlCol="0" anchor="ctr"/>
          <a:lstStyle/>
          <a:p>
            <a:pPr algn="ctr"/>
            <a:endParaRPr/>
          </a:p>
        </p:txBody>
      </p:sp>
      <p:sp>
        <p:nvSpPr>
          <p:cNvPr id="51" name="Oval 50"/>
          <p:cNvSpPr/>
          <p:nvPr/>
        </p:nvSpPr>
        <p:spPr>
          <a:xfrm>
            <a:off x="9610344" y="3904487"/>
            <a:ext cx="169164" cy="169164"/>
          </a:xfrm>
          <a:prstGeom prst="ellipse">
            <a:avLst/>
          </a:prstGeom>
          <a:solidFill>
            <a:srgbClr val="D6D1C6"/>
          </a:solidFill>
          <a:ln>
            <a:noFill/>
          </a:ln>
          <a:effectLst/>
        </p:spPr>
        <p:txBody>
          <a:bodyPr wrap="square" rtlCol="0" anchor="ctr"/>
          <a:lstStyle/>
          <a:p>
            <a:pPr algn="ctr"/>
            <a:endParaRPr/>
          </a:p>
        </p:txBody>
      </p:sp>
      <p:sp>
        <p:nvSpPr>
          <p:cNvPr id="52" name="Oval 51"/>
          <p:cNvSpPr/>
          <p:nvPr/>
        </p:nvSpPr>
        <p:spPr>
          <a:xfrm>
            <a:off x="7223760" y="4169663"/>
            <a:ext cx="169164" cy="169164"/>
          </a:xfrm>
          <a:prstGeom prst="ellipse">
            <a:avLst/>
          </a:prstGeom>
          <a:solidFill>
            <a:srgbClr val="D6D1C6"/>
          </a:solidFill>
          <a:ln>
            <a:noFill/>
          </a:ln>
          <a:effectLst/>
        </p:spPr>
        <p:txBody>
          <a:bodyPr wrap="square" rtlCol="0" anchor="ctr"/>
          <a:lstStyle/>
          <a:p>
            <a:pPr algn="ctr"/>
            <a:endParaRPr/>
          </a:p>
        </p:txBody>
      </p:sp>
      <p:sp>
        <p:nvSpPr>
          <p:cNvPr id="53" name="Oval 52"/>
          <p:cNvSpPr/>
          <p:nvPr/>
        </p:nvSpPr>
        <p:spPr>
          <a:xfrm>
            <a:off x="7488936" y="4169663"/>
            <a:ext cx="169164" cy="169164"/>
          </a:xfrm>
          <a:prstGeom prst="ellipse">
            <a:avLst/>
          </a:prstGeom>
          <a:solidFill>
            <a:srgbClr val="D6D1C6"/>
          </a:solidFill>
          <a:ln>
            <a:noFill/>
          </a:ln>
          <a:effectLst/>
        </p:spPr>
        <p:txBody>
          <a:bodyPr wrap="square" rtlCol="0" anchor="ctr"/>
          <a:lstStyle/>
          <a:p>
            <a:pPr algn="ctr"/>
            <a:endParaRPr/>
          </a:p>
        </p:txBody>
      </p:sp>
      <p:sp>
        <p:nvSpPr>
          <p:cNvPr id="54" name="Oval 53"/>
          <p:cNvSpPr/>
          <p:nvPr/>
        </p:nvSpPr>
        <p:spPr>
          <a:xfrm>
            <a:off x="7754112" y="4169663"/>
            <a:ext cx="169164" cy="169164"/>
          </a:xfrm>
          <a:prstGeom prst="ellipse">
            <a:avLst/>
          </a:prstGeom>
          <a:solidFill>
            <a:srgbClr val="D6D1C6"/>
          </a:solidFill>
          <a:ln>
            <a:noFill/>
          </a:ln>
          <a:effectLst/>
        </p:spPr>
        <p:txBody>
          <a:bodyPr wrap="square" rtlCol="0" anchor="ctr"/>
          <a:lstStyle/>
          <a:p>
            <a:pPr algn="ctr"/>
            <a:endParaRPr/>
          </a:p>
        </p:txBody>
      </p:sp>
      <p:sp>
        <p:nvSpPr>
          <p:cNvPr id="55" name="Oval 54"/>
          <p:cNvSpPr/>
          <p:nvPr/>
        </p:nvSpPr>
        <p:spPr>
          <a:xfrm>
            <a:off x="8019288" y="4169663"/>
            <a:ext cx="169164" cy="169164"/>
          </a:xfrm>
          <a:prstGeom prst="ellipse">
            <a:avLst/>
          </a:prstGeom>
          <a:solidFill>
            <a:srgbClr val="D6D1C6"/>
          </a:solidFill>
          <a:ln>
            <a:noFill/>
          </a:ln>
          <a:effectLst/>
        </p:spPr>
        <p:txBody>
          <a:bodyPr wrap="square" rtlCol="0" anchor="ctr"/>
          <a:lstStyle/>
          <a:p>
            <a:pPr algn="ctr"/>
            <a:endParaRPr/>
          </a:p>
        </p:txBody>
      </p:sp>
      <p:sp>
        <p:nvSpPr>
          <p:cNvPr id="56" name="Oval 55"/>
          <p:cNvSpPr/>
          <p:nvPr/>
        </p:nvSpPr>
        <p:spPr>
          <a:xfrm>
            <a:off x="8284464" y="4169663"/>
            <a:ext cx="169164" cy="169164"/>
          </a:xfrm>
          <a:prstGeom prst="ellipse">
            <a:avLst/>
          </a:prstGeom>
          <a:solidFill>
            <a:srgbClr val="D6D1C6"/>
          </a:solidFill>
          <a:ln>
            <a:noFill/>
          </a:ln>
          <a:effectLst/>
        </p:spPr>
        <p:txBody>
          <a:bodyPr wrap="square" rtlCol="0" anchor="ctr"/>
          <a:lstStyle/>
          <a:p>
            <a:pPr algn="ctr"/>
            <a:endParaRPr/>
          </a:p>
        </p:txBody>
      </p:sp>
      <p:sp>
        <p:nvSpPr>
          <p:cNvPr id="57" name="Oval 56"/>
          <p:cNvSpPr/>
          <p:nvPr/>
        </p:nvSpPr>
        <p:spPr>
          <a:xfrm>
            <a:off x="8549640" y="4169663"/>
            <a:ext cx="169164" cy="169164"/>
          </a:xfrm>
          <a:prstGeom prst="ellipse">
            <a:avLst/>
          </a:prstGeom>
          <a:solidFill>
            <a:srgbClr val="D6D1C6"/>
          </a:solidFill>
          <a:ln>
            <a:noFill/>
          </a:ln>
          <a:effectLst/>
        </p:spPr>
        <p:txBody>
          <a:bodyPr wrap="square" rtlCol="0" anchor="ctr"/>
          <a:lstStyle/>
          <a:p>
            <a:pPr algn="ctr"/>
            <a:endParaRPr/>
          </a:p>
        </p:txBody>
      </p:sp>
      <p:sp>
        <p:nvSpPr>
          <p:cNvPr id="58" name="Oval 57"/>
          <p:cNvSpPr/>
          <p:nvPr/>
        </p:nvSpPr>
        <p:spPr>
          <a:xfrm>
            <a:off x="8814816" y="4169663"/>
            <a:ext cx="169164" cy="169164"/>
          </a:xfrm>
          <a:prstGeom prst="ellipse">
            <a:avLst/>
          </a:prstGeom>
          <a:solidFill>
            <a:srgbClr val="D6D1C6"/>
          </a:solidFill>
          <a:ln>
            <a:noFill/>
          </a:ln>
          <a:effectLst/>
        </p:spPr>
        <p:txBody>
          <a:bodyPr wrap="square" rtlCol="0" anchor="ctr"/>
          <a:lstStyle/>
          <a:p>
            <a:pPr algn="ctr"/>
            <a:endParaRPr/>
          </a:p>
        </p:txBody>
      </p:sp>
      <p:sp>
        <p:nvSpPr>
          <p:cNvPr id="59" name="Oval 58"/>
          <p:cNvSpPr/>
          <p:nvPr/>
        </p:nvSpPr>
        <p:spPr>
          <a:xfrm>
            <a:off x="9079992" y="4169663"/>
            <a:ext cx="169164" cy="169164"/>
          </a:xfrm>
          <a:prstGeom prst="ellipse">
            <a:avLst/>
          </a:prstGeom>
          <a:solidFill>
            <a:srgbClr val="D6D1C6"/>
          </a:solidFill>
          <a:ln>
            <a:noFill/>
          </a:ln>
          <a:effectLst/>
        </p:spPr>
        <p:txBody>
          <a:bodyPr wrap="square" rtlCol="0" anchor="ctr"/>
          <a:lstStyle/>
          <a:p>
            <a:pPr algn="ctr"/>
            <a:endParaRPr/>
          </a:p>
        </p:txBody>
      </p:sp>
      <p:sp>
        <p:nvSpPr>
          <p:cNvPr id="60" name="Oval 59"/>
          <p:cNvSpPr/>
          <p:nvPr/>
        </p:nvSpPr>
        <p:spPr>
          <a:xfrm>
            <a:off x="9345168" y="4169663"/>
            <a:ext cx="169164" cy="169164"/>
          </a:xfrm>
          <a:prstGeom prst="ellipse">
            <a:avLst/>
          </a:prstGeom>
          <a:solidFill>
            <a:srgbClr val="D6D1C6"/>
          </a:solidFill>
          <a:ln>
            <a:noFill/>
          </a:ln>
          <a:effectLst/>
        </p:spPr>
        <p:txBody>
          <a:bodyPr wrap="square" rtlCol="0" anchor="ctr"/>
          <a:lstStyle/>
          <a:p>
            <a:pPr algn="ctr"/>
            <a:endParaRPr/>
          </a:p>
        </p:txBody>
      </p:sp>
      <p:sp>
        <p:nvSpPr>
          <p:cNvPr id="61" name="Oval 60"/>
          <p:cNvSpPr/>
          <p:nvPr/>
        </p:nvSpPr>
        <p:spPr>
          <a:xfrm>
            <a:off x="9610344" y="4169663"/>
            <a:ext cx="169164" cy="169164"/>
          </a:xfrm>
          <a:prstGeom prst="ellipse">
            <a:avLst/>
          </a:prstGeom>
          <a:solidFill>
            <a:srgbClr val="D6D1C6"/>
          </a:solidFill>
          <a:ln>
            <a:noFill/>
          </a:ln>
          <a:effectLst/>
        </p:spPr>
        <p:txBody>
          <a:bodyPr wrap="square" rtlCol="0" anchor="ctr"/>
          <a:lstStyle/>
          <a:p>
            <a:pPr algn="ctr"/>
            <a:endParaRPr/>
          </a:p>
        </p:txBody>
      </p:sp>
      <p:sp>
        <p:nvSpPr>
          <p:cNvPr id="62" name="Oval 61"/>
          <p:cNvSpPr/>
          <p:nvPr/>
        </p:nvSpPr>
        <p:spPr>
          <a:xfrm>
            <a:off x="7223760" y="4434840"/>
            <a:ext cx="169164" cy="169164"/>
          </a:xfrm>
          <a:prstGeom prst="ellipse">
            <a:avLst/>
          </a:prstGeom>
          <a:solidFill>
            <a:srgbClr val="D6D1C6"/>
          </a:solidFill>
          <a:ln>
            <a:noFill/>
          </a:ln>
          <a:effectLst/>
        </p:spPr>
        <p:txBody>
          <a:bodyPr wrap="square" rtlCol="0" anchor="ctr"/>
          <a:lstStyle/>
          <a:p>
            <a:pPr algn="ctr"/>
            <a:endParaRPr/>
          </a:p>
        </p:txBody>
      </p:sp>
      <p:sp>
        <p:nvSpPr>
          <p:cNvPr id="63" name="Oval 62"/>
          <p:cNvSpPr/>
          <p:nvPr/>
        </p:nvSpPr>
        <p:spPr>
          <a:xfrm>
            <a:off x="7488936" y="4434840"/>
            <a:ext cx="169164" cy="169164"/>
          </a:xfrm>
          <a:prstGeom prst="ellipse">
            <a:avLst/>
          </a:prstGeom>
          <a:solidFill>
            <a:srgbClr val="D6D1C6"/>
          </a:solidFill>
          <a:ln>
            <a:noFill/>
          </a:ln>
          <a:effectLst/>
        </p:spPr>
        <p:txBody>
          <a:bodyPr wrap="square" rtlCol="0" anchor="ctr"/>
          <a:lstStyle/>
          <a:p>
            <a:pPr algn="ctr"/>
            <a:endParaRPr/>
          </a:p>
        </p:txBody>
      </p:sp>
      <p:sp>
        <p:nvSpPr>
          <p:cNvPr id="64" name="Oval 63"/>
          <p:cNvSpPr/>
          <p:nvPr/>
        </p:nvSpPr>
        <p:spPr>
          <a:xfrm>
            <a:off x="7754112" y="4434840"/>
            <a:ext cx="169164" cy="169164"/>
          </a:xfrm>
          <a:prstGeom prst="ellipse">
            <a:avLst/>
          </a:prstGeom>
          <a:solidFill>
            <a:srgbClr val="D6D1C6"/>
          </a:solidFill>
          <a:ln>
            <a:noFill/>
          </a:ln>
          <a:effectLst/>
        </p:spPr>
        <p:txBody>
          <a:bodyPr wrap="square" rtlCol="0" anchor="ctr"/>
          <a:lstStyle/>
          <a:p>
            <a:pPr algn="ctr"/>
            <a:endParaRPr/>
          </a:p>
        </p:txBody>
      </p:sp>
      <p:sp>
        <p:nvSpPr>
          <p:cNvPr id="65" name="Oval 64"/>
          <p:cNvSpPr/>
          <p:nvPr/>
        </p:nvSpPr>
        <p:spPr>
          <a:xfrm>
            <a:off x="8019288" y="4434840"/>
            <a:ext cx="169164" cy="169164"/>
          </a:xfrm>
          <a:prstGeom prst="ellipse">
            <a:avLst/>
          </a:prstGeom>
          <a:solidFill>
            <a:srgbClr val="D6D1C6"/>
          </a:solidFill>
          <a:ln>
            <a:noFill/>
          </a:ln>
          <a:effectLst/>
        </p:spPr>
        <p:txBody>
          <a:bodyPr wrap="square" rtlCol="0" anchor="ctr"/>
          <a:lstStyle/>
          <a:p>
            <a:pPr algn="ctr"/>
            <a:endParaRPr/>
          </a:p>
        </p:txBody>
      </p:sp>
      <p:sp>
        <p:nvSpPr>
          <p:cNvPr id="66" name="Oval 65"/>
          <p:cNvSpPr/>
          <p:nvPr/>
        </p:nvSpPr>
        <p:spPr>
          <a:xfrm>
            <a:off x="8284464" y="4434840"/>
            <a:ext cx="169164" cy="169164"/>
          </a:xfrm>
          <a:prstGeom prst="ellipse">
            <a:avLst/>
          </a:prstGeom>
          <a:solidFill>
            <a:srgbClr val="D6D1C6"/>
          </a:solidFill>
          <a:ln>
            <a:noFill/>
          </a:ln>
          <a:effectLst/>
        </p:spPr>
        <p:txBody>
          <a:bodyPr wrap="square" rtlCol="0" anchor="ctr"/>
          <a:lstStyle/>
          <a:p>
            <a:pPr algn="ctr"/>
            <a:endParaRPr/>
          </a:p>
        </p:txBody>
      </p:sp>
      <p:sp>
        <p:nvSpPr>
          <p:cNvPr id="67" name="Oval 66"/>
          <p:cNvSpPr/>
          <p:nvPr/>
        </p:nvSpPr>
        <p:spPr>
          <a:xfrm>
            <a:off x="8549640" y="4434840"/>
            <a:ext cx="169164" cy="169164"/>
          </a:xfrm>
          <a:prstGeom prst="ellipse">
            <a:avLst/>
          </a:prstGeom>
          <a:solidFill>
            <a:srgbClr val="D6D1C6"/>
          </a:solidFill>
          <a:ln>
            <a:noFill/>
          </a:ln>
          <a:effectLst/>
        </p:spPr>
        <p:txBody>
          <a:bodyPr wrap="square" rtlCol="0" anchor="ctr"/>
          <a:lstStyle/>
          <a:p>
            <a:pPr algn="ctr"/>
            <a:endParaRPr/>
          </a:p>
        </p:txBody>
      </p:sp>
      <p:sp>
        <p:nvSpPr>
          <p:cNvPr id="68" name="Oval 67"/>
          <p:cNvSpPr/>
          <p:nvPr/>
        </p:nvSpPr>
        <p:spPr>
          <a:xfrm>
            <a:off x="8814816" y="4434840"/>
            <a:ext cx="169164" cy="169164"/>
          </a:xfrm>
          <a:prstGeom prst="ellipse">
            <a:avLst/>
          </a:prstGeom>
          <a:solidFill>
            <a:srgbClr val="D6D1C6"/>
          </a:solidFill>
          <a:ln>
            <a:noFill/>
          </a:ln>
          <a:effectLst/>
        </p:spPr>
        <p:txBody>
          <a:bodyPr wrap="square" rtlCol="0" anchor="ctr"/>
          <a:lstStyle/>
          <a:p>
            <a:pPr algn="ctr"/>
            <a:endParaRPr/>
          </a:p>
        </p:txBody>
      </p:sp>
      <p:sp>
        <p:nvSpPr>
          <p:cNvPr id="69" name="Oval 68"/>
          <p:cNvSpPr/>
          <p:nvPr/>
        </p:nvSpPr>
        <p:spPr>
          <a:xfrm>
            <a:off x="9079992" y="4434840"/>
            <a:ext cx="169164" cy="169164"/>
          </a:xfrm>
          <a:prstGeom prst="ellipse">
            <a:avLst/>
          </a:prstGeom>
          <a:solidFill>
            <a:srgbClr val="D6D1C6"/>
          </a:solidFill>
          <a:ln>
            <a:noFill/>
          </a:ln>
          <a:effectLst/>
        </p:spPr>
        <p:txBody>
          <a:bodyPr wrap="square" rtlCol="0" anchor="ctr"/>
          <a:lstStyle/>
          <a:p>
            <a:pPr algn="ctr"/>
            <a:endParaRPr/>
          </a:p>
        </p:txBody>
      </p:sp>
      <p:sp>
        <p:nvSpPr>
          <p:cNvPr id="70" name="Oval 69"/>
          <p:cNvSpPr/>
          <p:nvPr/>
        </p:nvSpPr>
        <p:spPr>
          <a:xfrm>
            <a:off x="9345168" y="4434840"/>
            <a:ext cx="169164" cy="169164"/>
          </a:xfrm>
          <a:prstGeom prst="ellipse">
            <a:avLst/>
          </a:prstGeom>
          <a:solidFill>
            <a:srgbClr val="D6D1C6"/>
          </a:solidFill>
          <a:ln>
            <a:noFill/>
          </a:ln>
          <a:effectLst/>
        </p:spPr>
        <p:txBody>
          <a:bodyPr wrap="square" rtlCol="0" anchor="ctr"/>
          <a:lstStyle/>
          <a:p>
            <a:pPr algn="ctr"/>
            <a:endParaRPr/>
          </a:p>
        </p:txBody>
      </p:sp>
      <p:sp>
        <p:nvSpPr>
          <p:cNvPr id="71" name="Oval 70"/>
          <p:cNvSpPr/>
          <p:nvPr/>
        </p:nvSpPr>
        <p:spPr>
          <a:xfrm>
            <a:off x="9610344" y="4434840"/>
            <a:ext cx="169164" cy="169164"/>
          </a:xfrm>
          <a:prstGeom prst="ellipse">
            <a:avLst/>
          </a:prstGeom>
          <a:solidFill>
            <a:srgbClr val="D6D1C6"/>
          </a:solidFill>
          <a:ln>
            <a:noFill/>
          </a:ln>
          <a:effectLst/>
        </p:spPr>
        <p:txBody>
          <a:bodyPr wrap="square" rtlCol="0" anchor="ctr"/>
          <a:lstStyle/>
          <a:p>
            <a:pPr algn="ctr"/>
            <a:endParaRPr/>
          </a:p>
        </p:txBody>
      </p:sp>
      <p:sp>
        <p:nvSpPr>
          <p:cNvPr id="72" name="Oval 71"/>
          <p:cNvSpPr/>
          <p:nvPr/>
        </p:nvSpPr>
        <p:spPr>
          <a:xfrm>
            <a:off x="7223760" y="4700016"/>
            <a:ext cx="169164" cy="169164"/>
          </a:xfrm>
          <a:prstGeom prst="ellipse">
            <a:avLst/>
          </a:prstGeom>
          <a:solidFill>
            <a:srgbClr val="D6D1C6"/>
          </a:solidFill>
          <a:ln>
            <a:noFill/>
          </a:ln>
          <a:effectLst/>
        </p:spPr>
        <p:txBody>
          <a:bodyPr wrap="square" rtlCol="0" anchor="ctr"/>
          <a:lstStyle/>
          <a:p>
            <a:pPr algn="ctr"/>
            <a:endParaRPr/>
          </a:p>
        </p:txBody>
      </p:sp>
      <p:sp>
        <p:nvSpPr>
          <p:cNvPr id="73" name="Oval 72"/>
          <p:cNvSpPr/>
          <p:nvPr/>
        </p:nvSpPr>
        <p:spPr>
          <a:xfrm>
            <a:off x="7488936" y="4700016"/>
            <a:ext cx="169164" cy="169164"/>
          </a:xfrm>
          <a:prstGeom prst="ellipse">
            <a:avLst/>
          </a:prstGeom>
          <a:solidFill>
            <a:srgbClr val="D6D1C6"/>
          </a:solidFill>
          <a:ln>
            <a:noFill/>
          </a:ln>
          <a:effectLst/>
        </p:spPr>
        <p:txBody>
          <a:bodyPr wrap="square" rtlCol="0" anchor="ctr"/>
          <a:lstStyle/>
          <a:p>
            <a:pPr algn="ctr"/>
            <a:endParaRPr/>
          </a:p>
        </p:txBody>
      </p:sp>
      <p:sp>
        <p:nvSpPr>
          <p:cNvPr id="74" name="Oval 73"/>
          <p:cNvSpPr/>
          <p:nvPr/>
        </p:nvSpPr>
        <p:spPr>
          <a:xfrm>
            <a:off x="7754112" y="4700016"/>
            <a:ext cx="169164" cy="169164"/>
          </a:xfrm>
          <a:prstGeom prst="ellipse">
            <a:avLst/>
          </a:prstGeom>
          <a:solidFill>
            <a:srgbClr val="D6D1C6"/>
          </a:solidFill>
          <a:ln>
            <a:noFill/>
          </a:ln>
          <a:effectLst/>
        </p:spPr>
        <p:txBody>
          <a:bodyPr wrap="square" rtlCol="0" anchor="ctr"/>
          <a:lstStyle/>
          <a:p>
            <a:pPr algn="ctr"/>
            <a:endParaRPr/>
          </a:p>
        </p:txBody>
      </p:sp>
      <p:sp>
        <p:nvSpPr>
          <p:cNvPr id="75" name="Oval 74"/>
          <p:cNvSpPr/>
          <p:nvPr/>
        </p:nvSpPr>
        <p:spPr>
          <a:xfrm>
            <a:off x="8019288" y="4700016"/>
            <a:ext cx="169164" cy="169164"/>
          </a:xfrm>
          <a:prstGeom prst="ellipse">
            <a:avLst/>
          </a:prstGeom>
          <a:solidFill>
            <a:srgbClr val="D6D1C6"/>
          </a:solidFill>
          <a:ln>
            <a:noFill/>
          </a:ln>
          <a:effectLst/>
        </p:spPr>
        <p:txBody>
          <a:bodyPr wrap="square" rtlCol="0" anchor="ctr"/>
          <a:lstStyle/>
          <a:p>
            <a:pPr algn="ctr"/>
            <a:endParaRPr/>
          </a:p>
        </p:txBody>
      </p:sp>
      <p:sp>
        <p:nvSpPr>
          <p:cNvPr id="76" name="Oval 75"/>
          <p:cNvSpPr/>
          <p:nvPr/>
        </p:nvSpPr>
        <p:spPr>
          <a:xfrm>
            <a:off x="8284464" y="4700016"/>
            <a:ext cx="169164" cy="169164"/>
          </a:xfrm>
          <a:prstGeom prst="ellipse">
            <a:avLst/>
          </a:prstGeom>
          <a:solidFill>
            <a:srgbClr val="D6D1C6"/>
          </a:solidFill>
          <a:ln>
            <a:noFill/>
          </a:ln>
          <a:effectLst/>
        </p:spPr>
        <p:txBody>
          <a:bodyPr wrap="square" rtlCol="0" anchor="ctr"/>
          <a:lstStyle/>
          <a:p>
            <a:pPr algn="ctr"/>
            <a:endParaRPr/>
          </a:p>
        </p:txBody>
      </p:sp>
      <p:sp>
        <p:nvSpPr>
          <p:cNvPr id="77" name="Oval 76"/>
          <p:cNvSpPr/>
          <p:nvPr/>
        </p:nvSpPr>
        <p:spPr>
          <a:xfrm>
            <a:off x="8549640" y="4700016"/>
            <a:ext cx="169164" cy="169164"/>
          </a:xfrm>
          <a:prstGeom prst="ellipse">
            <a:avLst/>
          </a:prstGeom>
          <a:solidFill>
            <a:srgbClr val="D6D1C6"/>
          </a:solidFill>
          <a:ln>
            <a:noFill/>
          </a:ln>
          <a:effectLst/>
        </p:spPr>
        <p:txBody>
          <a:bodyPr wrap="square" rtlCol="0" anchor="ctr"/>
          <a:lstStyle/>
          <a:p>
            <a:pPr algn="ctr"/>
            <a:endParaRPr/>
          </a:p>
        </p:txBody>
      </p:sp>
      <p:sp>
        <p:nvSpPr>
          <p:cNvPr id="78" name="Oval 77"/>
          <p:cNvSpPr/>
          <p:nvPr/>
        </p:nvSpPr>
        <p:spPr>
          <a:xfrm>
            <a:off x="8814816" y="4700016"/>
            <a:ext cx="169164" cy="169164"/>
          </a:xfrm>
          <a:prstGeom prst="ellipse">
            <a:avLst/>
          </a:prstGeom>
          <a:solidFill>
            <a:srgbClr val="D6D1C6"/>
          </a:solidFill>
          <a:ln>
            <a:noFill/>
          </a:ln>
          <a:effectLst/>
        </p:spPr>
        <p:txBody>
          <a:bodyPr wrap="square" rtlCol="0" anchor="ctr"/>
          <a:lstStyle/>
          <a:p>
            <a:pPr algn="ctr"/>
            <a:endParaRPr/>
          </a:p>
        </p:txBody>
      </p:sp>
      <p:sp>
        <p:nvSpPr>
          <p:cNvPr id="79" name="Oval 78"/>
          <p:cNvSpPr/>
          <p:nvPr/>
        </p:nvSpPr>
        <p:spPr>
          <a:xfrm>
            <a:off x="9079992" y="4700016"/>
            <a:ext cx="169164" cy="169164"/>
          </a:xfrm>
          <a:prstGeom prst="ellipse">
            <a:avLst/>
          </a:prstGeom>
          <a:solidFill>
            <a:srgbClr val="D6D1C6"/>
          </a:solidFill>
          <a:ln>
            <a:noFill/>
          </a:ln>
          <a:effectLst/>
        </p:spPr>
        <p:txBody>
          <a:bodyPr wrap="square" rtlCol="0" anchor="ctr"/>
          <a:lstStyle/>
          <a:p>
            <a:pPr algn="ctr"/>
            <a:endParaRPr/>
          </a:p>
        </p:txBody>
      </p:sp>
      <p:sp>
        <p:nvSpPr>
          <p:cNvPr id="80" name="Oval 79"/>
          <p:cNvSpPr/>
          <p:nvPr/>
        </p:nvSpPr>
        <p:spPr>
          <a:xfrm>
            <a:off x="9345168" y="4700016"/>
            <a:ext cx="169164" cy="169164"/>
          </a:xfrm>
          <a:prstGeom prst="ellipse">
            <a:avLst/>
          </a:prstGeom>
          <a:solidFill>
            <a:srgbClr val="D6D1C6"/>
          </a:solidFill>
          <a:ln>
            <a:noFill/>
          </a:ln>
          <a:effectLst/>
        </p:spPr>
        <p:txBody>
          <a:bodyPr wrap="square" rtlCol="0" anchor="ctr"/>
          <a:lstStyle/>
          <a:p>
            <a:pPr algn="ctr"/>
            <a:endParaRPr/>
          </a:p>
        </p:txBody>
      </p:sp>
      <p:sp>
        <p:nvSpPr>
          <p:cNvPr id="81" name="Oval 80"/>
          <p:cNvSpPr/>
          <p:nvPr/>
        </p:nvSpPr>
        <p:spPr>
          <a:xfrm>
            <a:off x="9610344" y="4700016"/>
            <a:ext cx="169164" cy="169164"/>
          </a:xfrm>
          <a:prstGeom prst="ellipse">
            <a:avLst/>
          </a:prstGeom>
          <a:solidFill>
            <a:srgbClr val="D6D1C6"/>
          </a:solidFill>
          <a:ln>
            <a:noFill/>
          </a:ln>
          <a:effectLst/>
        </p:spPr>
        <p:txBody>
          <a:bodyPr wrap="square" rtlCol="0" anchor="ctr"/>
          <a:lstStyle/>
          <a:p>
            <a:pPr algn="ctr"/>
            <a:endParaRPr/>
          </a:p>
        </p:txBody>
      </p:sp>
      <p:sp>
        <p:nvSpPr>
          <p:cNvPr id="82" name="Oval 81"/>
          <p:cNvSpPr/>
          <p:nvPr/>
        </p:nvSpPr>
        <p:spPr>
          <a:xfrm>
            <a:off x="7223760" y="4965192"/>
            <a:ext cx="169164" cy="169164"/>
          </a:xfrm>
          <a:prstGeom prst="ellipse">
            <a:avLst/>
          </a:prstGeom>
          <a:solidFill>
            <a:srgbClr val="D6D1C6"/>
          </a:solidFill>
          <a:ln>
            <a:noFill/>
          </a:ln>
          <a:effectLst/>
        </p:spPr>
        <p:txBody>
          <a:bodyPr wrap="square" rtlCol="0" anchor="ctr"/>
          <a:lstStyle/>
          <a:p>
            <a:pPr algn="ctr"/>
            <a:endParaRPr/>
          </a:p>
        </p:txBody>
      </p:sp>
      <p:sp>
        <p:nvSpPr>
          <p:cNvPr id="83" name="Oval 82"/>
          <p:cNvSpPr/>
          <p:nvPr/>
        </p:nvSpPr>
        <p:spPr>
          <a:xfrm>
            <a:off x="7488936" y="4965192"/>
            <a:ext cx="169164" cy="169164"/>
          </a:xfrm>
          <a:prstGeom prst="ellipse">
            <a:avLst/>
          </a:prstGeom>
          <a:solidFill>
            <a:srgbClr val="D6D1C6"/>
          </a:solidFill>
          <a:ln>
            <a:noFill/>
          </a:ln>
          <a:effectLst/>
        </p:spPr>
        <p:txBody>
          <a:bodyPr wrap="square" rtlCol="0" anchor="ctr"/>
          <a:lstStyle/>
          <a:p>
            <a:pPr algn="ctr"/>
            <a:endParaRPr/>
          </a:p>
        </p:txBody>
      </p:sp>
      <p:sp>
        <p:nvSpPr>
          <p:cNvPr id="84" name="Oval 83"/>
          <p:cNvSpPr/>
          <p:nvPr/>
        </p:nvSpPr>
        <p:spPr>
          <a:xfrm>
            <a:off x="7754112" y="4965192"/>
            <a:ext cx="169164" cy="169164"/>
          </a:xfrm>
          <a:prstGeom prst="ellipse">
            <a:avLst/>
          </a:prstGeom>
          <a:solidFill>
            <a:srgbClr val="D6D1C6"/>
          </a:solidFill>
          <a:ln>
            <a:noFill/>
          </a:ln>
          <a:effectLst/>
        </p:spPr>
        <p:txBody>
          <a:bodyPr wrap="square" rtlCol="0" anchor="ctr"/>
          <a:lstStyle/>
          <a:p>
            <a:pPr algn="ctr"/>
            <a:endParaRPr/>
          </a:p>
        </p:txBody>
      </p:sp>
      <p:sp>
        <p:nvSpPr>
          <p:cNvPr id="85" name="Oval 84"/>
          <p:cNvSpPr/>
          <p:nvPr/>
        </p:nvSpPr>
        <p:spPr>
          <a:xfrm>
            <a:off x="8019288" y="4965192"/>
            <a:ext cx="169164" cy="169164"/>
          </a:xfrm>
          <a:prstGeom prst="ellipse">
            <a:avLst/>
          </a:prstGeom>
          <a:solidFill>
            <a:srgbClr val="D6D1C6"/>
          </a:solidFill>
          <a:ln>
            <a:noFill/>
          </a:ln>
          <a:effectLst/>
        </p:spPr>
        <p:txBody>
          <a:bodyPr wrap="square" rtlCol="0" anchor="ctr"/>
          <a:lstStyle/>
          <a:p>
            <a:pPr algn="ctr"/>
            <a:endParaRPr/>
          </a:p>
        </p:txBody>
      </p:sp>
      <p:sp>
        <p:nvSpPr>
          <p:cNvPr id="86" name="Oval 85"/>
          <p:cNvSpPr/>
          <p:nvPr/>
        </p:nvSpPr>
        <p:spPr>
          <a:xfrm>
            <a:off x="8284464" y="4965192"/>
            <a:ext cx="169164" cy="169164"/>
          </a:xfrm>
          <a:prstGeom prst="ellipse">
            <a:avLst/>
          </a:prstGeom>
          <a:solidFill>
            <a:srgbClr val="D6D1C6"/>
          </a:solidFill>
          <a:ln>
            <a:noFill/>
          </a:ln>
          <a:effectLst/>
        </p:spPr>
        <p:txBody>
          <a:bodyPr wrap="square" rtlCol="0" anchor="ctr"/>
          <a:lstStyle/>
          <a:p>
            <a:pPr algn="ctr"/>
            <a:endParaRPr/>
          </a:p>
        </p:txBody>
      </p:sp>
      <p:sp>
        <p:nvSpPr>
          <p:cNvPr id="87" name="Oval 86"/>
          <p:cNvSpPr/>
          <p:nvPr/>
        </p:nvSpPr>
        <p:spPr>
          <a:xfrm>
            <a:off x="8549640" y="4965192"/>
            <a:ext cx="169164" cy="169164"/>
          </a:xfrm>
          <a:prstGeom prst="ellipse">
            <a:avLst/>
          </a:prstGeom>
          <a:solidFill>
            <a:srgbClr val="D6D1C6"/>
          </a:solidFill>
          <a:ln>
            <a:noFill/>
          </a:ln>
          <a:effectLst/>
        </p:spPr>
        <p:txBody>
          <a:bodyPr wrap="square" rtlCol="0" anchor="ctr"/>
          <a:lstStyle/>
          <a:p>
            <a:pPr algn="ctr"/>
            <a:endParaRPr/>
          </a:p>
        </p:txBody>
      </p:sp>
      <p:sp>
        <p:nvSpPr>
          <p:cNvPr id="88" name="Oval 87"/>
          <p:cNvSpPr/>
          <p:nvPr/>
        </p:nvSpPr>
        <p:spPr>
          <a:xfrm>
            <a:off x="8814816" y="4965192"/>
            <a:ext cx="169164" cy="169164"/>
          </a:xfrm>
          <a:prstGeom prst="ellipse">
            <a:avLst/>
          </a:prstGeom>
          <a:solidFill>
            <a:srgbClr val="D6D1C6"/>
          </a:solidFill>
          <a:ln>
            <a:noFill/>
          </a:ln>
          <a:effectLst/>
        </p:spPr>
        <p:txBody>
          <a:bodyPr wrap="square" rtlCol="0" anchor="ctr"/>
          <a:lstStyle/>
          <a:p>
            <a:pPr algn="ctr"/>
            <a:endParaRPr/>
          </a:p>
        </p:txBody>
      </p:sp>
      <p:sp>
        <p:nvSpPr>
          <p:cNvPr id="89" name="Oval 88"/>
          <p:cNvSpPr/>
          <p:nvPr/>
        </p:nvSpPr>
        <p:spPr>
          <a:xfrm>
            <a:off x="9079992" y="4965192"/>
            <a:ext cx="169164" cy="169164"/>
          </a:xfrm>
          <a:prstGeom prst="ellipse">
            <a:avLst/>
          </a:prstGeom>
          <a:solidFill>
            <a:srgbClr val="D6D1C6"/>
          </a:solidFill>
          <a:ln>
            <a:noFill/>
          </a:ln>
          <a:effectLst/>
        </p:spPr>
        <p:txBody>
          <a:bodyPr wrap="square" rtlCol="0" anchor="ctr"/>
          <a:lstStyle/>
          <a:p>
            <a:pPr algn="ctr"/>
            <a:endParaRPr/>
          </a:p>
        </p:txBody>
      </p:sp>
      <p:sp>
        <p:nvSpPr>
          <p:cNvPr id="90" name="Oval 89"/>
          <p:cNvSpPr/>
          <p:nvPr/>
        </p:nvSpPr>
        <p:spPr>
          <a:xfrm>
            <a:off x="9345168" y="4965192"/>
            <a:ext cx="169164" cy="169164"/>
          </a:xfrm>
          <a:prstGeom prst="ellipse">
            <a:avLst/>
          </a:prstGeom>
          <a:solidFill>
            <a:srgbClr val="D6D1C6"/>
          </a:solidFill>
          <a:ln>
            <a:noFill/>
          </a:ln>
          <a:effectLst/>
        </p:spPr>
        <p:txBody>
          <a:bodyPr wrap="square" rtlCol="0" anchor="ctr"/>
          <a:lstStyle/>
          <a:p>
            <a:pPr algn="ctr"/>
            <a:endParaRPr/>
          </a:p>
        </p:txBody>
      </p:sp>
      <p:sp>
        <p:nvSpPr>
          <p:cNvPr id="91" name="Oval 90"/>
          <p:cNvSpPr/>
          <p:nvPr/>
        </p:nvSpPr>
        <p:spPr>
          <a:xfrm>
            <a:off x="9610344" y="4965192"/>
            <a:ext cx="169164" cy="169164"/>
          </a:xfrm>
          <a:prstGeom prst="ellipse">
            <a:avLst/>
          </a:prstGeom>
          <a:solidFill>
            <a:srgbClr val="D6D1C6"/>
          </a:solidFill>
          <a:ln>
            <a:noFill/>
          </a:ln>
          <a:effectLst/>
        </p:spPr>
        <p:txBody>
          <a:bodyPr wrap="square" rtlCol="0" anchor="ctr"/>
          <a:lstStyle/>
          <a:p>
            <a:pPr algn="ctr"/>
            <a:endParaRPr/>
          </a:p>
        </p:txBody>
      </p:sp>
      <p:sp>
        <p:nvSpPr>
          <p:cNvPr id="92" name="Oval 91"/>
          <p:cNvSpPr/>
          <p:nvPr/>
        </p:nvSpPr>
        <p:spPr>
          <a:xfrm>
            <a:off x="7223760" y="5230368"/>
            <a:ext cx="169164" cy="169164"/>
          </a:xfrm>
          <a:prstGeom prst="ellipse">
            <a:avLst/>
          </a:prstGeom>
          <a:solidFill>
            <a:srgbClr val="D6D1C6"/>
          </a:solidFill>
          <a:ln>
            <a:noFill/>
          </a:ln>
          <a:effectLst/>
        </p:spPr>
        <p:txBody>
          <a:bodyPr wrap="square" rtlCol="0" anchor="ctr"/>
          <a:lstStyle/>
          <a:p>
            <a:pPr algn="ctr"/>
            <a:endParaRPr/>
          </a:p>
        </p:txBody>
      </p:sp>
      <p:sp>
        <p:nvSpPr>
          <p:cNvPr id="93" name="Oval 92"/>
          <p:cNvSpPr/>
          <p:nvPr/>
        </p:nvSpPr>
        <p:spPr>
          <a:xfrm>
            <a:off x="7488936" y="5230368"/>
            <a:ext cx="169164" cy="169164"/>
          </a:xfrm>
          <a:prstGeom prst="ellipse">
            <a:avLst/>
          </a:prstGeom>
          <a:solidFill>
            <a:srgbClr val="D6D1C6"/>
          </a:solidFill>
          <a:ln>
            <a:noFill/>
          </a:ln>
          <a:effectLst/>
        </p:spPr>
        <p:txBody>
          <a:bodyPr wrap="square" rtlCol="0" anchor="ctr"/>
          <a:lstStyle/>
          <a:p>
            <a:pPr algn="ctr"/>
            <a:endParaRPr/>
          </a:p>
        </p:txBody>
      </p:sp>
      <p:sp>
        <p:nvSpPr>
          <p:cNvPr id="94" name="Oval 93"/>
          <p:cNvSpPr/>
          <p:nvPr/>
        </p:nvSpPr>
        <p:spPr>
          <a:xfrm>
            <a:off x="7754112" y="5230368"/>
            <a:ext cx="169164" cy="169164"/>
          </a:xfrm>
          <a:prstGeom prst="ellipse">
            <a:avLst/>
          </a:prstGeom>
          <a:solidFill>
            <a:srgbClr val="D6D1C6"/>
          </a:solidFill>
          <a:ln>
            <a:noFill/>
          </a:ln>
          <a:effectLst/>
        </p:spPr>
        <p:txBody>
          <a:bodyPr wrap="square" rtlCol="0" anchor="ctr"/>
          <a:lstStyle/>
          <a:p>
            <a:pPr algn="ctr"/>
            <a:endParaRPr/>
          </a:p>
        </p:txBody>
      </p:sp>
      <p:sp>
        <p:nvSpPr>
          <p:cNvPr id="95" name="Oval 94"/>
          <p:cNvSpPr/>
          <p:nvPr/>
        </p:nvSpPr>
        <p:spPr>
          <a:xfrm>
            <a:off x="8019288" y="5230368"/>
            <a:ext cx="169164" cy="169164"/>
          </a:xfrm>
          <a:prstGeom prst="ellipse">
            <a:avLst/>
          </a:prstGeom>
          <a:solidFill>
            <a:srgbClr val="D6D1C6"/>
          </a:solidFill>
          <a:ln>
            <a:noFill/>
          </a:ln>
          <a:effectLst/>
        </p:spPr>
        <p:txBody>
          <a:bodyPr wrap="square" rtlCol="0" anchor="ctr"/>
          <a:lstStyle/>
          <a:p>
            <a:pPr algn="ctr"/>
            <a:endParaRPr/>
          </a:p>
        </p:txBody>
      </p:sp>
      <p:sp>
        <p:nvSpPr>
          <p:cNvPr id="96" name="Oval 95"/>
          <p:cNvSpPr/>
          <p:nvPr/>
        </p:nvSpPr>
        <p:spPr>
          <a:xfrm>
            <a:off x="8284464" y="5230368"/>
            <a:ext cx="169164" cy="169164"/>
          </a:xfrm>
          <a:prstGeom prst="ellipse">
            <a:avLst/>
          </a:prstGeom>
          <a:solidFill>
            <a:srgbClr val="D6D1C6"/>
          </a:solidFill>
          <a:ln>
            <a:noFill/>
          </a:ln>
          <a:effectLst/>
        </p:spPr>
        <p:txBody>
          <a:bodyPr wrap="square" rtlCol="0" anchor="ctr"/>
          <a:lstStyle/>
          <a:p>
            <a:pPr algn="ctr"/>
            <a:endParaRPr/>
          </a:p>
        </p:txBody>
      </p:sp>
      <p:sp>
        <p:nvSpPr>
          <p:cNvPr id="97" name="Oval 96"/>
          <p:cNvSpPr/>
          <p:nvPr/>
        </p:nvSpPr>
        <p:spPr>
          <a:xfrm>
            <a:off x="8549640" y="5230368"/>
            <a:ext cx="169164" cy="169164"/>
          </a:xfrm>
          <a:prstGeom prst="ellipse">
            <a:avLst/>
          </a:prstGeom>
          <a:solidFill>
            <a:srgbClr val="D6D1C6"/>
          </a:solidFill>
          <a:ln>
            <a:noFill/>
          </a:ln>
          <a:effectLst/>
        </p:spPr>
        <p:txBody>
          <a:bodyPr wrap="square" rtlCol="0" anchor="ctr"/>
          <a:lstStyle/>
          <a:p>
            <a:pPr algn="ctr"/>
            <a:endParaRPr/>
          </a:p>
        </p:txBody>
      </p:sp>
      <p:sp>
        <p:nvSpPr>
          <p:cNvPr id="98" name="Oval 97"/>
          <p:cNvSpPr/>
          <p:nvPr/>
        </p:nvSpPr>
        <p:spPr>
          <a:xfrm>
            <a:off x="8814816" y="5230368"/>
            <a:ext cx="169164" cy="169164"/>
          </a:xfrm>
          <a:prstGeom prst="ellipse">
            <a:avLst/>
          </a:prstGeom>
          <a:solidFill>
            <a:srgbClr val="D6D1C6"/>
          </a:solidFill>
          <a:ln>
            <a:noFill/>
          </a:ln>
          <a:effectLst/>
        </p:spPr>
        <p:txBody>
          <a:bodyPr wrap="square" rtlCol="0" anchor="ctr"/>
          <a:lstStyle/>
          <a:p>
            <a:pPr algn="ctr"/>
            <a:endParaRPr/>
          </a:p>
        </p:txBody>
      </p:sp>
      <p:sp>
        <p:nvSpPr>
          <p:cNvPr id="99" name="Oval 98"/>
          <p:cNvSpPr/>
          <p:nvPr/>
        </p:nvSpPr>
        <p:spPr>
          <a:xfrm>
            <a:off x="9079992" y="5230368"/>
            <a:ext cx="169164" cy="169164"/>
          </a:xfrm>
          <a:prstGeom prst="ellipse">
            <a:avLst/>
          </a:prstGeom>
          <a:solidFill>
            <a:srgbClr val="D6D1C6"/>
          </a:solidFill>
          <a:ln>
            <a:noFill/>
          </a:ln>
          <a:effectLst/>
        </p:spPr>
        <p:txBody>
          <a:bodyPr wrap="square" rtlCol="0" anchor="ctr"/>
          <a:lstStyle/>
          <a:p>
            <a:pPr algn="ctr"/>
            <a:endParaRPr/>
          </a:p>
        </p:txBody>
      </p:sp>
      <p:sp>
        <p:nvSpPr>
          <p:cNvPr id="100" name="Oval 99"/>
          <p:cNvSpPr/>
          <p:nvPr/>
        </p:nvSpPr>
        <p:spPr>
          <a:xfrm>
            <a:off x="9345168" y="5230368"/>
            <a:ext cx="169164" cy="169164"/>
          </a:xfrm>
          <a:prstGeom prst="ellipse">
            <a:avLst/>
          </a:prstGeom>
          <a:solidFill>
            <a:srgbClr val="D6D1C6"/>
          </a:solidFill>
          <a:ln>
            <a:noFill/>
          </a:ln>
          <a:effectLst/>
        </p:spPr>
        <p:txBody>
          <a:bodyPr wrap="square" rtlCol="0" anchor="ctr"/>
          <a:lstStyle/>
          <a:p>
            <a:pPr algn="ctr"/>
            <a:endParaRPr/>
          </a:p>
        </p:txBody>
      </p:sp>
      <p:sp>
        <p:nvSpPr>
          <p:cNvPr id="101" name="Oval 100"/>
          <p:cNvSpPr/>
          <p:nvPr/>
        </p:nvSpPr>
        <p:spPr>
          <a:xfrm>
            <a:off x="9610344" y="5230368"/>
            <a:ext cx="169164" cy="169164"/>
          </a:xfrm>
          <a:prstGeom prst="ellipse">
            <a:avLst/>
          </a:prstGeom>
          <a:solidFill>
            <a:srgbClr val="D6D1C6"/>
          </a:solidFill>
          <a:ln>
            <a:noFill/>
          </a:ln>
          <a:effectLst/>
        </p:spPr>
        <p:txBody>
          <a:bodyPr wrap="square" rtlCol="0" anchor="ctr"/>
          <a:lstStyle/>
          <a:p>
            <a:pPr algn="ctr"/>
            <a:endParaRPr/>
          </a:p>
        </p:txBody>
      </p:sp>
      <p:sp>
        <p:nvSpPr>
          <p:cNvPr id="102" name="Oval 101"/>
          <p:cNvSpPr/>
          <p:nvPr/>
        </p:nvSpPr>
        <p:spPr>
          <a:xfrm>
            <a:off x="7223760" y="5495544"/>
            <a:ext cx="169164" cy="169164"/>
          </a:xfrm>
          <a:prstGeom prst="ellipse">
            <a:avLst/>
          </a:prstGeom>
          <a:solidFill>
            <a:srgbClr val="D6D1C6"/>
          </a:solidFill>
          <a:ln>
            <a:noFill/>
          </a:ln>
          <a:effectLst/>
        </p:spPr>
        <p:txBody>
          <a:bodyPr wrap="square" rtlCol="0" anchor="ctr"/>
          <a:lstStyle/>
          <a:p>
            <a:pPr algn="ctr"/>
            <a:endParaRPr/>
          </a:p>
        </p:txBody>
      </p:sp>
      <p:sp>
        <p:nvSpPr>
          <p:cNvPr id="103" name="Oval 102"/>
          <p:cNvSpPr/>
          <p:nvPr/>
        </p:nvSpPr>
        <p:spPr>
          <a:xfrm>
            <a:off x="7488936" y="5495544"/>
            <a:ext cx="169164" cy="169164"/>
          </a:xfrm>
          <a:prstGeom prst="ellipse">
            <a:avLst/>
          </a:prstGeom>
          <a:solidFill>
            <a:srgbClr val="D6D1C6"/>
          </a:solidFill>
          <a:ln>
            <a:noFill/>
          </a:ln>
          <a:effectLst/>
        </p:spPr>
        <p:txBody>
          <a:bodyPr wrap="square" rtlCol="0" anchor="ctr"/>
          <a:lstStyle/>
          <a:p>
            <a:pPr algn="ctr"/>
            <a:endParaRPr/>
          </a:p>
        </p:txBody>
      </p:sp>
      <p:sp>
        <p:nvSpPr>
          <p:cNvPr id="104" name="Oval 103"/>
          <p:cNvSpPr/>
          <p:nvPr/>
        </p:nvSpPr>
        <p:spPr>
          <a:xfrm>
            <a:off x="7754112" y="5495544"/>
            <a:ext cx="169164" cy="169164"/>
          </a:xfrm>
          <a:prstGeom prst="ellipse">
            <a:avLst/>
          </a:prstGeom>
          <a:solidFill>
            <a:srgbClr val="D6D1C6"/>
          </a:solidFill>
          <a:ln>
            <a:noFill/>
          </a:ln>
          <a:effectLst/>
        </p:spPr>
        <p:txBody>
          <a:bodyPr wrap="square" rtlCol="0" anchor="ctr"/>
          <a:lstStyle/>
          <a:p>
            <a:pPr algn="ctr"/>
            <a:endParaRPr/>
          </a:p>
        </p:txBody>
      </p:sp>
      <p:sp>
        <p:nvSpPr>
          <p:cNvPr id="105" name="Oval 104"/>
          <p:cNvSpPr/>
          <p:nvPr/>
        </p:nvSpPr>
        <p:spPr>
          <a:xfrm>
            <a:off x="8019288" y="5495544"/>
            <a:ext cx="169164" cy="169164"/>
          </a:xfrm>
          <a:prstGeom prst="ellipse">
            <a:avLst/>
          </a:prstGeom>
          <a:solidFill>
            <a:srgbClr val="D6D1C6"/>
          </a:solidFill>
          <a:ln>
            <a:noFill/>
          </a:ln>
          <a:effectLst/>
        </p:spPr>
        <p:txBody>
          <a:bodyPr wrap="square" rtlCol="0" anchor="ctr"/>
          <a:lstStyle/>
          <a:p>
            <a:pPr algn="ctr"/>
            <a:endParaRPr/>
          </a:p>
        </p:txBody>
      </p:sp>
      <p:sp>
        <p:nvSpPr>
          <p:cNvPr id="106" name="Oval 105"/>
          <p:cNvSpPr/>
          <p:nvPr/>
        </p:nvSpPr>
        <p:spPr>
          <a:xfrm>
            <a:off x="8284464" y="5495544"/>
            <a:ext cx="169164" cy="169164"/>
          </a:xfrm>
          <a:prstGeom prst="ellipse">
            <a:avLst/>
          </a:prstGeom>
          <a:solidFill>
            <a:srgbClr val="D6D1C6"/>
          </a:solidFill>
          <a:ln>
            <a:noFill/>
          </a:ln>
          <a:effectLst/>
        </p:spPr>
        <p:txBody>
          <a:bodyPr wrap="square" rtlCol="0" anchor="ctr"/>
          <a:lstStyle/>
          <a:p>
            <a:pPr algn="ctr"/>
            <a:endParaRPr/>
          </a:p>
        </p:txBody>
      </p:sp>
      <p:sp>
        <p:nvSpPr>
          <p:cNvPr id="107" name="Oval 106"/>
          <p:cNvSpPr/>
          <p:nvPr/>
        </p:nvSpPr>
        <p:spPr>
          <a:xfrm>
            <a:off x="8549640" y="5495544"/>
            <a:ext cx="169164" cy="169164"/>
          </a:xfrm>
          <a:prstGeom prst="ellipse">
            <a:avLst/>
          </a:prstGeom>
          <a:solidFill>
            <a:srgbClr val="D6D1C6"/>
          </a:solidFill>
          <a:ln>
            <a:noFill/>
          </a:ln>
          <a:effectLst/>
        </p:spPr>
        <p:txBody>
          <a:bodyPr wrap="square" rtlCol="0" anchor="ctr"/>
          <a:lstStyle/>
          <a:p>
            <a:pPr algn="ctr"/>
            <a:endParaRPr/>
          </a:p>
        </p:txBody>
      </p:sp>
      <p:sp>
        <p:nvSpPr>
          <p:cNvPr id="108" name="Oval 107"/>
          <p:cNvSpPr/>
          <p:nvPr/>
        </p:nvSpPr>
        <p:spPr>
          <a:xfrm>
            <a:off x="8814816" y="5495544"/>
            <a:ext cx="169164" cy="169164"/>
          </a:xfrm>
          <a:prstGeom prst="ellipse">
            <a:avLst/>
          </a:prstGeom>
          <a:solidFill>
            <a:srgbClr val="D6D1C6"/>
          </a:solidFill>
          <a:ln>
            <a:noFill/>
          </a:ln>
          <a:effectLst/>
        </p:spPr>
        <p:txBody>
          <a:bodyPr wrap="square" rtlCol="0" anchor="ctr"/>
          <a:lstStyle/>
          <a:p>
            <a:pPr algn="ctr"/>
            <a:endParaRPr/>
          </a:p>
        </p:txBody>
      </p:sp>
      <p:sp>
        <p:nvSpPr>
          <p:cNvPr id="109" name="Oval 108"/>
          <p:cNvSpPr/>
          <p:nvPr/>
        </p:nvSpPr>
        <p:spPr>
          <a:xfrm>
            <a:off x="9079992" y="5495544"/>
            <a:ext cx="169164" cy="169164"/>
          </a:xfrm>
          <a:prstGeom prst="ellipse">
            <a:avLst/>
          </a:prstGeom>
          <a:solidFill>
            <a:srgbClr val="D6D1C6"/>
          </a:solidFill>
          <a:ln>
            <a:noFill/>
          </a:ln>
          <a:effectLst/>
        </p:spPr>
        <p:txBody>
          <a:bodyPr wrap="square" rtlCol="0" anchor="ctr"/>
          <a:lstStyle/>
          <a:p>
            <a:pPr algn="ctr"/>
            <a:endParaRPr/>
          </a:p>
        </p:txBody>
      </p:sp>
      <p:sp>
        <p:nvSpPr>
          <p:cNvPr id="110" name="Oval 109"/>
          <p:cNvSpPr/>
          <p:nvPr/>
        </p:nvSpPr>
        <p:spPr>
          <a:xfrm>
            <a:off x="9345168" y="5495544"/>
            <a:ext cx="169164" cy="169164"/>
          </a:xfrm>
          <a:prstGeom prst="ellipse">
            <a:avLst/>
          </a:prstGeom>
          <a:solidFill>
            <a:srgbClr val="D6D1C6"/>
          </a:solidFill>
          <a:ln>
            <a:noFill/>
          </a:ln>
          <a:effectLst/>
        </p:spPr>
        <p:txBody>
          <a:bodyPr wrap="square" rtlCol="0" anchor="ctr"/>
          <a:lstStyle/>
          <a:p>
            <a:pPr algn="ctr"/>
            <a:endParaRPr/>
          </a:p>
        </p:txBody>
      </p:sp>
      <p:sp>
        <p:nvSpPr>
          <p:cNvPr id="111" name="Oval 110"/>
          <p:cNvSpPr/>
          <p:nvPr/>
        </p:nvSpPr>
        <p:spPr>
          <a:xfrm>
            <a:off x="9610344" y="5495544"/>
            <a:ext cx="169164" cy="169164"/>
          </a:xfrm>
          <a:prstGeom prst="ellipse">
            <a:avLst/>
          </a:prstGeom>
          <a:solidFill>
            <a:srgbClr val="D6D1C6"/>
          </a:solidFill>
          <a:ln>
            <a:noFill/>
          </a:ln>
          <a:effectLst/>
        </p:spPr>
        <p:txBody>
          <a:bodyPr wrap="square" rtlCol="0" anchor="ctr"/>
          <a:lstStyle/>
          <a:p>
            <a:pPr algn="ctr"/>
            <a:endParaRPr/>
          </a:p>
        </p:txBody>
      </p:sp>
      <p:sp>
        <p:nvSpPr>
          <p:cNvPr id="112" name="TextBox 111"/>
          <p:cNvSpPr txBox="1"/>
          <p:nvPr/>
        </p:nvSpPr>
        <p:spPr>
          <a:xfrm>
            <a:off x="12618720" y="2670048"/>
            <a:ext cx="4572000" cy="256032"/>
          </a:xfrm>
          <a:prstGeom prst="rect">
            <a:avLst/>
          </a:prstGeom>
          <a:noFill/>
        </p:spPr>
        <p:txBody>
          <a:bodyPr wrap="square" lIns="0" tIns="0" rIns="0" bIns="0" anchor="t">
            <a:spAutoFit/>
          </a:bodyPr>
          <a:lstStyle/>
          <a:p>
            <a:pPr algn="l">
              <a:lnSpc>
                <a:spcPts val="1475"/>
              </a:lnSpc>
              <a:spcAft>
                <a:spcPts val="0"/>
              </a:spcAft>
            </a:pPr>
            <a:r>
              <a:rPr sz="1250" b="1" spc="150">
                <a:solidFill>
                  <a:srgbClr val="606978"/>
                </a:solidFill>
                <a:latin typeface="Arial"/>
              </a:rPr>
              <a:t>STAFF PLUS CHAMPIONS</a:t>
            </a:r>
          </a:p>
        </p:txBody>
      </p:sp>
      <p:sp>
        <p:nvSpPr>
          <p:cNvPr id="113" name="Oval 112"/>
          <p:cNvSpPr/>
          <p:nvPr/>
        </p:nvSpPr>
        <p:spPr>
          <a:xfrm>
            <a:off x="12618720" y="3108960"/>
            <a:ext cx="169164" cy="169164"/>
          </a:xfrm>
          <a:prstGeom prst="ellipse">
            <a:avLst/>
          </a:prstGeom>
          <a:solidFill>
            <a:srgbClr val="B14B26"/>
          </a:solidFill>
          <a:ln>
            <a:noFill/>
          </a:ln>
          <a:effectLst/>
        </p:spPr>
        <p:txBody>
          <a:bodyPr wrap="square" rtlCol="0" anchor="ctr"/>
          <a:lstStyle/>
          <a:p>
            <a:pPr algn="ctr"/>
            <a:endParaRPr/>
          </a:p>
        </p:txBody>
      </p:sp>
      <p:sp>
        <p:nvSpPr>
          <p:cNvPr id="114" name="Oval 113"/>
          <p:cNvSpPr/>
          <p:nvPr/>
        </p:nvSpPr>
        <p:spPr>
          <a:xfrm>
            <a:off x="12883896" y="3108960"/>
            <a:ext cx="169164" cy="169164"/>
          </a:xfrm>
          <a:prstGeom prst="ellipse">
            <a:avLst/>
          </a:prstGeom>
          <a:solidFill>
            <a:srgbClr val="F0DFD6"/>
          </a:solidFill>
          <a:ln w="12700">
            <a:solidFill>
              <a:srgbClr val="B14B26"/>
            </a:solidFill>
          </a:ln>
          <a:effectLst/>
        </p:spPr>
        <p:txBody>
          <a:bodyPr wrap="square" rtlCol="0" anchor="ctr"/>
          <a:lstStyle/>
          <a:p>
            <a:pPr algn="ctr"/>
            <a:endParaRPr/>
          </a:p>
        </p:txBody>
      </p:sp>
      <p:sp>
        <p:nvSpPr>
          <p:cNvPr id="115" name="Oval 114"/>
          <p:cNvSpPr/>
          <p:nvPr/>
        </p:nvSpPr>
        <p:spPr>
          <a:xfrm>
            <a:off x="13149072" y="3108960"/>
            <a:ext cx="169164" cy="169164"/>
          </a:xfrm>
          <a:prstGeom prst="ellipse">
            <a:avLst/>
          </a:prstGeom>
          <a:solidFill>
            <a:srgbClr val="F0DFD6"/>
          </a:solidFill>
          <a:ln w="12700">
            <a:solidFill>
              <a:srgbClr val="B14B26"/>
            </a:solidFill>
          </a:ln>
          <a:effectLst/>
        </p:spPr>
        <p:txBody>
          <a:bodyPr wrap="square" rtlCol="0" anchor="ctr"/>
          <a:lstStyle/>
          <a:p>
            <a:pPr algn="ctr"/>
            <a:endParaRPr/>
          </a:p>
        </p:txBody>
      </p:sp>
      <p:sp>
        <p:nvSpPr>
          <p:cNvPr id="116" name="Oval 115"/>
          <p:cNvSpPr/>
          <p:nvPr/>
        </p:nvSpPr>
        <p:spPr>
          <a:xfrm>
            <a:off x="13414248" y="3108960"/>
            <a:ext cx="169164" cy="169164"/>
          </a:xfrm>
          <a:prstGeom prst="ellipse">
            <a:avLst/>
          </a:prstGeom>
          <a:solidFill>
            <a:srgbClr val="F0DFD6"/>
          </a:solidFill>
          <a:ln w="12700">
            <a:solidFill>
              <a:srgbClr val="B14B26"/>
            </a:solidFill>
          </a:ln>
          <a:effectLst/>
        </p:spPr>
        <p:txBody>
          <a:bodyPr wrap="square" rtlCol="0" anchor="ctr"/>
          <a:lstStyle/>
          <a:p>
            <a:pPr algn="ctr"/>
            <a:endParaRPr/>
          </a:p>
        </p:txBody>
      </p:sp>
      <p:sp>
        <p:nvSpPr>
          <p:cNvPr id="117" name="Oval 116"/>
          <p:cNvSpPr/>
          <p:nvPr/>
        </p:nvSpPr>
        <p:spPr>
          <a:xfrm>
            <a:off x="13679424" y="3108960"/>
            <a:ext cx="169164" cy="169164"/>
          </a:xfrm>
          <a:prstGeom prst="ellipse">
            <a:avLst/>
          </a:prstGeom>
          <a:solidFill>
            <a:srgbClr val="F0DFD6"/>
          </a:solidFill>
          <a:ln w="12700">
            <a:solidFill>
              <a:srgbClr val="B14B26"/>
            </a:solidFill>
          </a:ln>
          <a:effectLst/>
        </p:spPr>
        <p:txBody>
          <a:bodyPr wrap="square" rtlCol="0" anchor="ctr"/>
          <a:lstStyle/>
          <a:p>
            <a:pPr algn="ctr"/>
            <a:endParaRPr/>
          </a:p>
        </p:txBody>
      </p:sp>
      <p:sp>
        <p:nvSpPr>
          <p:cNvPr id="118" name="Oval 117"/>
          <p:cNvSpPr/>
          <p:nvPr/>
        </p:nvSpPr>
        <p:spPr>
          <a:xfrm>
            <a:off x="13944600" y="3108960"/>
            <a:ext cx="169164" cy="169164"/>
          </a:xfrm>
          <a:prstGeom prst="ellipse">
            <a:avLst/>
          </a:prstGeom>
          <a:solidFill>
            <a:srgbClr val="D6D1C6"/>
          </a:solidFill>
          <a:ln>
            <a:noFill/>
          </a:ln>
          <a:effectLst/>
        </p:spPr>
        <p:txBody>
          <a:bodyPr wrap="square" rtlCol="0" anchor="ctr"/>
          <a:lstStyle/>
          <a:p>
            <a:pPr algn="ctr"/>
            <a:endParaRPr/>
          </a:p>
        </p:txBody>
      </p:sp>
      <p:sp>
        <p:nvSpPr>
          <p:cNvPr id="119" name="Oval 118"/>
          <p:cNvSpPr/>
          <p:nvPr/>
        </p:nvSpPr>
        <p:spPr>
          <a:xfrm>
            <a:off x="14209776" y="3108960"/>
            <a:ext cx="169164" cy="169164"/>
          </a:xfrm>
          <a:prstGeom prst="ellipse">
            <a:avLst/>
          </a:prstGeom>
          <a:solidFill>
            <a:srgbClr val="D6D1C6"/>
          </a:solidFill>
          <a:ln>
            <a:noFill/>
          </a:ln>
          <a:effectLst/>
        </p:spPr>
        <p:txBody>
          <a:bodyPr wrap="square" rtlCol="0" anchor="ctr"/>
          <a:lstStyle/>
          <a:p>
            <a:pPr algn="ctr"/>
            <a:endParaRPr/>
          </a:p>
        </p:txBody>
      </p:sp>
      <p:sp>
        <p:nvSpPr>
          <p:cNvPr id="120" name="Oval 119"/>
          <p:cNvSpPr/>
          <p:nvPr/>
        </p:nvSpPr>
        <p:spPr>
          <a:xfrm>
            <a:off x="14474952" y="3108960"/>
            <a:ext cx="169164" cy="169164"/>
          </a:xfrm>
          <a:prstGeom prst="ellipse">
            <a:avLst/>
          </a:prstGeom>
          <a:solidFill>
            <a:srgbClr val="D6D1C6"/>
          </a:solidFill>
          <a:ln>
            <a:noFill/>
          </a:ln>
          <a:effectLst/>
        </p:spPr>
        <p:txBody>
          <a:bodyPr wrap="square" rtlCol="0" anchor="ctr"/>
          <a:lstStyle/>
          <a:p>
            <a:pPr algn="ctr"/>
            <a:endParaRPr/>
          </a:p>
        </p:txBody>
      </p:sp>
      <p:sp>
        <p:nvSpPr>
          <p:cNvPr id="121" name="Oval 120"/>
          <p:cNvSpPr/>
          <p:nvPr/>
        </p:nvSpPr>
        <p:spPr>
          <a:xfrm>
            <a:off x="14740128" y="3108960"/>
            <a:ext cx="169164" cy="169164"/>
          </a:xfrm>
          <a:prstGeom prst="ellipse">
            <a:avLst/>
          </a:prstGeom>
          <a:solidFill>
            <a:srgbClr val="D6D1C6"/>
          </a:solidFill>
          <a:ln>
            <a:noFill/>
          </a:ln>
          <a:effectLst/>
        </p:spPr>
        <p:txBody>
          <a:bodyPr wrap="square" rtlCol="0" anchor="ctr"/>
          <a:lstStyle/>
          <a:p>
            <a:pPr algn="ctr"/>
            <a:endParaRPr/>
          </a:p>
        </p:txBody>
      </p:sp>
      <p:sp>
        <p:nvSpPr>
          <p:cNvPr id="122" name="Oval 121"/>
          <p:cNvSpPr/>
          <p:nvPr/>
        </p:nvSpPr>
        <p:spPr>
          <a:xfrm>
            <a:off x="15005304" y="3108960"/>
            <a:ext cx="169164" cy="169164"/>
          </a:xfrm>
          <a:prstGeom prst="ellipse">
            <a:avLst/>
          </a:prstGeom>
          <a:solidFill>
            <a:srgbClr val="D6D1C6"/>
          </a:solidFill>
          <a:ln>
            <a:noFill/>
          </a:ln>
          <a:effectLst/>
        </p:spPr>
        <p:txBody>
          <a:bodyPr wrap="square" rtlCol="0" anchor="ctr"/>
          <a:lstStyle/>
          <a:p>
            <a:pPr algn="ctr"/>
            <a:endParaRPr/>
          </a:p>
        </p:txBody>
      </p:sp>
      <p:sp>
        <p:nvSpPr>
          <p:cNvPr id="123" name="Oval 122"/>
          <p:cNvSpPr/>
          <p:nvPr/>
        </p:nvSpPr>
        <p:spPr>
          <a:xfrm>
            <a:off x="12618720" y="3374136"/>
            <a:ext cx="169164" cy="169164"/>
          </a:xfrm>
          <a:prstGeom prst="ellipse">
            <a:avLst/>
          </a:prstGeom>
          <a:solidFill>
            <a:srgbClr val="D6D1C6"/>
          </a:solidFill>
          <a:ln>
            <a:noFill/>
          </a:ln>
          <a:effectLst/>
        </p:spPr>
        <p:txBody>
          <a:bodyPr wrap="square" rtlCol="0" anchor="ctr"/>
          <a:lstStyle/>
          <a:p>
            <a:pPr algn="ctr"/>
            <a:endParaRPr/>
          </a:p>
        </p:txBody>
      </p:sp>
      <p:sp>
        <p:nvSpPr>
          <p:cNvPr id="124" name="Oval 123"/>
          <p:cNvSpPr/>
          <p:nvPr/>
        </p:nvSpPr>
        <p:spPr>
          <a:xfrm>
            <a:off x="12883896" y="3374136"/>
            <a:ext cx="169164" cy="169164"/>
          </a:xfrm>
          <a:prstGeom prst="ellipse">
            <a:avLst/>
          </a:prstGeom>
          <a:solidFill>
            <a:srgbClr val="D6D1C6"/>
          </a:solidFill>
          <a:ln>
            <a:noFill/>
          </a:ln>
          <a:effectLst/>
        </p:spPr>
        <p:txBody>
          <a:bodyPr wrap="square" rtlCol="0" anchor="ctr"/>
          <a:lstStyle/>
          <a:p>
            <a:pPr algn="ctr"/>
            <a:endParaRPr/>
          </a:p>
        </p:txBody>
      </p:sp>
      <p:sp>
        <p:nvSpPr>
          <p:cNvPr id="125" name="Oval 124"/>
          <p:cNvSpPr/>
          <p:nvPr/>
        </p:nvSpPr>
        <p:spPr>
          <a:xfrm>
            <a:off x="13149072" y="3374136"/>
            <a:ext cx="169164" cy="169164"/>
          </a:xfrm>
          <a:prstGeom prst="ellipse">
            <a:avLst/>
          </a:prstGeom>
          <a:solidFill>
            <a:srgbClr val="D6D1C6"/>
          </a:solidFill>
          <a:ln>
            <a:noFill/>
          </a:ln>
          <a:effectLst/>
        </p:spPr>
        <p:txBody>
          <a:bodyPr wrap="square" rtlCol="0" anchor="ctr"/>
          <a:lstStyle/>
          <a:p>
            <a:pPr algn="ctr"/>
            <a:endParaRPr/>
          </a:p>
        </p:txBody>
      </p:sp>
      <p:sp>
        <p:nvSpPr>
          <p:cNvPr id="126" name="Oval 125"/>
          <p:cNvSpPr/>
          <p:nvPr/>
        </p:nvSpPr>
        <p:spPr>
          <a:xfrm>
            <a:off x="13414248" y="3374136"/>
            <a:ext cx="169164" cy="169164"/>
          </a:xfrm>
          <a:prstGeom prst="ellipse">
            <a:avLst/>
          </a:prstGeom>
          <a:solidFill>
            <a:srgbClr val="D6D1C6"/>
          </a:solidFill>
          <a:ln>
            <a:noFill/>
          </a:ln>
          <a:effectLst/>
        </p:spPr>
        <p:txBody>
          <a:bodyPr wrap="square" rtlCol="0" anchor="ctr"/>
          <a:lstStyle/>
          <a:p>
            <a:pPr algn="ctr"/>
            <a:endParaRPr/>
          </a:p>
        </p:txBody>
      </p:sp>
      <p:sp>
        <p:nvSpPr>
          <p:cNvPr id="127" name="Oval 126"/>
          <p:cNvSpPr/>
          <p:nvPr/>
        </p:nvSpPr>
        <p:spPr>
          <a:xfrm>
            <a:off x="13679424" y="3374136"/>
            <a:ext cx="169164" cy="169164"/>
          </a:xfrm>
          <a:prstGeom prst="ellipse">
            <a:avLst/>
          </a:prstGeom>
          <a:solidFill>
            <a:srgbClr val="D6D1C6"/>
          </a:solidFill>
          <a:ln>
            <a:noFill/>
          </a:ln>
          <a:effectLst/>
        </p:spPr>
        <p:txBody>
          <a:bodyPr wrap="square" rtlCol="0" anchor="ctr"/>
          <a:lstStyle/>
          <a:p>
            <a:pPr algn="ctr"/>
            <a:endParaRPr/>
          </a:p>
        </p:txBody>
      </p:sp>
      <p:sp>
        <p:nvSpPr>
          <p:cNvPr id="128" name="Oval 127"/>
          <p:cNvSpPr/>
          <p:nvPr/>
        </p:nvSpPr>
        <p:spPr>
          <a:xfrm>
            <a:off x="13944600" y="3374136"/>
            <a:ext cx="169164" cy="169164"/>
          </a:xfrm>
          <a:prstGeom prst="ellipse">
            <a:avLst/>
          </a:prstGeom>
          <a:solidFill>
            <a:srgbClr val="D6D1C6"/>
          </a:solidFill>
          <a:ln>
            <a:noFill/>
          </a:ln>
          <a:effectLst/>
        </p:spPr>
        <p:txBody>
          <a:bodyPr wrap="square" rtlCol="0" anchor="ctr"/>
          <a:lstStyle/>
          <a:p>
            <a:pPr algn="ctr"/>
            <a:endParaRPr/>
          </a:p>
        </p:txBody>
      </p:sp>
      <p:sp>
        <p:nvSpPr>
          <p:cNvPr id="129" name="Oval 128"/>
          <p:cNvSpPr/>
          <p:nvPr/>
        </p:nvSpPr>
        <p:spPr>
          <a:xfrm>
            <a:off x="14209776" y="3374136"/>
            <a:ext cx="169164" cy="169164"/>
          </a:xfrm>
          <a:prstGeom prst="ellipse">
            <a:avLst/>
          </a:prstGeom>
          <a:solidFill>
            <a:srgbClr val="D6D1C6"/>
          </a:solidFill>
          <a:ln>
            <a:noFill/>
          </a:ln>
          <a:effectLst/>
        </p:spPr>
        <p:txBody>
          <a:bodyPr wrap="square" rtlCol="0" anchor="ctr"/>
          <a:lstStyle/>
          <a:p>
            <a:pPr algn="ctr"/>
            <a:endParaRPr/>
          </a:p>
        </p:txBody>
      </p:sp>
      <p:sp>
        <p:nvSpPr>
          <p:cNvPr id="130" name="Oval 129"/>
          <p:cNvSpPr/>
          <p:nvPr/>
        </p:nvSpPr>
        <p:spPr>
          <a:xfrm>
            <a:off x="14474952" y="3374136"/>
            <a:ext cx="169164" cy="169164"/>
          </a:xfrm>
          <a:prstGeom prst="ellipse">
            <a:avLst/>
          </a:prstGeom>
          <a:solidFill>
            <a:srgbClr val="D6D1C6"/>
          </a:solidFill>
          <a:ln>
            <a:noFill/>
          </a:ln>
          <a:effectLst/>
        </p:spPr>
        <p:txBody>
          <a:bodyPr wrap="square" rtlCol="0" anchor="ctr"/>
          <a:lstStyle/>
          <a:p>
            <a:pPr algn="ctr"/>
            <a:endParaRPr/>
          </a:p>
        </p:txBody>
      </p:sp>
      <p:sp>
        <p:nvSpPr>
          <p:cNvPr id="131" name="Oval 130"/>
          <p:cNvSpPr/>
          <p:nvPr/>
        </p:nvSpPr>
        <p:spPr>
          <a:xfrm>
            <a:off x="14740128" y="3374136"/>
            <a:ext cx="169164" cy="169164"/>
          </a:xfrm>
          <a:prstGeom prst="ellipse">
            <a:avLst/>
          </a:prstGeom>
          <a:solidFill>
            <a:srgbClr val="D6D1C6"/>
          </a:solidFill>
          <a:ln>
            <a:noFill/>
          </a:ln>
          <a:effectLst/>
        </p:spPr>
        <p:txBody>
          <a:bodyPr wrap="square" rtlCol="0" anchor="ctr"/>
          <a:lstStyle/>
          <a:p>
            <a:pPr algn="ctr"/>
            <a:endParaRPr/>
          </a:p>
        </p:txBody>
      </p:sp>
      <p:sp>
        <p:nvSpPr>
          <p:cNvPr id="132" name="Oval 131"/>
          <p:cNvSpPr/>
          <p:nvPr/>
        </p:nvSpPr>
        <p:spPr>
          <a:xfrm>
            <a:off x="15005304" y="3374136"/>
            <a:ext cx="169164" cy="169164"/>
          </a:xfrm>
          <a:prstGeom prst="ellipse">
            <a:avLst/>
          </a:prstGeom>
          <a:solidFill>
            <a:srgbClr val="D6D1C6"/>
          </a:solidFill>
          <a:ln>
            <a:noFill/>
          </a:ln>
          <a:effectLst/>
        </p:spPr>
        <p:txBody>
          <a:bodyPr wrap="square" rtlCol="0" anchor="ctr"/>
          <a:lstStyle/>
          <a:p>
            <a:pPr algn="ctr"/>
            <a:endParaRPr/>
          </a:p>
        </p:txBody>
      </p:sp>
      <p:sp>
        <p:nvSpPr>
          <p:cNvPr id="133" name="Oval 132"/>
          <p:cNvSpPr/>
          <p:nvPr/>
        </p:nvSpPr>
        <p:spPr>
          <a:xfrm>
            <a:off x="12618720" y="3639312"/>
            <a:ext cx="169164" cy="169164"/>
          </a:xfrm>
          <a:prstGeom prst="ellipse">
            <a:avLst/>
          </a:prstGeom>
          <a:solidFill>
            <a:srgbClr val="D6D1C6"/>
          </a:solidFill>
          <a:ln>
            <a:noFill/>
          </a:ln>
          <a:effectLst/>
        </p:spPr>
        <p:txBody>
          <a:bodyPr wrap="square" rtlCol="0" anchor="ctr"/>
          <a:lstStyle/>
          <a:p>
            <a:pPr algn="ctr"/>
            <a:endParaRPr/>
          </a:p>
        </p:txBody>
      </p:sp>
      <p:sp>
        <p:nvSpPr>
          <p:cNvPr id="134" name="Oval 133"/>
          <p:cNvSpPr/>
          <p:nvPr/>
        </p:nvSpPr>
        <p:spPr>
          <a:xfrm>
            <a:off x="12883896" y="3639312"/>
            <a:ext cx="169164" cy="169164"/>
          </a:xfrm>
          <a:prstGeom prst="ellipse">
            <a:avLst/>
          </a:prstGeom>
          <a:solidFill>
            <a:srgbClr val="D6D1C6"/>
          </a:solidFill>
          <a:ln>
            <a:noFill/>
          </a:ln>
          <a:effectLst/>
        </p:spPr>
        <p:txBody>
          <a:bodyPr wrap="square" rtlCol="0" anchor="ctr"/>
          <a:lstStyle/>
          <a:p>
            <a:pPr algn="ctr"/>
            <a:endParaRPr/>
          </a:p>
        </p:txBody>
      </p:sp>
      <p:sp>
        <p:nvSpPr>
          <p:cNvPr id="135" name="Oval 134"/>
          <p:cNvSpPr/>
          <p:nvPr/>
        </p:nvSpPr>
        <p:spPr>
          <a:xfrm>
            <a:off x="13149072" y="3639312"/>
            <a:ext cx="169164" cy="169164"/>
          </a:xfrm>
          <a:prstGeom prst="ellipse">
            <a:avLst/>
          </a:prstGeom>
          <a:solidFill>
            <a:srgbClr val="D6D1C6"/>
          </a:solidFill>
          <a:ln>
            <a:noFill/>
          </a:ln>
          <a:effectLst/>
        </p:spPr>
        <p:txBody>
          <a:bodyPr wrap="square" rtlCol="0" anchor="ctr"/>
          <a:lstStyle/>
          <a:p>
            <a:pPr algn="ctr"/>
            <a:endParaRPr/>
          </a:p>
        </p:txBody>
      </p:sp>
      <p:sp>
        <p:nvSpPr>
          <p:cNvPr id="136" name="Oval 135"/>
          <p:cNvSpPr/>
          <p:nvPr/>
        </p:nvSpPr>
        <p:spPr>
          <a:xfrm>
            <a:off x="13414248" y="3639312"/>
            <a:ext cx="169164" cy="169164"/>
          </a:xfrm>
          <a:prstGeom prst="ellipse">
            <a:avLst/>
          </a:prstGeom>
          <a:solidFill>
            <a:srgbClr val="D6D1C6"/>
          </a:solidFill>
          <a:ln>
            <a:noFill/>
          </a:ln>
          <a:effectLst/>
        </p:spPr>
        <p:txBody>
          <a:bodyPr wrap="square" rtlCol="0" anchor="ctr"/>
          <a:lstStyle/>
          <a:p>
            <a:pPr algn="ctr"/>
            <a:endParaRPr/>
          </a:p>
        </p:txBody>
      </p:sp>
      <p:sp>
        <p:nvSpPr>
          <p:cNvPr id="137" name="Oval 136"/>
          <p:cNvSpPr/>
          <p:nvPr/>
        </p:nvSpPr>
        <p:spPr>
          <a:xfrm>
            <a:off x="13679424" y="3639312"/>
            <a:ext cx="169164" cy="169164"/>
          </a:xfrm>
          <a:prstGeom prst="ellipse">
            <a:avLst/>
          </a:prstGeom>
          <a:solidFill>
            <a:srgbClr val="D6D1C6"/>
          </a:solidFill>
          <a:ln>
            <a:noFill/>
          </a:ln>
          <a:effectLst/>
        </p:spPr>
        <p:txBody>
          <a:bodyPr wrap="square" rtlCol="0" anchor="ctr"/>
          <a:lstStyle/>
          <a:p>
            <a:pPr algn="ctr"/>
            <a:endParaRPr/>
          </a:p>
        </p:txBody>
      </p:sp>
      <p:sp>
        <p:nvSpPr>
          <p:cNvPr id="138" name="Oval 137"/>
          <p:cNvSpPr/>
          <p:nvPr/>
        </p:nvSpPr>
        <p:spPr>
          <a:xfrm>
            <a:off x="13944600" y="3639312"/>
            <a:ext cx="169164" cy="169164"/>
          </a:xfrm>
          <a:prstGeom prst="ellipse">
            <a:avLst/>
          </a:prstGeom>
          <a:solidFill>
            <a:srgbClr val="D6D1C6"/>
          </a:solidFill>
          <a:ln>
            <a:noFill/>
          </a:ln>
          <a:effectLst/>
        </p:spPr>
        <p:txBody>
          <a:bodyPr wrap="square" rtlCol="0" anchor="ctr"/>
          <a:lstStyle/>
          <a:p>
            <a:pPr algn="ctr"/>
            <a:endParaRPr/>
          </a:p>
        </p:txBody>
      </p:sp>
      <p:sp>
        <p:nvSpPr>
          <p:cNvPr id="139" name="Oval 138"/>
          <p:cNvSpPr/>
          <p:nvPr/>
        </p:nvSpPr>
        <p:spPr>
          <a:xfrm>
            <a:off x="14209776" y="3639312"/>
            <a:ext cx="169164" cy="169164"/>
          </a:xfrm>
          <a:prstGeom prst="ellipse">
            <a:avLst/>
          </a:prstGeom>
          <a:solidFill>
            <a:srgbClr val="D6D1C6"/>
          </a:solidFill>
          <a:ln>
            <a:noFill/>
          </a:ln>
          <a:effectLst/>
        </p:spPr>
        <p:txBody>
          <a:bodyPr wrap="square" rtlCol="0" anchor="ctr"/>
          <a:lstStyle/>
          <a:p>
            <a:pPr algn="ctr"/>
            <a:endParaRPr/>
          </a:p>
        </p:txBody>
      </p:sp>
      <p:sp>
        <p:nvSpPr>
          <p:cNvPr id="140" name="Oval 139"/>
          <p:cNvSpPr/>
          <p:nvPr/>
        </p:nvSpPr>
        <p:spPr>
          <a:xfrm>
            <a:off x="14474952" y="3639312"/>
            <a:ext cx="169164" cy="169164"/>
          </a:xfrm>
          <a:prstGeom prst="ellipse">
            <a:avLst/>
          </a:prstGeom>
          <a:solidFill>
            <a:srgbClr val="D6D1C6"/>
          </a:solidFill>
          <a:ln>
            <a:noFill/>
          </a:ln>
          <a:effectLst/>
        </p:spPr>
        <p:txBody>
          <a:bodyPr wrap="square" rtlCol="0" anchor="ctr"/>
          <a:lstStyle/>
          <a:p>
            <a:pPr algn="ctr"/>
            <a:endParaRPr/>
          </a:p>
        </p:txBody>
      </p:sp>
      <p:sp>
        <p:nvSpPr>
          <p:cNvPr id="141" name="Oval 140"/>
          <p:cNvSpPr/>
          <p:nvPr/>
        </p:nvSpPr>
        <p:spPr>
          <a:xfrm>
            <a:off x="14740128" y="3639312"/>
            <a:ext cx="169164" cy="169164"/>
          </a:xfrm>
          <a:prstGeom prst="ellipse">
            <a:avLst/>
          </a:prstGeom>
          <a:solidFill>
            <a:srgbClr val="D6D1C6"/>
          </a:solidFill>
          <a:ln>
            <a:noFill/>
          </a:ln>
          <a:effectLst/>
        </p:spPr>
        <p:txBody>
          <a:bodyPr wrap="square" rtlCol="0" anchor="ctr"/>
          <a:lstStyle/>
          <a:p>
            <a:pPr algn="ctr"/>
            <a:endParaRPr/>
          </a:p>
        </p:txBody>
      </p:sp>
      <p:sp>
        <p:nvSpPr>
          <p:cNvPr id="142" name="Oval 141"/>
          <p:cNvSpPr/>
          <p:nvPr/>
        </p:nvSpPr>
        <p:spPr>
          <a:xfrm>
            <a:off x="15005304" y="3639312"/>
            <a:ext cx="169164" cy="169164"/>
          </a:xfrm>
          <a:prstGeom prst="ellipse">
            <a:avLst/>
          </a:prstGeom>
          <a:solidFill>
            <a:srgbClr val="D6D1C6"/>
          </a:solidFill>
          <a:ln>
            <a:noFill/>
          </a:ln>
          <a:effectLst/>
        </p:spPr>
        <p:txBody>
          <a:bodyPr wrap="square" rtlCol="0" anchor="ctr"/>
          <a:lstStyle/>
          <a:p>
            <a:pPr algn="ctr"/>
            <a:endParaRPr/>
          </a:p>
        </p:txBody>
      </p:sp>
      <p:sp>
        <p:nvSpPr>
          <p:cNvPr id="143" name="Oval 142"/>
          <p:cNvSpPr/>
          <p:nvPr/>
        </p:nvSpPr>
        <p:spPr>
          <a:xfrm>
            <a:off x="12618720" y="3904487"/>
            <a:ext cx="169164" cy="169164"/>
          </a:xfrm>
          <a:prstGeom prst="ellipse">
            <a:avLst/>
          </a:prstGeom>
          <a:solidFill>
            <a:srgbClr val="D6D1C6"/>
          </a:solidFill>
          <a:ln>
            <a:noFill/>
          </a:ln>
          <a:effectLst/>
        </p:spPr>
        <p:txBody>
          <a:bodyPr wrap="square" rtlCol="0" anchor="ctr"/>
          <a:lstStyle/>
          <a:p>
            <a:pPr algn="ctr"/>
            <a:endParaRPr/>
          </a:p>
        </p:txBody>
      </p:sp>
      <p:sp>
        <p:nvSpPr>
          <p:cNvPr id="144" name="Oval 143"/>
          <p:cNvSpPr/>
          <p:nvPr/>
        </p:nvSpPr>
        <p:spPr>
          <a:xfrm>
            <a:off x="12883896" y="3904487"/>
            <a:ext cx="169164" cy="169164"/>
          </a:xfrm>
          <a:prstGeom prst="ellipse">
            <a:avLst/>
          </a:prstGeom>
          <a:solidFill>
            <a:srgbClr val="D6D1C6"/>
          </a:solidFill>
          <a:ln>
            <a:noFill/>
          </a:ln>
          <a:effectLst/>
        </p:spPr>
        <p:txBody>
          <a:bodyPr wrap="square" rtlCol="0" anchor="ctr"/>
          <a:lstStyle/>
          <a:p>
            <a:pPr algn="ctr"/>
            <a:endParaRPr/>
          </a:p>
        </p:txBody>
      </p:sp>
      <p:sp>
        <p:nvSpPr>
          <p:cNvPr id="145" name="Oval 144"/>
          <p:cNvSpPr/>
          <p:nvPr/>
        </p:nvSpPr>
        <p:spPr>
          <a:xfrm>
            <a:off x="13149072" y="3904487"/>
            <a:ext cx="169164" cy="169164"/>
          </a:xfrm>
          <a:prstGeom prst="ellipse">
            <a:avLst/>
          </a:prstGeom>
          <a:solidFill>
            <a:srgbClr val="D6D1C6"/>
          </a:solidFill>
          <a:ln>
            <a:noFill/>
          </a:ln>
          <a:effectLst/>
        </p:spPr>
        <p:txBody>
          <a:bodyPr wrap="square" rtlCol="0" anchor="ctr"/>
          <a:lstStyle/>
          <a:p>
            <a:pPr algn="ctr"/>
            <a:endParaRPr/>
          </a:p>
        </p:txBody>
      </p:sp>
      <p:sp>
        <p:nvSpPr>
          <p:cNvPr id="146" name="Oval 145"/>
          <p:cNvSpPr/>
          <p:nvPr/>
        </p:nvSpPr>
        <p:spPr>
          <a:xfrm>
            <a:off x="13414248" y="3904487"/>
            <a:ext cx="169164" cy="169164"/>
          </a:xfrm>
          <a:prstGeom prst="ellipse">
            <a:avLst/>
          </a:prstGeom>
          <a:solidFill>
            <a:srgbClr val="D6D1C6"/>
          </a:solidFill>
          <a:ln>
            <a:noFill/>
          </a:ln>
          <a:effectLst/>
        </p:spPr>
        <p:txBody>
          <a:bodyPr wrap="square" rtlCol="0" anchor="ctr"/>
          <a:lstStyle/>
          <a:p>
            <a:pPr algn="ctr"/>
            <a:endParaRPr/>
          </a:p>
        </p:txBody>
      </p:sp>
      <p:sp>
        <p:nvSpPr>
          <p:cNvPr id="147" name="Oval 146"/>
          <p:cNvSpPr/>
          <p:nvPr/>
        </p:nvSpPr>
        <p:spPr>
          <a:xfrm>
            <a:off x="13679424" y="3904487"/>
            <a:ext cx="169164" cy="169164"/>
          </a:xfrm>
          <a:prstGeom prst="ellipse">
            <a:avLst/>
          </a:prstGeom>
          <a:solidFill>
            <a:srgbClr val="D6D1C6"/>
          </a:solidFill>
          <a:ln>
            <a:noFill/>
          </a:ln>
          <a:effectLst/>
        </p:spPr>
        <p:txBody>
          <a:bodyPr wrap="square" rtlCol="0" anchor="ctr"/>
          <a:lstStyle/>
          <a:p>
            <a:pPr algn="ctr"/>
            <a:endParaRPr/>
          </a:p>
        </p:txBody>
      </p:sp>
      <p:sp>
        <p:nvSpPr>
          <p:cNvPr id="148" name="Oval 147"/>
          <p:cNvSpPr/>
          <p:nvPr/>
        </p:nvSpPr>
        <p:spPr>
          <a:xfrm>
            <a:off x="13944600" y="3904487"/>
            <a:ext cx="169164" cy="169164"/>
          </a:xfrm>
          <a:prstGeom prst="ellipse">
            <a:avLst/>
          </a:prstGeom>
          <a:solidFill>
            <a:srgbClr val="D6D1C6"/>
          </a:solidFill>
          <a:ln>
            <a:noFill/>
          </a:ln>
          <a:effectLst/>
        </p:spPr>
        <p:txBody>
          <a:bodyPr wrap="square" rtlCol="0" anchor="ctr"/>
          <a:lstStyle/>
          <a:p>
            <a:pPr algn="ctr"/>
            <a:endParaRPr/>
          </a:p>
        </p:txBody>
      </p:sp>
      <p:sp>
        <p:nvSpPr>
          <p:cNvPr id="149" name="Oval 148"/>
          <p:cNvSpPr/>
          <p:nvPr/>
        </p:nvSpPr>
        <p:spPr>
          <a:xfrm>
            <a:off x="14209776" y="3904487"/>
            <a:ext cx="169164" cy="169164"/>
          </a:xfrm>
          <a:prstGeom prst="ellipse">
            <a:avLst/>
          </a:prstGeom>
          <a:solidFill>
            <a:srgbClr val="D6D1C6"/>
          </a:solidFill>
          <a:ln>
            <a:noFill/>
          </a:ln>
          <a:effectLst/>
        </p:spPr>
        <p:txBody>
          <a:bodyPr wrap="square" rtlCol="0" anchor="ctr"/>
          <a:lstStyle/>
          <a:p>
            <a:pPr algn="ctr"/>
            <a:endParaRPr/>
          </a:p>
        </p:txBody>
      </p:sp>
      <p:sp>
        <p:nvSpPr>
          <p:cNvPr id="150" name="Oval 149"/>
          <p:cNvSpPr/>
          <p:nvPr/>
        </p:nvSpPr>
        <p:spPr>
          <a:xfrm>
            <a:off x="14474952" y="3904487"/>
            <a:ext cx="169164" cy="169164"/>
          </a:xfrm>
          <a:prstGeom prst="ellipse">
            <a:avLst/>
          </a:prstGeom>
          <a:solidFill>
            <a:srgbClr val="D6D1C6"/>
          </a:solidFill>
          <a:ln>
            <a:noFill/>
          </a:ln>
          <a:effectLst/>
        </p:spPr>
        <p:txBody>
          <a:bodyPr wrap="square" rtlCol="0" anchor="ctr"/>
          <a:lstStyle/>
          <a:p>
            <a:pPr algn="ctr"/>
            <a:endParaRPr/>
          </a:p>
        </p:txBody>
      </p:sp>
      <p:sp>
        <p:nvSpPr>
          <p:cNvPr id="151" name="Oval 150"/>
          <p:cNvSpPr/>
          <p:nvPr/>
        </p:nvSpPr>
        <p:spPr>
          <a:xfrm>
            <a:off x="14740128" y="3904487"/>
            <a:ext cx="169164" cy="169164"/>
          </a:xfrm>
          <a:prstGeom prst="ellipse">
            <a:avLst/>
          </a:prstGeom>
          <a:solidFill>
            <a:srgbClr val="D6D1C6"/>
          </a:solidFill>
          <a:ln>
            <a:noFill/>
          </a:ln>
          <a:effectLst/>
        </p:spPr>
        <p:txBody>
          <a:bodyPr wrap="square" rtlCol="0" anchor="ctr"/>
          <a:lstStyle/>
          <a:p>
            <a:pPr algn="ctr"/>
            <a:endParaRPr/>
          </a:p>
        </p:txBody>
      </p:sp>
      <p:sp>
        <p:nvSpPr>
          <p:cNvPr id="152" name="Oval 151"/>
          <p:cNvSpPr/>
          <p:nvPr/>
        </p:nvSpPr>
        <p:spPr>
          <a:xfrm>
            <a:off x="15005304" y="3904487"/>
            <a:ext cx="169164" cy="169164"/>
          </a:xfrm>
          <a:prstGeom prst="ellipse">
            <a:avLst/>
          </a:prstGeom>
          <a:solidFill>
            <a:srgbClr val="D6D1C6"/>
          </a:solidFill>
          <a:ln>
            <a:noFill/>
          </a:ln>
          <a:effectLst/>
        </p:spPr>
        <p:txBody>
          <a:bodyPr wrap="square" rtlCol="0" anchor="ctr"/>
          <a:lstStyle/>
          <a:p>
            <a:pPr algn="ctr"/>
            <a:endParaRPr/>
          </a:p>
        </p:txBody>
      </p:sp>
      <p:sp>
        <p:nvSpPr>
          <p:cNvPr id="153" name="Oval 152"/>
          <p:cNvSpPr/>
          <p:nvPr/>
        </p:nvSpPr>
        <p:spPr>
          <a:xfrm>
            <a:off x="12618720" y="4169663"/>
            <a:ext cx="169164" cy="169164"/>
          </a:xfrm>
          <a:prstGeom prst="ellipse">
            <a:avLst/>
          </a:prstGeom>
          <a:solidFill>
            <a:srgbClr val="D6D1C6"/>
          </a:solidFill>
          <a:ln>
            <a:noFill/>
          </a:ln>
          <a:effectLst/>
        </p:spPr>
        <p:txBody>
          <a:bodyPr wrap="square" rtlCol="0" anchor="ctr"/>
          <a:lstStyle/>
          <a:p>
            <a:pPr algn="ctr"/>
            <a:endParaRPr/>
          </a:p>
        </p:txBody>
      </p:sp>
      <p:sp>
        <p:nvSpPr>
          <p:cNvPr id="154" name="Oval 153"/>
          <p:cNvSpPr/>
          <p:nvPr/>
        </p:nvSpPr>
        <p:spPr>
          <a:xfrm>
            <a:off x="12883896" y="4169663"/>
            <a:ext cx="169164" cy="169164"/>
          </a:xfrm>
          <a:prstGeom prst="ellipse">
            <a:avLst/>
          </a:prstGeom>
          <a:solidFill>
            <a:srgbClr val="D6D1C6"/>
          </a:solidFill>
          <a:ln>
            <a:noFill/>
          </a:ln>
          <a:effectLst/>
        </p:spPr>
        <p:txBody>
          <a:bodyPr wrap="square" rtlCol="0" anchor="ctr"/>
          <a:lstStyle/>
          <a:p>
            <a:pPr algn="ctr"/>
            <a:endParaRPr/>
          </a:p>
        </p:txBody>
      </p:sp>
      <p:sp>
        <p:nvSpPr>
          <p:cNvPr id="155" name="Oval 154"/>
          <p:cNvSpPr/>
          <p:nvPr/>
        </p:nvSpPr>
        <p:spPr>
          <a:xfrm>
            <a:off x="13149072" y="4169663"/>
            <a:ext cx="169164" cy="169164"/>
          </a:xfrm>
          <a:prstGeom prst="ellipse">
            <a:avLst/>
          </a:prstGeom>
          <a:solidFill>
            <a:srgbClr val="D6D1C6"/>
          </a:solidFill>
          <a:ln>
            <a:noFill/>
          </a:ln>
          <a:effectLst/>
        </p:spPr>
        <p:txBody>
          <a:bodyPr wrap="square" rtlCol="0" anchor="ctr"/>
          <a:lstStyle/>
          <a:p>
            <a:pPr algn="ctr"/>
            <a:endParaRPr/>
          </a:p>
        </p:txBody>
      </p:sp>
      <p:sp>
        <p:nvSpPr>
          <p:cNvPr id="156" name="Oval 155"/>
          <p:cNvSpPr/>
          <p:nvPr/>
        </p:nvSpPr>
        <p:spPr>
          <a:xfrm>
            <a:off x="13414248" y="4169663"/>
            <a:ext cx="169164" cy="169164"/>
          </a:xfrm>
          <a:prstGeom prst="ellipse">
            <a:avLst/>
          </a:prstGeom>
          <a:solidFill>
            <a:srgbClr val="D6D1C6"/>
          </a:solidFill>
          <a:ln>
            <a:noFill/>
          </a:ln>
          <a:effectLst/>
        </p:spPr>
        <p:txBody>
          <a:bodyPr wrap="square" rtlCol="0" anchor="ctr"/>
          <a:lstStyle/>
          <a:p>
            <a:pPr algn="ctr"/>
            <a:endParaRPr/>
          </a:p>
        </p:txBody>
      </p:sp>
      <p:sp>
        <p:nvSpPr>
          <p:cNvPr id="157" name="Oval 156"/>
          <p:cNvSpPr/>
          <p:nvPr/>
        </p:nvSpPr>
        <p:spPr>
          <a:xfrm>
            <a:off x="13679424" y="4169663"/>
            <a:ext cx="169164" cy="169164"/>
          </a:xfrm>
          <a:prstGeom prst="ellipse">
            <a:avLst/>
          </a:prstGeom>
          <a:solidFill>
            <a:srgbClr val="D6D1C6"/>
          </a:solidFill>
          <a:ln>
            <a:noFill/>
          </a:ln>
          <a:effectLst/>
        </p:spPr>
        <p:txBody>
          <a:bodyPr wrap="square" rtlCol="0" anchor="ctr"/>
          <a:lstStyle/>
          <a:p>
            <a:pPr algn="ctr"/>
            <a:endParaRPr/>
          </a:p>
        </p:txBody>
      </p:sp>
      <p:sp>
        <p:nvSpPr>
          <p:cNvPr id="158" name="Oval 157"/>
          <p:cNvSpPr/>
          <p:nvPr/>
        </p:nvSpPr>
        <p:spPr>
          <a:xfrm>
            <a:off x="13944600" y="4169663"/>
            <a:ext cx="169164" cy="169164"/>
          </a:xfrm>
          <a:prstGeom prst="ellipse">
            <a:avLst/>
          </a:prstGeom>
          <a:solidFill>
            <a:srgbClr val="D6D1C6"/>
          </a:solidFill>
          <a:ln>
            <a:noFill/>
          </a:ln>
          <a:effectLst/>
        </p:spPr>
        <p:txBody>
          <a:bodyPr wrap="square" rtlCol="0" anchor="ctr"/>
          <a:lstStyle/>
          <a:p>
            <a:pPr algn="ctr"/>
            <a:endParaRPr/>
          </a:p>
        </p:txBody>
      </p:sp>
      <p:sp>
        <p:nvSpPr>
          <p:cNvPr id="159" name="Oval 158"/>
          <p:cNvSpPr/>
          <p:nvPr/>
        </p:nvSpPr>
        <p:spPr>
          <a:xfrm>
            <a:off x="14209776" y="4169663"/>
            <a:ext cx="169164" cy="169164"/>
          </a:xfrm>
          <a:prstGeom prst="ellipse">
            <a:avLst/>
          </a:prstGeom>
          <a:solidFill>
            <a:srgbClr val="D6D1C6"/>
          </a:solidFill>
          <a:ln>
            <a:noFill/>
          </a:ln>
          <a:effectLst/>
        </p:spPr>
        <p:txBody>
          <a:bodyPr wrap="square" rtlCol="0" anchor="ctr"/>
          <a:lstStyle/>
          <a:p>
            <a:pPr algn="ctr"/>
            <a:endParaRPr/>
          </a:p>
        </p:txBody>
      </p:sp>
      <p:sp>
        <p:nvSpPr>
          <p:cNvPr id="160" name="Oval 159"/>
          <p:cNvSpPr/>
          <p:nvPr/>
        </p:nvSpPr>
        <p:spPr>
          <a:xfrm>
            <a:off x="14474952" y="4169663"/>
            <a:ext cx="169164" cy="169164"/>
          </a:xfrm>
          <a:prstGeom prst="ellipse">
            <a:avLst/>
          </a:prstGeom>
          <a:solidFill>
            <a:srgbClr val="D6D1C6"/>
          </a:solidFill>
          <a:ln>
            <a:noFill/>
          </a:ln>
          <a:effectLst/>
        </p:spPr>
        <p:txBody>
          <a:bodyPr wrap="square" rtlCol="0" anchor="ctr"/>
          <a:lstStyle/>
          <a:p>
            <a:pPr algn="ctr"/>
            <a:endParaRPr/>
          </a:p>
        </p:txBody>
      </p:sp>
      <p:sp>
        <p:nvSpPr>
          <p:cNvPr id="161" name="Oval 160"/>
          <p:cNvSpPr/>
          <p:nvPr/>
        </p:nvSpPr>
        <p:spPr>
          <a:xfrm>
            <a:off x="14740128" y="4169663"/>
            <a:ext cx="169164" cy="169164"/>
          </a:xfrm>
          <a:prstGeom prst="ellipse">
            <a:avLst/>
          </a:prstGeom>
          <a:solidFill>
            <a:srgbClr val="D6D1C6"/>
          </a:solidFill>
          <a:ln>
            <a:noFill/>
          </a:ln>
          <a:effectLst/>
        </p:spPr>
        <p:txBody>
          <a:bodyPr wrap="square" rtlCol="0" anchor="ctr"/>
          <a:lstStyle/>
          <a:p>
            <a:pPr algn="ctr"/>
            <a:endParaRPr/>
          </a:p>
        </p:txBody>
      </p:sp>
      <p:sp>
        <p:nvSpPr>
          <p:cNvPr id="162" name="Oval 161"/>
          <p:cNvSpPr/>
          <p:nvPr/>
        </p:nvSpPr>
        <p:spPr>
          <a:xfrm>
            <a:off x="15005304" y="4169663"/>
            <a:ext cx="169164" cy="169164"/>
          </a:xfrm>
          <a:prstGeom prst="ellipse">
            <a:avLst/>
          </a:prstGeom>
          <a:solidFill>
            <a:srgbClr val="D6D1C6"/>
          </a:solidFill>
          <a:ln>
            <a:noFill/>
          </a:ln>
          <a:effectLst/>
        </p:spPr>
        <p:txBody>
          <a:bodyPr wrap="square" rtlCol="0" anchor="ctr"/>
          <a:lstStyle/>
          <a:p>
            <a:pPr algn="ctr"/>
            <a:endParaRPr/>
          </a:p>
        </p:txBody>
      </p:sp>
      <p:sp>
        <p:nvSpPr>
          <p:cNvPr id="163" name="Oval 162"/>
          <p:cNvSpPr/>
          <p:nvPr/>
        </p:nvSpPr>
        <p:spPr>
          <a:xfrm>
            <a:off x="12618720" y="4434840"/>
            <a:ext cx="169164" cy="169164"/>
          </a:xfrm>
          <a:prstGeom prst="ellipse">
            <a:avLst/>
          </a:prstGeom>
          <a:solidFill>
            <a:srgbClr val="D6D1C6"/>
          </a:solidFill>
          <a:ln>
            <a:noFill/>
          </a:ln>
          <a:effectLst/>
        </p:spPr>
        <p:txBody>
          <a:bodyPr wrap="square" rtlCol="0" anchor="ctr"/>
          <a:lstStyle/>
          <a:p>
            <a:pPr algn="ctr"/>
            <a:endParaRPr/>
          </a:p>
        </p:txBody>
      </p:sp>
      <p:sp>
        <p:nvSpPr>
          <p:cNvPr id="164" name="Oval 163"/>
          <p:cNvSpPr/>
          <p:nvPr/>
        </p:nvSpPr>
        <p:spPr>
          <a:xfrm>
            <a:off x="12883896" y="4434840"/>
            <a:ext cx="169164" cy="169164"/>
          </a:xfrm>
          <a:prstGeom prst="ellipse">
            <a:avLst/>
          </a:prstGeom>
          <a:solidFill>
            <a:srgbClr val="D6D1C6"/>
          </a:solidFill>
          <a:ln>
            <a:noFill/>
          </a:ln>
          <a:effectLst/>
        </p:spPr>
        <p:txBody>
          <a:bodyPr wrap="square" rtlCol="0" anchor="ctr"/>
          <a:lstStyle/>
          <a:p>
            <a:pPr algn="ctr"/>
            <a:endParaRPr/>
          </a:p>
        </p:txBody>
      </p:sp>
      <p:sp>
        <p:nvSpPr>
          <p:cNvPr id="165" name="Oval 164"/>
          <p:cNvSpPr/>
          <p:nvPr/>
        </p:nvSpPr>
        <p:spPr>
          <a:xfrm>
            <a:off x="13149072" y="4434840"/>
            <a:ext cx="169164" cy="169164"/>
          </a:xfrm>
          <a:prstGeom prst="ellipse">
            <a:avLst/>
          </a:prstGeom>
          <a:solidFill>
            <a:srgbClr val="D6D1C6"/>
          </a:solidFill>
          <a:ln>
            <a:noFill/>
          </a:ln>
          <a:effectLst/>
        </p:spPr>
        <p:txBody>
          <a:bodyPr wrap="square" rtlCol="0" anchor="ctr"/>
          <a:lstStyle/>
          <a:p>
            <a:pPr algn="ctr"/>
            <a:endParaRPr/>
          </a:p>
        </p:txBody>
      </p:sp>
      <p:sp>
        <p:nvSpPr>
          <p:cNvPr id="166" name="Oval 165"/>
          <p:cNvSpPr/>
          <p:nvPr/>
        </p:nvSpPr>
        <p:spPr>
          <a:xfrm>
            <a:off x="13414248" y="4434840"/>
            <a:ext cx="169164" cy="169164"/>
          </a:xfrm>
          <a:prstGeom prst="ellipse">
            <a:avLst/>
          </a:prstGeom>
          <a:solidFill>
            <a:srgbClr val="D6D1C6"/>
          </a:solidFill>
          <a:ln>
            <a:noFill/>
          </a:ln>
          <a:effectLst/>
        </p:spPr>
        <p:txBody>
          <a:bodyPr wrap="square" rtlCol="0" anchor="ctr"/>
          <a:lstStyle/>
          <a:p>
            <a:pPr algn="ctr"/>
            <a:endParaRPr/>
          </a:p>
        </p:txBody>
      </p:sp>
      <p:sp>
        <p:nvSpPr>
          <p:cNvPr id="167" name="Oval 166"/>
          <p:cNvSpPr/>
          <p:nvPr/>
        </p:nvSpPr>
        <p:spPr>
          <a:xfrm>
            <a:off x="13679424" y="4434840"/>
            <a:ext cx="169164" cy="169164"/>
          </a:xfrm>
          <a:prstGeom prst="ellipse">
            <a:avLst/>
          </a:prstGeom>
          <a:solidFill>
            <a:srgbClr val="D6D1C6"/>
          </a:solidFill>
          <a:ln>
            <a:noFill/>
          </a:ln>
          <a:effectLst/>
        </p:spPr>
        <p:txBody>
          <a:bodyPr wrap="square" rtlCol="0" anchor="ctr"/>
          <a:lstStyle/>
          <a:p>
            <a:pPr algn="ctr"/>
            <a:endParaRPr/>
          </a:p>
        </p:txBody>
      </p:sp>
      <p:sp>
        <p:nvSpPr>
          <p:cNvPr id="168" name="Oval 167"/>
          <p:cNvSpPr/>
          <p:nvPr/>
        </p:nvSpPr>
        <p:spPr>
          <a:xfrm>
            <a:off x="13944600" y="4434840"/>
            <a:ext cx="169164" cy="169164"/>
          </a:xfrm>
          <a:prstGeom prst="ellipse">
            <a:avLst/>
          </a:prstGeom>
          <a:solidFill>
            <a:srgbClr val="D6D1C6"/>
          </a:solidFill>
          <a:ln>
            <a:noFill/>
          </a:ln>
          <a:effectLst/>
        </p:spPr>
        <p:txBody>
          <a:bodyPr wrap="square" rtlCol="0" anchor="ctr"/>
          <a:lstStyle/>
          <a:p>
            <a:pPr algn="ctr"/>
            <a:endParaRPr/>
          </a:p>
        </p:txBody>
      </p:sp>
      <p:sp>
        <p:nvSpPr>
          <p:cNvPr id="169" name="Oval 168"/>
          <p:cNvSpPr/>
          <p:nvPr/>
        </p:nvSpPr>
        <p:spPr>
          <a:xfrm>
            <a:off x="14209776" y="4434840"/>
            <a:ext cx="169164" cy="169164"/>
          </a:xfrm>
          <a:prstGeom prst="ellipse">
            <a:avLst/>
          </a:prstGeom>
          <a:solidFill>
            <a:srgbClr val="D6D1C6"/>
          </a:solidFill>
          <a:ln>
            <a:noFill/>
          </a:ln>
          <a:effectLst/>
        </p:spPr>
        <p:txBody>
          <a:bodyPr wrap="square" rtlCol="0" anchor="ctr"/>
          <a:lstStyle/>
          <a:p>
            <a:pPr algn="ctr"/>
            <a:endParaRPr/>
          </a:p>
        </p:txBody>
      </p:sp>
      <p:sp>
        <p:nvSpPr>
          <p:cNvPr id="170" name="Oval 169"/>
          <p:cNvSpPr/>
          <p:nvPr/>
        </p:nvSpPr>
        <p:spPr>
          <a:xfrm>
            <a:off x="14474952" y="4434840"/>
            <a:ext cx="169164" cy="169164"/>
          </a:xfrm>
          <a:prstGeom prst="ellipse">
            <a:avLst/>
          </a:prstGeom>
          <a:solidFill>
            <a:srgbClr val="D6D1C6"/>
          </a:solidFill>
          <a:ln>
            <a:noFill/>
          </a:ln>
          <a:effectLst/>
        </p:spPr>
        <p:txBody>
          <a:bodyPr wrap="square" rtlCol="0" anchor="ctr"/>
          <a:lstStyle/>
          <a:p>
            <a:pPr algn="ctr"/>
            <a:endParaRPr/>
          </a:p>
        </p:txBody>
      </p:sp>
      <p:sp>
        <p:nvSpPr>
          <p:cNvPr id="171" name="Oval 170"/>
          <p:cNvSpPr/>
          <p:nvPr/>
        </p:nvSpPr>
        <p:spPr>
          <a:xfrm>
            <a:off x="14740128" y="4434840"/>
            <a:ext cx="169164" cy="169164"/>
          </a:xfrm>
          <a:prstGeom prst="ellipse">
            <a:avLst/>
          </a:prstGeom>
          <a:solidFill>
            <a:srgbClr val="D6D1C6"/>
          </a:solidFill>
          <a:ln>
            <a:noFill/>
          </a:ln>
          <a:effectLst/>
        </p:spPr>
        <p:txBody>
          <a:bodyPr wrap="square" rtlCol="0" anchor="ctr"/>
          <a:lstStyle/>
          <a:p>
            <a:pPr algn="ctr"/>
            <a:endParaRPr/>
          </a:p>
        </p:txBody>
      </p:sp>
      <p:sp>
        <p:nvSpPr>
          <p:cNvPr id="172" name="Oval 171"/>
          <p:cNvSpPr/>
          <p:nvPr/>
        </p:nvSpPr>
        <p:spPr>
          <a:xfrm>
            <a:off x="15005304" y="4434840"/>
            <a:ext cx="169164" cy="169164"/>
          </a:xfrm>
          <a:prstGeom prst="ellipse">
            <a:avLst/>
          </a:prstGeom>
          <a:solidFill>
            <a:srgbClr val="D6D1C6"/>
          </a:solidFill>
          <a:ln>
            <a:noFill/>
          </a:ln>
          <a:effectLst/>
        </p:spPr>
        <p:txBody>
          <a:bodyPr wrap="square" rtlCol="0" anchor="ctr"/>
          <a:lstStyle/>
          <a:p>
            <a:pPr algn="ctr"/>
            <a:endParaRPr/>
          </a:p>
        </p:txBody>
      </p:sp>
      <p:sp>
        <p:nvSpPr>
          <p:cNvPr id="173" name="Oval 172"/>
          <p:cNvSpPr/>
          <p:nvPr/>
        </p:nvSpPr>
        <p:spPr>
          <a:xfrm>
            <a:off x="12618720" y="4700016"/>
            <a:ext cx="169164" cy="169164"/>
          </a:xfrm>
          <a:prstGeom prst="ellipse">
            <a:avLst/>
          </a:prstGeom>
          <a:solidFill>
            <a:srgbClr val="D6D1C6"/>
          </a:solidFill>
          <a:ln>
            <a:noFill/>
          </a:ln>
          <a:effectLst/>
        </p:spPr>
        <p:txBody>
          <a:bodyPr wrap="square" rtlCol="0" anchor="ctr"/>
          <a:lstStyle/>
          <a:p>
            <a:pPr algn="ctr"/>
            <a:endParaRPr/>
          </a:p>
        </p:txBody>
      </p:sp>
      <p:sp>
        <p:nvSpPr>
          <p:cNvPr id="174" name="Oval 173"/>
          <p:cNvSpPr/>
          <p:nvPr/>
        </p:nvSpPr>
        <p:spPr>
          <a:xfrm>
            <a:off x="12883896" y="4700016"/>
            <a:ext cx="169164" cy="169164"/>
          </a:xfrm>
          <a:prstGeom prst="ellipse">
            <a:avLst/>
          </a:prstGeom>
          <a:solidFill>
            <a:srgbClr val="D6D1C6"/>
          </a:solidFill>
          <a:ln>
            <a:noFill/>
          </a:ln>
          <a:effectLst/>
        </p:spPr>
        <p:txBody>
          <a:bodyPr wrap="square" rtlCol="0" anchor="ctr"/>
          <a:lstStyle/>
          <a:p>
            <a:pPr algn="ctr"/>
            <a:endParaRPr/>
          </a:p>
        </p:txBody>
      </p:sp>
      <p:sp>
        <p:nvSpPr>
          <p:cNvPr id="175" name="Oval 174"/>
          <p:cNvSpPr/>
          <p:nvPr/>
        </p:nvSpPr>
        <p:spPr>
          <a:xfrm>
            <a:off x="13149072" y="4700016"/>
            <a:ext cx="169164" cy="169164"/>
          </a:xfrm>
          <a:prstGeom prst="ellipse">
            <a:avLst/>
          </a:prstGeom>
          <a:solidFill>
            <a:srgbClr val="D6D1C6"/>
          </a:solidFill>
          <a:ln>
            <a:noFill/>
          </a:ln>
          <a:effectLst/>
        </p:spPr>
        <p:txBody>
          <a:bodyPr wrap="square" rtlCol="0" anchor="ctr"/>
          <a:lstStyle/>
          <a:p>
            <a:pPr algn="ctr"/>
            <a:endParaRPr/>
          </a:p>
        </p:txBody>
      </p:sp>
      <p:sp>
        <p:nvSpPr>
          <p:cNvPr id="176" name="Oval 175"/>
          <p:cNvSpPr/>
          <p:nvPr/>
        </p:nvSpPr>
        <p:spPr>
          <a:xfrm>
            <a:off x="13414248" y="4700016"/>
            <a:ext cx="169164" cy="169164"/>
          </a:xfrm>
          <a:prstGeom prst="ellipse">
            <a:avLst/>
          </a:prstGeom>
          <a:solidFill>
            <a:srgbClr val="D6D1C6"/>
          </a:solidFill>
          <a:ln>
            <a:noFill/>
          </a:ln>
          <a:effectLst/>
        </p:spPr>
        <p:txBody>
          <a:bodyPr wrap="square" rtlCol="0" anchor="ctr"/>
          <a:lstStyle/>
          <a:p>
            <a:pPr algn="ctr"/>
            <a:endParaRPr/>
          </a:p>
        </p:txBody>
      </p:sp>
      <p:sp>
        <p:nvSpPr>
          <p:cNvPr id="177" name="Oval 176"/>
          <p:cNvSpPr/>
          <p:nvPr/>
        </p:nvSpPr>
        <p:spPr>
          <a:xfrm>
            <a:off x="13679424" y="4700016"/>
            <a:ext cx="169164" cy="169164"/>
          </a:xfrm>
          <a:prstGeom prst="ellipse">
            <a:avLst/>
          </a:prstGeom>
          <a:solidFill>
            <a:srgbClr val="D6D1C6"/>
          </a:solidFill>
          <a:ln>
            <a:noFill/>
          </a:ln>
          <a:effectLst/>
        </p:spPr>
        <p:txBody>
          <a:bodyPr wrap="square" rtlCol="0" anchor="ctr"/>
          <a:lstStyle/>
          <a:p>
            <a:pPr algn="ctr"/>
            <a:endParaRPr/>
          </a:p>
        </p:txBody>
      </p:sp>
      <p:sp>
        <p:nvSpPr>
          <p:cNvPr id="178" name="Oval 177"/>
          <p:cNvSpPr/>
          <p:nvPr/>
        </p:nvSpPr>
        <p:spPr>
          <a:xfrm>
            <a:off x="13944600" y="4700016"/>
            <a:ext cx="169164" cy="169164"/>
          </a:xfrm>
          <a:prstGeom prst="ellipse">
            <a:avLst/>
          </a:prstGeom>
          <a:solidFill>
            <a:srgbClr val="D6D1C6"/>
          </a:solidFill>
          <a:ln>
            <a:noFill/>
          </a:ln>
          <a:effectLst/>
        </p:spPr>
        <p:txBody>
          <a:bodyPr wrap="square" rtlCol="0" anchor="ctr"/>
          <a:lstStyle/>
          <a:p>
            <a:pPr algn="ctr"/>
            <a:endParaRPr/>
          </a:p>
        </p:txBody>
      </p:sp>
      <p:sp>
        <p:nvSpPr>
          <p:cNvPr id="179" name="Oval 178"/>
          <p:cNvSpPr/>
          <p:nvPr/>
        </p:nvSpPr>
        <p:spPr>
          <a:xfrm>
            <a:off x="14209776" y="4700016"/>
            <a:ext cx="169164" cy="169164"/>
          </a:xfrm>
          <a:prstGeom prst="ellipse">
            <a:avLst/>
          </a:prstGeom>
          <a:solidFill>
            <a:srgbClr val="D6D1C6"/>
          </a:solidFill>
          <a:ln>
            <a:noFill/>
          </a:ln>
          <a:effectLst/>
        </p:spPr>
        <p:txBody>
          <a:bodyPr wrap="square" rtlCol="0" anchor="ctr"/>
          <a:lstStyle/>
          <a:p>
            <a:pPr algn="ctr"/>
            <a:endParaRPr/>
          </a:p>
        </p:txBody>
      </p:sp>
      <p:sp>
        <p:nvSpPr>
          <p:cNvPr id="180" name="Oval 179"/>
          <p:cNvSpPr/>
          <p:nvPr/>
        </p:nvSpPr>
        <p:spPr>
          <a:xfrm>
            <a:off x="14474952" y="4700016"/>
            <a:ext cx="169164" cy="169164"/>
          </a:xfrm>
          <a:prstGeom prst="ellipse">
            <a:avLst/>
          </a:prstGeom>
          <a:solidFill>
            <a:srgbClr val="D6D1C6"/>
          </a:solidFill>
          <a:ln>
            <a:noFill/>
          </a:ln>
          <a:effectLst/>
        </p:spPr>
        <p:txBody>
          <a:bodyPr wrap="square" rtlCol="0" anchor="ctr"/>
          <a:lstStyle/>
          <a:p>
            <a:pPr algn="ctr"/>
            <a:endParaRPr/>
          </a:p>
        </p:txBody>
      </p:sp>
      <p:sp>
        <p:nvSpPr>
          <p:cNvPr id="181" name="Oval 180"/>
          <p:cNvSpPr/>
          <p:nvPr/>
        </p:nvSpPr>
        <p:spPr>
          <a:xfrm>
            <a:off x="14740128" y="4700016"/>
            <a:ext cx="169164" cy="169164"/>
          </a:xfrm>
          <a:prstGeom prst="ellipse">
            <a:avLst/>
          </a:prstGeom>
          <a:solidFill>
            <a:srgbClr val="D6D1C6"/>
          </a:solidFill>
          <a:ln>
            <a:noFill/>
          </a:ln>
          <a:effectLst/>
        </p:spPr>
        <p:txBody>
          <a:bodyPr wrap="square" rtlCol="0" anchor="ctr"/>
          <a:lstStyle/>
          <a:p>
            <a:pPr algn="ctr"/>
            <a:endParaRPr/>
          </a:p>
        </p:txBody>
      </p:sp>
      <p:sp>
        <p:nvSpPr>
          <p:cNvPr id="182" name="Oval 181"/>
          <p:cNvSpPr/>
          <p:nvPr/>
        </p:nvSpPr>
        <p:spPr>
          <a:xfrm>
            <a:off x="15005304" y="4700016"/>
            <a:ext cx="169164" cy="169164"/>
          </a:xfrm>
          <a:prstGeom prst="ellipse">
            <a:avLst/>
          </a:prstGeom>
          <a:solidFill>
            <a:srgbClr val="D6D1C6"/>
          </a:solidFill>
          <a:ln>
            <a:noFill/>
          </a:ln>
          <a:effectLst/>
        </p:spPr>
        <p:txBody>
          <a:bodyPr wrap="square" rtlCol="0" anchor="ctr"/>
          <a:lstStyle/>
          <a:p>
            <a:pPr algn="ctr"/>
            <a:endParaRPr/>
          </a:p>
        </p:txBody>
      </p:sp>
      <p:sp>
        <p:nvSpPr>
          <p:cNvPr id="183" name="Oval 182"/>
          <p:cNvSpPr/>
          <p:nvPr/>
        </p:nvSpPr>
        <p:spPr>
          <a:xfrm>
            <a:off x="12618720" y="4965192"/>
            <a:ext cx="169164" cy="169164"/>
          </a:xfrm>
          <a:prstGeom prst="ellipse">
            <a:avLst/>
          </a:prstGeom>
          <a:solidFill>
            <a:srgbClr val="D6D1C6"/>
          </a:solidFill>
          <a:ln>
            <a:noFill/>
          </a:ln>
          <a:effectLst/>
        </p:spPr>
        <p:txBody>
          <a:bodyPr wrap="square" rtlCol="0" anchor="ctr"/>
          <a:lstStyle/>
          <a:p>
            <a:pPr algn="ctr"/>
            <a:endParaRPr/>
          </a:p>
        </p:txBody>
      </p:sp>
      <p:sp>
        <p:nvSpPr>
          <p:cNvPr id="184" name="Oval 183"/>
          <p:cNvSpPr/>
          <p:nvPr/>
        </p:nvSpPr>
        <p:spPr>
          <a:xfrm>
            <a:off x="12883896" y="4965192"/>
            <a:ext cx="169164" cy="169164"/>
          </a:xfrm>
          <a:prstGeom prst="ellipse">
            <a:avLst/>
          </a:prstGeom>
          <a:solidFill>
            <a:srgbClr val="D6D1C6"/>
          </a:solidFill>
          <a:ln>
            <a:noFill/>
          </a:ln>
          <a:effectLst/>
        </p:spPr>
        <p:txBody>
          <a:bodyPr wrap="square" rtlCol="0" anchor="ctr"/>
          <a:lstStyle/>
          <a:p>
            <a:pPr algn="ctr"/>
            <a:endParaRPr/>
          </a:p>
        </p:txBody>
      </p:sp>
      <p:sp>
        <p:nvSpPr>
          <p:cNvPr id="185" name="Oval 184"/>
          <p:cNvSpPr/>
          <p:nvPr/>
        </p:nvSpPr>
        <p:spPr>
          <a:xfrm>
            <a:off x="13149072" y="4965192"/>
            <a:ext cx="169164" cy="169164"/>
          </a:xfrm>
          <a:prstGeom prst="ellipse">
            <a:avLst/>
          </a:prstGeom>
          <a:solidFill>
            <a:srgbClr val="D6D1C6"/>
          </a:solidFill>
          <a:ln>
            <a:noFill/>
          </a:ln>
          <a:effectLst/>
        </p:spPr>
        <p:txBody>
          <a:bodyPr wrap="square" rtlCol="0" anchor="ctr"/>
          <a:lstStyle/>
          <a:p>
            <a:pPr algn="ctr"/>
            <a:endParaRPr/>
          </a:p>
        </p:txBody>
      </p:sp>
      <p:sp>
        <p:nvSpPr>
          <p:cNvPr id="186" name="Oval 185"/>
          <p:cNvSpPr/>
          <p:nvPr/>
        </p:nvSpPr>
        <p:spPr>
          <a:xfrm>
            <a:off x="13414248" y="4965192"/>
            <a:ext cx="169164" cy="169164"/>
          </a:xfrm>
          <a:prstGeom prst="ellipse">
            <a:avLst/>
          </a:prstGeom>
          <a:solidFill>
            <a:srgbClr val="D6D1C6"/>
          </a:solidFill>
          <a:ln>
            <a:noFill/>
          </a:ln>
          <a:effectLst/>
        </p:spPr>
        <p:txBody>
          <a:bodyPr wrap="square" rtlCol="0" anchor="ctr"/>
          <a:lstStyle/>
          <a:p>
            <a:pPr algn="ctr"/>
            <a:endParaRPr/>
          </a:p>
        </p:txBody>
      </p:sp>
      <p:sp>
        <p:nvSpPr>
          <p:cNvPr id="187" name="Oval 186"/>
          <p:cNvSpPr/>
          <p:nvPr/>
        </p:nvSpPr>
        <p:spPr>
          <a:xfrm>
            <a:off x="13679424" y="4965192"/>
            <a:ext cx="169164" cy="169164"/>
          </a:xfrm>
          <a:prstGeom prst="ellipse">
            <a:avLst/>
          </a:prstGeom>
          <a:solidFill>
            <a:srgbClr val="D6D1C6"/>
          </a:solidFill>
          <a:ln>
            <a:noFill/>
          </a:ln>
          <a:effectLst/>
        </p:spPr>
        <p:txBody>
          <a:bodyPr wrap="square" rtlCol="0" anchor="ctr"/>
          <a:lstStyle/>
          <a:p>
            <a:pPr algn="ctr"/>
            <a:endParaRPr/>
          </a:p>
        </p:txBody>
      </p:sp>
      <p:sp>
        <p:nvSpPr>
          <p:cNvPr id="188" name="Oval 187"/>
          <p:cNvSpPr/>
          <p:nvPr/>
        </p:nvSpPr>
        <p:spPr>
          <a:xfrm>
            <a:off x="13944600" y="4965192"/>
            <a:ext cx="169164" cy="169164"/>
          </a:xfrm>
          <a:prstGeom prst="ellipse">
            <a:avLst/>
          </a:prstGeom>
          <a:solidFill>
            <a:srgbClr val="D6D1C6"/>
          </a:solidFill>
          <a:ln>
            <a:noFill/>
          </a:ln>
          <a:effectLst/>
        </p:spPr>
        <p:txBody>
          <a:bodyPr wrap="square" rtlCol="0" anchor="ctr"/>
          <a:lstStyle/>
          <a:p>
            <a:pPr algn="ctr"/>
            <a:endParaRPr/>
          </a:p>
        </p:txBody>
      </p:sp>
      <p:sp>
        <p:nvSpPr>
          <p:cNvPr id="189" name="Oval 188"/>
          <p:cNvSpPr/>
          <p:nvPr/>
        </p:nvSpPr>
        <p:spPr>
          <a:xfrm>
            <a:off x="14209776" y="4965192"/>
            <a:ext cx="169164" cy="169164"/>
          </a:xfrm>
          <a:prstGeom prst="ellipse">
            <a:avLst/>
          </a:prstGeom>
          <a:solidFill>
            <a:srgbClr val="D6D1C6"/>
          </a:solidFill>
          <a:ln>
            <a:noFill/>
          </a:ln>
          <a:effectLst/>
        </p:spPr>
        <p:txBody>
          <a:bodyPr wrap="square" rtlCol="0" anchor="ctr"/>
          <a:lstStyle/>
          <a:p>
            <a:pPr algn="ctr"/>
            <a:endParaRPr/>
          </a:p>
        </p:txBody>
      </p:sp>
      <p:sp>
        <p:nvSpPr>
          <p:cNvPr id="190" name="Oval 189"/>
          <p:cNvSpPr/>
          <p:nvPr/>
        </p:nvSpPr>
        <p:spPr>
          <a:xfrm>
            <a:off x="14474952" y="4965192"/>
            <a:ext cx="169164" cy="169164"/>
          </a:xfrm>
          <a:prstGeom prst="ellipse">
            <a:avLst/>
          </a:prstGeom>
          <a:solidFill>
            <a:srgbClr val="D6D1C6"/>
          </a:solidFill>
          <a:ln>
            <a:noFill/>
          </a:ln>
          <a:effectLst/>
        </p:spPr>
        <p:txBody>
          <a:bodyPr wrap="square" rtlCol="0" anchor="ctr"/>
          <a:lstStyle/>
          <a:p>
            <a:pPr algn="ctr"/>
            <a:endParaRPr/>
          </a:p>
        </p:txBody>
      </p:sp>
      <p:sp>
        <p:nvSpPr>
          <p:cNvPr id="191" name="Oval 190"/>
          <p:cNvSpPr/>
          <p:nvPr/>
        </p:nvSpPr>
        <p:spPr>
          <a:xfrm>
            <a:off x="14740128" y="4965192"/>
            <a:ext cx="169164" cy="169164"/>
          </a:xfrm>
          <a:prstGeom prst="ellipse">
            <a:avLst/>
          </a:prstGeom>
          <a:solidFill>
            <a:srgbClr val="D6D1C6"/>
          </a:solidFill>
          <a:ln>
            <a:noFill/>
          </a:ln>
          <a:effectLst/>
        </p:spPr>
        <p:txBody>
          <a:bodyPr wrap="square" rtlCol="0" anchor="ctr"/>
          <a:lstStyle/>
          <a:p>
            <a:pPr algn="ctr"/>
            <a:endParaRPr/>
          </a:p>
        </p:txBody>
      </p:sp>
      <p:sp>
        <p:nvSpPr>
          <p:cNvPr id="192" name="Oval 191"/>
          <p:cNvSpPr/>
          <p:nvPr/>
        </p:nvSpPr>
        <p:spPr>
          <a:xfrm>
            <a:off x="15005304" y="4965192"/>
            <a:ext cx="169164" cy="169164"/>
          </a:xfrm>
          <a:prstGeom prst="ellipse">
            <a:avLst/>
          </a:prstGeom>
          <a:solidFill>
            <a:srgbClr val="D6D1C6"/>
          </a:solidFill>
          <a:ln>
            <a:noFill/>
          </a:ln>
          <a:effectLst/>
        </p:spPr>
        <p:txBody>
          <a:bodyPr wrap="square" rtlCol="0" anchor="ctr"/>
          <a:lstStyle/>
          <a:p>
            <a:pPr algn="ctr"/>
            <a:endParaRPr/>
          </a:p>
        </p:txBody>
      </p:sp>
      <p:sp>
        <p:nvSpPr>
          <p:cNvPr id="193" name="Oval 192"/>
          <p:cNvSpPr/>
          <p:nvPr/>
        </p:nvSpPr>
        <p:spPr>
          <a:xfrm>
            <a:off x="12618720" y="5230368"/>
            <a:ext cx="169164" cy="169164"/>
          </a:xfrm>
          <a:prstGeom prst="ellipse">
            <a:avLst/>
          </a:prstGeom>
          <a:solidFill>
            <a:srgbClr val="D6D1C6"/>
          </a:solidFill>
          <a:ln>
            <a:noFill/>
          </a:ln>
          <a:effectLst/>
        </p:spPr>
        <p:txBody>
          <a:bodyPr wrap="square" rtlCol="0" anchor="ctr"/>
          <a:lstStyle/>
          <a:p>
            <a:pPr algn="ctr"/>
            <a:endParaRPr/>
          </a:p>
        </p:txBody>
      </p:sp>
      <p:sp>
        <p:nvSpPr>
          <p:cNvPr id="194" name="Oval 193"/>
          <p:cNvSpPr/>
          <p:nvPr/>
        </p:nvSpPr>
        <p:spPr>
          <a:xfrm>
            <a:off x="12883896" y="5230368"/>
            <a:ext cx="169164" cy="169164"/>
          </a:xfrm>
          <a:prstGeom prst="ellipse">
            <a:avLst/>
          </a:prstGeom>
          <a:solidFill>
            <a:srgbClr val="D6D1C6"/>
          </a:solidFill>
          <a:ln>
            <a:noFill/>
          </a:ln>
          <a:effectLst/>
        </p:spPr>
        <p:txBody>
          <a:bodyPr wrap="square" rtlCol="0" anchor="ctr"/>
          <a:lstStyle/>
          <a:p>
            <a:pPr algn="ctr"/>
            <a:endParaRPr/>
          </a:p>
        </p:txBody>
      </p:sp>
      <p:sp>
        <p:nvSpPr>
          <p:cNvPr id="195" name="Oval 194"/>
          <p:cNvSpPr/>
          <p:nvPr/>
        </p:nvSpPr>
        <p:spPr>
          <a:xfrm>
            <a:off x="13149072" y="5230368"/>
            <a:ext cx="169164" cy="169164"/>
          </a:xfrm>
          <a:prstGeom prst="ellipse">
            <a:avLst/>
          </a:prstGeom>
          <a:solidFill>
            <a:srgbClr val="D6D1C6"/>
          </a:solidFill>
          <a:ln>
            <a:noFill/>
          </a:ln>
          <a:effectLst/>
        </p:spPr>
        <p:txBody>
          <a:bodyPr wrap="square" rtlCol="0" anchor="ctr"/>
          <a:lstStyle/>
          <a:p>
            <a:pPr algn="ctr"/>
            <a:endParaRPr/>
          </a:p>
        </p:txBody>
      </p:sp>
      <p:sp>
        <p:nvSpPr>
          <p:cNvPr id="196" name="Oval 195"/>
          <p:cNvSpPr/>
          <p:nvPr/>
        </p:nvSpPr>
        <p:spPr>
          <a:xfrm>
            <a:off x="13414248" y="5230368"/>
            <a:ext cx="169164" cy="169164"/>
          </a:xfrm>
          <a:prstGeom prst="ellipse">
            <a:avLst/>
          </a:prstGeom>
          <a:solidFill>
            <a:srgbClr val="D6D1C6"/>
          </a:solidFill>
          <a:ln>
            <a:noFill/>
          </a:ln>
          <a:effectLst/>
        </p:spPr>
        <p:txBody>
          <a:bodyPr wrap="square" rtlCol="0" anchor="ctr"/>
          <a:lstStyle/>
          <a:p>
            <a:pPr algn="ctr"/>
            <a:endParaRPr/>
          </a:p>
        </p:txBody>
      </p:sp>
      <p:sp>
        <p:nvSpPr>
          <p:cNvPr id="197" name="Oval 196"/>
          <p:cNvSpPr/>
          <p:nvPr/>
        </p:nvSpPr>
        <p:spPr>
          <a:xfrm>
            <a:off x="13679424" y="5230368"/>
            <a:ext cx="169164" cy="169164"/>
          </a:xfrm>
          <a:prstGeom prst="ellipse">
            <a:avLst/>
          </a:prstGeom>
          <a:solidFill>
            <a:srgbClr val="D6D1C6"/>
          </a:solidFill>
          <a:ln>
            <a:noFill/>
          </a:ln>
          <a:effectLst/>
        </p:spPr>
        <p:txBody>
          <a:bodyPr wrap="square" rtlCol="0" anchor="ctr"/>
          <a:lstStyle/>
          <a:p>
            <a:pPr algn="ctr"/>
            <a:endParaRPr/>
          </a:p>
        </p:txBody>
      </p:sp>
      <p:sp>
        <p:nvSpPr>
          <p:cNvPr id="198" name="Oval 197"/>
          <p:cNvSpPr/>
          <p:nvPr/>
        </p:nvSpPr>
        <p:spPr>
          <a:xfrm>
            <a:off x="13944600" y="5230368"/>
            <a:ext cx="169164" cy="169164"/>
          </a:xfrm>
          <a:prstGeom prst="ellipse">
            <a:avLst/>
          </a:prstGeom>
          <a:solidFill>
            <a:srgbClr val="D6D1C6"/>
          </a:solidFill>
          <a:ln>
            <a:noFill/>
          </a:ln>
          <a:effectLst/>
        </p:spPr>
        <p:txBody>
          <a:bodyPr wrap="square" rtlCol="0" anchor="ctr"/>
          <a:lstStyle/>
          <a:p>
            <a:pPr algn="ctr"/>
            <a:endParaRPr/>
          </a:p>
        </p:txBody>
      </p:sp>
      <p:sp>
        <p:nvSpPr>
          <p:cNvPr id="199" name="Oval 198"/>
          <p:cNvSpPr/>
          <p:nvPr/>
        </p:nvSpPr>
        <p:spPr>
          <a:xfrm>
            <a:off x="14209776" y="5230368"/>
            <a:ext cx="169164" cy="169164"/>
          </a:xfrm>
          <a:prstGeom prst="ellipse">
            <a:avLst/>
          </a:prstGeom>
          <a:solidFill>
            <a:srgbClr val="D6D1C6"/>
          </a:solidFill>
          <a:ln>
            <a:noFill/>
          </a:ln>
          <a:effectLst/>
        </p:spPr>
        <p:txBody>
          <a:bodyPr wrap="square" rtlCol="0" anchor="ctr"/>
          <a:lstStyle/>
          <a:p>
            <a:pPr algn="ctr"/>
            <a:endParaRPr/>
          </a:p>
        </p:txBody>
      </p:sp>
      <p:sp>
        <p:nvSpPr>
          <p:cNvPr id="200" name="Oval 199"/>
          <p:cNvSpPr/>
          <p:nvPr/>
        </p:nvSpPr>
        <p:spPr>
          <a:xfrm>
            <a:off x="14474952" y="5230368"/>
            <a:ext cx="169164" cy="169164"/>
          </a:xfrm>
          <a:prstGeom prst="ellipse">
            <a:avLst/>
          </a:prstGeom>
          <a:solidFill>
            <a:srgbClr val="D6D1C6"/>
          </a:solidFill>
          <a:ln>
            <a:noFill/>
          </a:ln>
          <a:effectLst/>
        </p:spPr>
        <p:txBody>
          <a:bodyPr wrap="square" rtlCol="0" anchor="ctr"/>
          <a:lstStyle/>
          <a:p>
            <a:pPr algn="ctr"/>
            <a:endParaRPr/>
          </a:p>
        </p:txBody>
      </p:sp>
      <p:sp>
        <p:nvSpPr>
          <p:cNvPr id="201" name="Oval 200"/>
          <p:cNvSpPr/>
          <p:nvPr/>
        </p:nvSpPr>
        <p:spPr>
          <a:xfrm>
            <a:off x="14740128" y="5230368"/>
            <a:ext cx="169164" cy="169164"/>
          </a:xfrm>
          <a:prstGeom prst="ellipse">
            <a:avLst/>
          </a:prstGeom>
          <a:solidFill>
            <a:srgbClr val="D6D1C6"/>
          </a:solidFill>
          <a:ln>
            <a:noFill/>
          </a:ln>
          <a:effectLst/>
        </p:spPr>
        <p:txBody>
          <a:bodyPr wrap="square" rtlCol="0" anchor="ctr"/>
          <a:lstStyle/>
          <a:p>
            <a:pPr algn="ctr"/>
            <a:endParaRPr/>
          </a:p>
        </p:txBody>
      </p:sp>
      <p:sp>
        <p:nvSpPr>
          <p:cNvPr id="202" name="Oval 201"/>
          <p:cNvSpPr/>
          <p:nvPr/>
        </p:nvSpPr>
        <p:spPr>
          <a:xfrm>
            <a:off x="15005304" y="5230368"/>
            <a:ext cx="169164" cy="169164"/>
          </a:xfrm>
          <a:prstGeom prst="ellipse">
            <a:avLst/>
          </a:prstGeom>
          <a:solidFill>
            <a:srgbClr val="D6D1C6"/>
          </a:solidFill>
          <a:ln>
            <a:noFill/>
          </a:ln>
          <a:effectLst/>
        </p:spPr>
        <p:txBody>
          <a:bodyPr wrap="square" rtlCol="0" anchor="ctr"/>
          <a:lstStyle/>
          <a:p>
            <a:pPr algn="ctr"/>
            <a:endParaRPr/>
          </a:p>
        </p:txBody>
      </p:sp>
      <p:sp>
        <p:nvSpPr>
          <p:cNvPr id="203" name="Oval 202"/>
          <p:cNvSpPr/>
          <p:nvPr/>
        </p:nvSpPr>
        <p:spPr>
          <a:xfrm>
            <a:off x="12618720" y="5495544"/>
            <a:ext cx="169164" cy="169164"/>
          </a:xfrm>
          <a:prstGeom prst="ellipse">
            <a:avLst/>
          </a:prstGeom>
          <a:solidFill>
            <a:srgbClr val="D6D1C6"/>
          </a:solidFill>
          <a:ln>
            <a:noFill/>
          </a:ln>
          <a:effectLst/>
        </p:spPr>
        <p:txBody>
          <a:bodyPr wrap="square" rtlCol="0" anchor="ctr"/>
          <a:lstStyle/>
          <a:p>
            <a:pPr algn="ctr"/>
            <a:endParaRPr/>
          </a:p>
        </p:txBody>
      </p:sp>
      <p:sp>
        <p:nvSpPr>
          <p:cNvPr id="204" name="Oval 203"/>
          <p:cNvSpPr/>
          <p:nvPr/>
        </p:nvSpPr>
        <p:spPr>
          <a:xfrm>
            <a:off x="12883896" y="5495544"/>
            <a:ext cx="169164" cy="169164"/>
          </a:xfrm>
          <a:prstGeom prst="ellipse">
            <a:avLst/>
          </a:prstGeom>
          <a:solidFill>
            <a:srgbClr val="D6D1C6"/>
          </a:solidFill>
          <a:ln>
            <a:noFill/>
          </a:ln>
          <a:effectLst/>
        </p:spPr>
        <p:txBody>
          <a:bodyPr wrap="square" rtlCol="0" anchor="ctr"/>
          <a:lstStyle/>
          <a:p>
            <a:pPr algn="ctr"/>
            <a:endParaRPr/>
          </a:p>
        </p:txBody>
      </p:sp>
      <p:sp>
        <p:nvSpPr>
          <p:cNvPr id="205" name="Oval 204"/>
          <p:cNvSpPr/>
          <p:nvPr/>
        </p:nvSpPr>
        <p:spPr>
          <a:xfrm>
            <a:off x="13149072" y="5495544"/>
            <a:ext cx="169164" cy="169164"/>
          </a:xfrm>
          <a:prstGeom prst="ellipse">
            <a:avLst/>
          </a:prstGeom>
          <a:solidFill>
            <a:srgbClr val="D6D1C6"/>
          </a:solidFill>
          <a:ln>
            <a:noFill/>
          </a:ln>
          <a:effectLst/>
        </p:spPr>
        <p:txBody>
          <a:bodyPr wrap="square" rtlCol="0" anchor="ctr"/>
          <a:lstStyle/>
          <a:p>
            <a:pPr algn="ctr"/>
            <a:endParaRPr/>
          </a:p>
        </p:txBody>
      </p:sp>
      <p:sp>
        <p:nvSpPr>
          <p:cNvPr id="206" name="Oval 205"/>
          <p:cNvSpPr/>
          <p:nvPr/>
        </p:nvSpPr>
        <p:spPr>
          <a:xfrm>
            <a:off x="13414248" y="5495544"/>
            <a:ext cx="169164" cy="169164"/>
          </a:xfrm>
          <a:prstGeom prst="ellipse">
            <a:avLst/>
          </a:prstGeom>
          <a:solidFill>
            <a:srgbClr val="D6D1C6"/>
          </a:solidFill>
          <a:ln>
            <a:noFill/>
          </a:ln>
          <a:effectLst/>
        </p:spPr>
        <p:txBody>
          <a:bodyPr wrap="square" rtlCol="0" anchor="ctr"/>
          <a:lstStyle/>
          <a:p>
            <a:pPr algn="ctr"/>
            <a:endParaRPr/>
          </a:p>
        </p:txBody>
      </p:sp>
      <p:sp>
        <p:nvSpPr>
          <p:cNvPr id="207" name="Oval 206"/>
          <p:cNvSpPr/>
          <p:nvPr/>
        </p:nvSpPr>
        <p:spPr>
          <a:xfrm>
            <a:off x="13679424" y="5495544"/>
            <a:ext cx="169164" cy="169164"/>
          </a:xfrm>
          <a:prstGeom prst="ellipse">
            <a:avLst/>
          </a:prstGeom>
          <a:solidFill>
            <a:srgbClr val="D6D1C6"/>
          </a:solidFill>
          <a:ln>
            <a:noFill/>
          </a:ln>
          <a:effectLst/>
        </p:spPr>
        <p:txBody>
          <a:bodyPr wrap="square" rtlCol="0" anchor="ctr"/>
          <a:lstStyle/>
          <a:p>
            <a:pPr algn="ctr"/>
            <a:endParaRPr/>
          </a:p>
        </p:txBody>
      </p:sp>
      <p:sp>
        <p:nvSpPr>
          <p:cNvPr id="208" name="Oval 207"/>
          <p:cNvSpPr/>
          <p:nvPr/>
        </p:nvSpPr>
        <p:spPr>
          <a:xfrm>
            <a:off x="13944600" y="5495544"/>
            <a:ext cx="169164" cy="169164"/>
          </a:xfrm>
          <a:prstGeom prst="ellipse">
            <a:avLst/>
          </a:prstGeom>
          <a:solidFill>
            <a:srgbClr val="D6D1C6"/>
          </a:solidFill>
          <a:ln>
            <a:noFill/>
          </a:ln>
          <a:effectLst/>
        </p:spPr>
        <p:txBody>
          <a:bodyPr wrap="square" rtlCol="0" anchor="ctr"/>
          <a:lstStyle/>
          <a:p>
            <a:pPr algn="ctr"/>
            <a:endParaRPr/>
          </a:p>
        </p:txBody>
      </p:sp>
      <p:sp>
        <p:nvSpPr>
          <p:cNvPr id="209" name="Oval 208"/>
          <p:cNvSpPr/>
          <p:nvPr/>
        </p:nvSpPr>
        <p:spPr>
          <a:xfrm>
            <a:off x="14209776" y="5495544"/>
            <a:ext cx="169164" cy="169164"/>
          </a:xfrm>
          <a:prstGeom prst="ellipse">
            <a:avLst/>
          </a:prstGeom>
          <a:solidFill>
            <a:srgbClr val="D6D1C6"/>
          </a:solidFill>
          <a:ln>
            <a:noFill/>
          </a:ln>
          <a:effectLst/>
        </p:spPr>
        <p:txBody>
          <a:bodyPr wrap="square" rtlCol="0" anchor="ctr"/>
          <a:lstStyle/>
          <a:p>
            <a:pPr algn="ctr"/>
            <a:endParaRPr/>
          </a:p>
        </p:txBody>
      </p:sp>
      <p:sp>
        <p:nvSpPr>
          <p:cNvPr id="210" name="Oval 209"/>
          <p:cNvSpPr/>
          <p:nvPr/>
        </p:nvSpPr>
        <p:spPr>
          <a:xfrm>
            <a:off x="14474952" y="5495544"/>
            <a:ext cx="169164" cy="169164"/>
          </a:xfrm>
          <a:prstGeom prst="ellipse">
            <a:avLst/>
          </a:prstGeom>
          <a:solidFill>
            <a:srgbClr val="D6D1C6"/>
          </a:solidFill>
          <a:ln>
            <a:noFill/>
          </a:ln>
          <a:effectLst/>
        </p:spPr>
        <p:txBody>
          <a:bodyPr wrap="square" rtlCol="0" anchor="ctr"/>
          <a:lstStyle/>
          <a:p>
            <a:pPr algn="ctr"/>
            <a:endParaRPr/>
          </a:p>
        </p:txBody>
      </p:sp>
      <p:sp>
        <p:nvSpPr>
          <p:cNvPr id="211" name="Oval 210"/>
          <p:cNvSpPr/>
          <p:nvPr/>
        </p:nvSpPr>
        <p:spPr>
          <a:xfrm>
            <a:off x="14740128" y="5495544"/>
            <a:ext cx="169164" cy="169164"/>
          </a:xfrm>
          <a:prstGeom prst="ellipse">
            <a:avLst/>
          </a:prstGeom>
          <a:solidFill>
            <a:srgbClr val="D6D1C6"/>
          </a:solidFill>
          <a:ln>
            <a:noFill/>
          </a:ln>
          <a:effectLst/>
        </p:spPr>
        <p:txBody>
          <a:bodyPr wrap="square" rtlCol="0" anchor="ctr"/>
          <a:lstStyle/>
          <a:p>
            <a:pPr algn="ctr"/>
            <a:endParaRPr/>
          </a:p>
        </p:txBody>
      </p:sp>
      <p:sp>
        <p:nvSpPr>
          <p:cNvPr id="212" name="Oval 211"/>
          <p:cNvSpPr/>
          <p:nvPr/>
        </p:nvSpPr>
        <p:spPr>
          <a:xfrm>
            <a:off x="15005304" y="5495544"/>
            <a:ext cx="169164" cy="169164"/>
          </a:xfrm>
          <a:prstGeom prst="ellipse">
            <a:avLst/>
          </a:prstGeom>
          <a:solidFill>
            <a:srgbClr val="D6D1C6"/>
          </a:solidFill>
          <a:ln>
            <a:noFill/>
          </a:ln>
          <a:effectLst/>
        </p:spPr>
        <p:txBody>
          <a:bodyPr wrap="square" rtlCol="0" anchor="ctr"/>
          <a:lstStyle/>
          <a:p>
            <a:pPr algn="ctr"/>
            <a:endParaRPr/>
          </a:p>
        </p:txBody>
      </p:sp>
      <p:sp>
        <p:nvSpPr>
          <p:cNvPr id="213" name="TextBox 212"/>
          <p:cNvSpPr txBox="1"/>
          <p:nvPr/>
        </p:nvSpPr>
        <p:spPr>
          <a:xfrm>
            <a:off x="7223760" y="6053328"/>
            <a:ext cx="9692640" cy="274320"/>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Each grid is 100 developers. Solid dots are security staff, outlined dots are champions.</a:t>
            </a:r>
          </a:p>
        </p:txBody>
      </p:sp>
      <p:sp>
        <p:nvSpPr>
          <p:cNvPr id="214" name="TextBox 213"/>
          <p:cNvSpPr txBox="1"/>
          <p:nvPr/>
        </p:nvSpPr>
        <p:spPr>
          <a:xfrm>
            <a:off x="841248" y="7007352"/>
            <a:ext cx="16605504" cy="948436"/>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BSIMM14 (2023) reports 1.38 security team members per 100 developers, the figure usually rounded to the 1:100 industry benchmark. Counting security champions alongside staff gives 3.12 per 100 in BSIMM14 and 4.56 per 100 in BSIMM16 (2026).</a:t>
            </a:r>
          </a:p>
          <a:p>
            <a:pPr algn="l">
              <a:lnSpc>
                <a:spcPts val="1652"/>
              </a:lnSpc>
              <a:spcBef>
                <a:spcPts val="500"/>
              </a:spcBef>
              <a:spcAft>
                <a:spcPts val="0"/>
              </a:spcAft>
            </a:pPr>
            <a:r>
              <a:rPr sz="1400" b="0">
                <a:solidFill>
                  <a:srgbClr val="606978"/>
                </a:solidFill>
                <a:latin typeface="Arial"/>
              </a:rPr>
              <a:t>Source: Practical DevSecOps, State of Product Security Roles 2026, reporting BSIMM figures. No dataset measures product security staff per engineer directly, so treat these as estimates built from AppSec data.</a:t>
            </a:r>
          </a:p>
        </p:txBody>
      </p:sp>
      <p:sp>
        <p:nvSpPr>
          <p:cNvPr id="215" name="Rectangle 214"/>
          <p:cNvSpPr/>
          <p:nvPr/>
        </p:nvSpPr>
        <p:spPr>
          <a:xfrm>
            <a:off x="841248" y="8540496"/>
            <a:ext cx="54864" cy="369569"/>
          </a:xfrm>
          <a:prstGeom prst="rect">
            <a:avLst/>
          </a:prstGeom>
          <a:solidFill>
            <a:srgbClr val="B14B26"/>
          </a:solidFill>
          <a:ln>
            <a:noFill/>
          </a:ln>
          <a:effectLst/>
        </p:spPr>
        <p:txBody>
          <a:bodyPr wrap="square" rtlCol="0" anchor="ctr"/>
          <a:lstStyle/>
          <a:p>
            <a:pPr algn="ctr"/>
            <a:endParaRPr/>
          </a:p>
        </p:txBody>
      </p:sp>
      <p:sp>
        <p:nvSpPr>
          <p:cNvPr id="216" name="TextBox 215"/>
          <p:cNvSpPr txBox="1"/>
          <p:nvPr/>
        </p:nvSpPr>
        <p:spPr>
          <a:xfrm>
            <a:off x="1115568" y="8540496"/>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Nobody is hiring their way out of this ratio. The question is what the people you already have can be handed.</a:t>
            </a:r>
          </a:p>
        </p:txBody>
      </p:sp>
      <p:sp>
        <p:nvSpPr>
          <p:cNvPr id="217" name="TextBox 216"/>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02      Security Champion Summit 2026      Brett Crawley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Rounded Rectangle 2"/>
          <p:cNvSpPr/>
          <p:nvPr/>
        </p:nvSpPr>
        <p:spPr>
          <a:xfrm>
            <a:off x="841248" y="713232"/>
            <a:ext cx="2828796"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 name="TextBox 3"/>
          <p:cNvSpPr txBox="1"/>
          <p:nvPr/>
        </p:nvSpPr>
        <p:spPr>
          <a:xfrm>
            <a:off x="1042416" y="781812"/>
            <a:ext cx="2463036" cy="201168"/>
          </a:xfrm>
          <a:prstGeom prst="rect">
            <a:avLst/>
          </a:prstGeom>
          <a:noFill/>
        </p:spPr>
        <p:txBody>
          <a:bodyPr wrap="square" lIns="0" tIns="0" rIns="0" bIns="0" anchor="t">
            <a:spAutoFit/>
          </a:bodyPr>
          <a:lstStyle/>
          <a:p>
            <a:pPr algn="l">
              <a:lnSpc>
                <a:spcPts val="1534"/>
              </a:lnSpc>
              <a:spcAft>
                <a:spcPts val="0"/>
              </a:spcAft>
            </a:pPr>
            <a:r>
              <a:rPr sz="1300" b="1" spc="140">
                <a:solidFill>
                  <a:srgbClr val="FFFFFF"/>
                </a:solidFill>
                <a:latin typeface="Arial"/>
              </a:rPr>
              <a:t>THE FOUR INGREDIENTS</a:t>
            </a:r>
          </a:p>
        </p:txBody>
      </p:sp>
      <p:sp>
        <p:nvSpPr>
          <p:cNvPr id="5" name="TextBox 4"/>
          <p:cNvSpPr txBox="1"/>
          <p:nvPr/>
        </p:nvSpPr>
        <p:spPr>
          <a:xfrm>
            <a:off x="841248" y="133502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Three of the four can be wrong rather than missing.</a:t>
            </a:r>
          </a:p>
        </p:txBody>
      </p:sp>
      <p:sp>
        <p:nvSpPr>
          <p:cNvPr id="6" name="Rounded Rectangle 5"/>
          <p:cNvSpPr/>
          <p:nvPr/>
        </p:nvSpPr>
        <p:spPr>
          <a:xfrm>
            <a:off x="841248" y="2377440"/>
            <a:ext cx="3904487" cy="4992624"/>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7" name="Rounded Rectangle 6"/>
          <p:cNvSpPr/>
          <p:nvPr/>
        </p:nvSpPr>
        <p:spPr>
          <a:xfrm>
            <a:off x="1133856" y="2670048"/>
            <a:ext cx="1114734" cy="320040"/>
          </a:xfrm>
          <a:prstGeom prst="roundRect">
            <a:avLst>
              <a:gd name="adj" fmla="val 50000"/>
            </a:avLst>
          </a:prstGeom>
          <a:solidFill>
            <a:srgbClr val="B14B26"/>
          </a:solidFill>
          <a:ln>
            <a:noFill/>
          </a:ln>
          <a:effectLst/>
        </p:spPr>
        <p:txBody>
          <a:bodyPr wrap="square" rtlCol="0" anchor="ctr"/>
          <a:lstStyle/>
          <a:p>
            <a:pPr algn="ctr"/>
            <a:endParaRPr/>
          </a:p>
        </p:txBody>
      </p:sp>
      <p:sp>
        <p:nvSpPr>
          <p:cNvPr id="8" name="TextBox 7"/>
          <p:cNvSpPr txBox="1"/>
          <p:nvPr/>
        </p:nvSpPr>
        <p:spPr>
          <a:xfrm>
            <a:off x="1325880" y="2738628"/>
            <a:ext cx="767262" cy="219456"/>
          </a:xfrm>
          <a:prstGeom prst="rect">
            <a:avLst/>
          </a:prstGeom>
          <a:noFill/>
        </p:spPr>
        <p:txBody>
          <a:bodyPr wrap="square" lIns="0" tIns="0" rIns="0" bIns="0" anchor="t">
            <a:spAutoFit/>
          </a:bodyPr>
          <a:lstStyle/>
          <a:p>
            <a:pPr algn="l">
              <a:lnSpc>
                <a:spcPts val="1475"/>
              </a:lnSpc>
              <a:spcAft>
                <a:spcPts val="0"/>
              </a:spcAft>
            </a:pPr>
            <a:r>
              <a:rPr sz="1250" b="1" spc="130">
                <a:solidFill>
                  <a:srgbClr val="FFFFFF"/>
                </a:solidFill>
                <a:latin typeface="Arial"/>
              </a:rPr>
              <a:t>TESTED</a:t>
            </a:r>
          </a:p>
        </p:txBody>
      </p:sp>
      <p:sp>
        <p:nvSpPr>
          <p:cNvPr id="9" name="TextBox 8"/>
          <p:cNvSpPr txBox="1"/>
          <p:nvPr/>
        </p:nvSpPr>
        <p:spPr>
          <a:xfrm>
            <a:off x="1133856" y="3236976"/>
            <a:ext cx="3319271" cy="329184"/>
          </a:xfrm>
          <a:prstGeom prst="rect">
            <a:avLst/>
          </a:prstGeom>
          <a:noFill/>
        </p:spPr>
        <p:txBody>
          <a:bodyPr wrap="square" lIns="0" tIns="0" rIns="0" bIns="0" anchor="t">
            <a:spAutoFit/>
          </a:bodyPr>
          <a:lstStyle/>
          <a:p>
            <a:pPr algn="l">
              <a:lnSpc>
                <a:spcPts val="2242"/>
              </a:lnSpc>
              <a:spcAft>
                <a:spcPts val="0"/>
              </a:spcAft>
            </a:pPr>
            <a:r>
              <a:rPr sz="1900" b="1" spc="160">
                <a:solidFill>
                  <a:srgbClr val="1A1F29"/>
                </a:solidFill>
                <a:latin typeface="Arial"/>
              </a:rPr>
              <a:t>CONTEXT</a:t>
            </a:r>
          </a:p>
        </p:txBody>
      </p:sp>
      <p:sp>
        <p:nvSpPr>
          <p:cNvPr id="10" name="TextBox 9"/>
          <p:cNvSpPr txBox="1"/>
          <p:nvPr/>
        </p:nvSpPr>
        <p:spPr>
          <a:xfrm>
            <a:off x="1133856" y="3767328"/>
            <a:ext cx="3319271" cy="1763268"/>
          </a:xfrm>
          <a:prstGeom prst="rect">
            <a:avLst/>
          </a:prstGeom>
          <a:noFill/>
        </p:spPr>
        <p:txBody>
          <a:bodyPr wrap="square" lIns="0" tIns="0" rIns="0" bIns="0" anchor="t">
            <a:spAutoFit/>
          </a:bodyPr>
          <a:lstStyle/>
          <a:p>
            <a:pPr algn="l">
              <a:lnSpc>
                <a:spcPts val="2242"/>
              </a:lnSpc>
              <a:spcAft>
                <a:spcPts val="0"/>
              </a:spcAft>
            </a:pPr>
            <a:r>
              <a:rPr sz="1900" b="0">
                <a:solidFill>
                  <a:srgbClr val="606978"/>
                </a:solidFill>
                <a:latin typeface="Arial"/>
              </a:rPr>
              <a:t>Tickets, the wiki, and the machine-readable definition of your estate: Terraform, Helm, policy and pipeline config, and the application code if it exists yet.</a:t>
            </a:r>
          </a:p>
        </p:txBody>
      </p:sp>
      <p:sp>
        <p:nvSpPr>
          <p:cNvPr id="11" name="Rounded Rectangle 10"/>
          <p:cNvSpPr/>
          <p:nvPr/>
        </p:nvSpPr>
        <p:spPr>
          <a:xfrm>
            <a:off x="5084064" y="2377440"/>
            <a:ext cx="3904487" cy="4992624"/>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12" name="Rounded Rectangle 11"/>
          <p:cNvSpPr/>
          <p:nvPr/>
        </p:nvSpPr>
        <p:spPr>
          <a:xfrm>
            <a:off x="5376672" y="2670048"/>
            <a:ext cx="1114734" cy="320040"/>
          </a:xfrm>
          <a:prstGeom prst="roundRect">
            <a:avLst>
              <a:gd name="adj" fmla="val 50000"/>
            </a:avLst>
          </a:prstGeom>
          <a:solidFill>
            <a:srgbClr val="B14B26"/>
          </a:solidFill>
          <a:ln>
            <a:noFill/>
          </a:ln>
          <a:effectLst/>
        </p:spPr>
        <p:txBody>
          <a:bodyPr wrap="square" rtlCol="0" anchor="ctr"/>
          <a:lstStyle/>
          <a:p>
            <a:pPr algn="ctr"/>
            <a:endParaRPr/>
          </a:p>
        </p:txBody>
      </p:sp>
      <p:sp>
        <p:nvSpPr>
          <p:cNvPr id="13" name="TextBox 12"/>
          <p:cNvSpPr txBox="1"/>
          <p:nvPr/>
        </p:nvSpPr>
        <p:spPr>
          <a:xfrm>
            <a:off x="5568696" y="2738628"/>
            <a:ext cx="767262" cy="219456"/>
          </a:xfrm>
          <a:prstGeom prst="rect">
            <a:avLst/>
          </a:prstGeom>
          <a:noFill/>
        </p:spPr>
        <p:txBody>
          <a:bodyPr wrap="square" lIns="0" tIns="0" rIns="0" bIns="0" anchor="t">
            <a:spAutoFit/>
          </a:bodyPr>
          <a:lstStyle/>
          <a:p>
            <a:pPr algn="l">
              <a:lnSpc>
                <a:spcPts val="1475"/>
              </a:lnSpc>
              <a:spcAft>
                <a:spcPts val="0"/>
              </a:spcAft>
            </a:pPr>
            <a:r>
              <a:rPr sz="1250" b="1" spc="130">
                <a:solidFill>
                  <a:srgbClr val="FFFFFF"/>
                </a:solidFill>
                <a:latin typeface="Arial"/>
              </a:rPr>
              <a:t>TESTED</a:t>
            </a:r>
          </a:p>
        </p:txBody>
      </p:sp>
      <p:sp>
        <p:nvSpPr>
          <p:cNvPr id="14" name="TextBox 13"/>
          <p:cNvSpPr txBox="1"/>
          <p:nvPr/>
        </p:nvSpPr>
        <p:spPr>
          <a:xfrm>
            <a:off x="5376672" y="3236976"/>
            <a:ext cx="3319271" cy="329184"/>
          </a:xfrm>
          <a:prstGeom prst="rect">
            <a:avLst/>
          </a:prstGeom>
          <a:noFill/>
        </p:spPr>
        <p:txBody>
          <a:bodyPr wrap="square" lIns="0" tIns="0" rIns="0" bIns="0" anchor="t">
            <a:spAutoFit/>
          </a:bodyPr>
          <a:lstStyle/>
          <a:p>
            <a:pPr algn="l">
              <a:lnSpc>
                <a:spcPts val="2242"/>
              </a:lnSpc>
              <a:spcAft>
                <a:spcPts val="0"/>
              </a:spcAft>
            </a:pPr>
            <a:r>
              <a:rPr sz="1900" b="1" spc="160">
                <a:solidFill>
                  <a:srgbClr val="1A1F29"/>
                </a:solidFill>
                <a:latin typeface="Arial"/>
              </a:rPr>
              <a:t>METHOD</a:t>
            </a:r>
          </a:p>
        </p:txBody>
      </p:sp>
      <p:sp>
        <p:nvSpPr>
          <p:cNvPr id="15" name="TextBox 14"/>
          <p:cNvSpPr txBox="1"/>
          <p:nvPr/>
        </p:nvSpPr>
        <p:spPr>
          <a:xfrm>
            <a:off x="5376672" y="3767328"/>
            <a:ext cx="3319271" cy="2617470"/>
          </a:xfrm>
          <a:prstGeom prst="rect">
            <a:avLst/>
          </a:prstGeom>
          <a:noFill/>
        </p:spPr>
        <p:txBody>
          <a:bodyPr wrap="square" lIns="0" tIns="0" rIns="0" bIns="0" anchor="t">
            <a:spAutoFit/>
          </a:bodyPr>
          <a:lstStyle/>
          <a:p>
            <a:pPr algn="l">
              <a:lnSpc>
                <a:spcPts val="2242"/>
              </a:lnSpc>
              <a:spcAft>
                <a:spcPts val="0"/>
              </a:spcAft>
            </a:pPr>
            <a:r>
              <a:rPr sz="1900" b="0">
                <a:solidFill>
                  <a:srgbClr val="606978"/>
                </a:solidFill>
                <a:latin typeface="Arial"/>
              </a:rPr>
              <a:t>A chain that builds what it is going to analyse. It asks what is missing, then writes the requirements and the architecture down anyway, flagging each one it had to assume, and only then enumerates threats against them.</a:t>
            </a:r>
          </a:p>
        </p:txBody>
      </p:sp>
      <p:sp>
        <p:nvSpPr>
          <p:cNvPr id="16" name="Rounded Rectangle 15"/>
          <p:cNvSpPr/>
          <p:nvPr/>
        </p:nvSpPr>
        <p:spPr>
          <a:xfrm>
            <a:off x="9336024" y="2377440"/>
            <a:ext cx="3904487" cy="4992624"/>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17" name="Rounded Rectangle 16"/>
          <p:cNvSpPr/>
          <p:nvPr/>
        </p:nvSpPr>
        <p:spPr>
          <a:xfrm>
            <a:off x="9628632" y="2670048"/>
            <a:ext cx="1114734" cy="320040"/>
          </a:xfrm>
          <a:prstGeom prst="roundRect">
            <a:avLst>
              <a:gd name="adj" fmla="val 50000"/>
            </a:avLst>
          </a:prstGeom>
          <a:solidFill>
            <a:srgbClr val="B14B26"/>
          </a:solidFill>
          <a:ln>
            <a:noFill/>
          </a:ln>
          <a:effectLst/>
        </p:spPr>
        <p:txBody>
          <a:bodyPr wrap="square" rtlCol="0" anchor="ctr"/>
          <a:lstStyle/>
          <a:p>
            <a:pPr algn="ctr"/>
            <a:endParaRPr/>
          </a:p>
        </p:txBody>
      </p:sp>
      <p:sp>
        <p:nvSpPr>
          <p:cNvPr id="18" name="TextBox 17"/>
          <p:cNvSpPr txBox="1"/>
          <p:nvPr/>
        </p:nvSpPr>
        <p:spPr>
          <a:xfrm>
            <a:off x="9820656" y="2738628"/>
            <a:ext cx="767262" cy="219456"/>
          </a:xfrm>
          <a:prstGeom prst="rect">
            <a:avLst/>
          </a:prstGeom>
          <a:noFill/>
        </p:spPr>
        <p:txBody>
          <a:bodyPr wrap="square" lIns="0" tIns="0" rIns="0" bIns="0" anchor="t">
            <a:spAutoFit/>
          </a:bodyPr>
          <a:lstStyle/>
          <a:p>
            <a:pPr algn="l">
              <a:lnSpc>
                <a:spcPts val="1475"/>
              </a:lnSpc>
              <a:spcAft>
                <a:spcPts val="0"/>
              </a:spcAft>
            </a:pPr>
            <a:r>
              <a:rPr sz="1250" b="1" spc="130">
                <a:solidFill>
                  <a:srgbClr val="FFFFFF"/>
                </a:solidFill>
                <a:latin typeface="Arial"/>
              </a:rPr>
              <a:t>TESTED</a:t>
            </a:r>
          </a:p>
        </p:txBody>
      </p:sp>
      <p:sp>
        <p:nvSpPr>
          <p:cNvPr id="19" name="TextBox 18"/>
          <p:cNvSpPr txBox="1"/>
          <p:nvPr/>
        </p:nvSpPr>
        <p:spPr>
          <a:xfrm>
            <a:off x="9628632" y="3236976"/>
            <a:ext cx="3319271" cy="329184"/>
          </a:xfrm>
          <a:prstGeom prst="rect">
            <a:avLst/>
          </a:prstGeom>
          <a:noFill/>
        </p:spPr>
        <p:txBody>
          <a:bodyPr wrap="square" lIns="0" tIns="0" rIns="0" bIns="0" anchor="t">
            <a:spAutoFit/>
          </a:bodyPr>
          <a:lstStyle/>
          <a:p>
            <a:pPr algn="l">
              <a:lnSpc>
                <a:spcPts val="2242"/>
              </a:lnSpc>
              <a:spcAft>
                <a:spcPts val="0"/>
              </a:spcAft>
            </a:pPr>
            <a:r>
              <a:rPr sz="1900" b="1" spc="160">
                <a:solidFill>
                  <a:srgbClr val="1A1F29"/>
                </a:solidFill>
                <a:latin typeface="Arial"/>
              </a:rPr>
              <a:t>MODEL</a:t>
            </a:r>
          </a:p>
        </p:txBody>
      </p:sp>
      <p:sp>
        <p:nvSpPr>
          <p:cNvPr id="20" name="TextBox 19"/>
          <p:cNvSpPr txBox="1"/>
          <p:nvPr/>
        </p:nvSpPr>
        <p:spPr>
          <a:xfrm>
            <a:off x="9628632" y="3767328"/>
            <a:ext cx="3319271" cy="1193800"/>
          </a:xfrm>
          <a:prstGeom prst="rect">
            <a:avLst/>
          </a:prstGeom>
          <a:noFill/>
        </p:spPr>
        <p:txBody>
          <a:bodyPr wrap="square" lIns="0" tIns="0" rIns="0" bIns="0" anchor="t">
            <a:spAutoFit/>
          </a:bodyPr>
          <a:lstStyle/>
          <a:p>
            <a:pPr algn="l">
              <a:lnSpc>
                <a:spcPts val="2242"/>
              </a:lnSpc>
              <a:spcAft>
                <a:spcPts val="0"/>
              </a:spcAft>
            </a:pPr>
            <a:r>
              <a:rPr sz="1900" b="0">
                <a:solidFill>
                  <a:srgbClr val="606978"/>
                </a:solidFill>
                <a:latin typeface="Arial"/>
              </a:rPr>
              <a:t>Enough reasoning to hold the system at once. A cheap model keeps the shape and loses the depth, invisibly.</a:t>
            </a:r>
          </a:p>
        </p:txBody>
      </p:sp>
      <p:sp>
        <p:nvSpPr>
          <p:cNvPr id="21" name="Rounded Rectangle 20"/>
          <p:cNvSpPr/>
          <p:nvPr/>
        </p:nvSpPr>
        <p:spPr>
          <a:xfrm>
            <a:off x="13578840" y="2377440"/>
            <a:ext cx="3904487" cy="4992624"/>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22" name="Rounded Rectangle 21"/>
          <p:cNvSpPr/>
          <p:nvPr/>
        </p:nvSpPr>
        <p:spPr>
          <a:xfrm>
            <a:off x="13871448" y="2670048"/>
            <a:ext cx="1400221" cy="320040"/>
          </a:xfrm>
          <a:prstGeom prst="roundRect">
            <a:avLst>
              <a:gd name="adj" fmla="val 50000"/>
            </a:avLst>
          </a:prstGeom>
          <a:solidFill>
            <a:srgbClr val="1A1F29"/>
          </a:solidFill>
          <a:ln>
            <a:noFill/>
          </a:ln>
          <a:effectLst/>
        </p:spPr>
        <p:txBody>
          <a:bodyPr wrap="square" rtlCol="0" anchor="ctr"/>
          <a:lstStyle/>
          <a:p>
            <a:pPr algn="ctr"/>
            <a:endParaRPr/>
          </a:p>
        </p:txBody>
      </p:sp>
      <p:sp>
        <p:nvSpPr>
          <p:cNvPr id="23" name="TextBox 22"/>
          <p:cNvSpPr txBox="1"/>
          <p:nvPr/>
        </p:nvSpPr>
        <p:spPr>
          <a:xfrm>
            <a:off x="14063472" y="2738628"/>
            <a:ext cx="1052749" cy="219456"/>
          </a:xfrm>
          <a:prstGeom prst="rect">
            <a:avLst/>
          </a:prstGeom>
          <a:noFill/>
        </p:spPr>
        <p:txBody>
          <a:bodyPr wrap="square" lIns="0" tIns="0" rIns="0" bIns="0" anchor="t">
            <a:spAutoFit/>
          </a:bodyPr>
          <a:lstStyle/>
          <a:p>
            <a:pPr algn="l">
              <a:lnSpc>
                <a:spcPts val="1475"/>
              </a:lnSpc>
              <a:spcAft>
                <a:spcPts val="0"/>
              </a:spcAft>
            </a:pPr>
            <a:r>
              <a:rPr sz="1250" b="1" spc="130">
                <a:solidFill>
                  <a:srgbClr val="FFFFFF"/>
                </a:solidFill>
                <a:latin typeface="Arial"/>
              </a:rPr>
              <a:t>CONSTANT</a:t>
            </a:r>
          </a:p>
        </p:txBody>
      </p:sp>
      <p:sp>
        <p:nvSpPr>
          <p:cNvPr id="24" name="TextBox 23"/>
          <p:cNvSpPr txBox="1"/>
          <p:nvPr/>
        </p:nvSpPr>
        <p:spPr>
          <a:xfrm>
            <a:off x="13871448" y="3236976"/>
            <a:ext cx="3319271" cy="329184"/>
          </a:xfrm>
          <a:prstGeom prst="rect">
            <a:avLst/>
          </a:prstGeom>
          <a:noFill/>
        </p:spPr>
        <p:txBody>
          <a:bodyPr wrap="square" lIns="0" tIns="0" rIns="0" bIns="0" anchor="t">
            <a:spAutoFit/>
          </a:bodyPr>
          <a:lstStyle/>
          <a:p>
            <a:pPr algn="l">
              <a:lnSpc>
                <a:spcPts val="2242"/>
              </a:lnSpc>
              <a:spcAft>
                <a:spcPts val="0"/>
              </a:spcAft>
            </a:pPr>
            <a:r>
              <a:rPr sz="1900" b="1" spc="160">
                <a:solidFill>
                  <a:srgbClr val="1A1F29"/>
                </a:solidFill>
                <a:latin typeface="Arial"/>
              </a:rPr>
              <a:t>THE ROOM</a:t>
            </a:r>
          </a:p>
        </p:txBody>
      </p:sp>
      <p:sp>
        <p:nvSpPr>
          <p:cNvPr id="25" name="TextBox 24"/>
          <p:cNvSpPr txBox="1"/>
          <p:nvPr/>
        </p:nvSpPr>
        <p:spPr>
          <a:xfrm>
            <a:off x="13871448" y="3767328"/>
            <a:ext cx="3319271" cy="1763268"/>
          </a:xfrm>
          <a:prstGeom prst="rect">
            <a:avLst/>
          </a:prstGeom>
          <a:noFill/>
        </p:spPr>
        <p:txBody>
          <a:bodyPr wrap="square" lIns="0" tIns="0" rIns="0" bIns="0" anchor="t">
            <a:spAutoFit/>
          </a:bodyPr>
          <a:lstStyle/>
          <a:p>
            <a:pPr algn="l">
              <a:lnSpc>
                <a:spcPts val="2242"/>
              </a:lnSpc>
              <a:spcAft>
                <a:spcPts val="0"/>
              </a:spcAft>
            </a:pPr>
            <a:r>
              <a:rPr sz="1900" b="0">
                <a:solidFill>
                  <a:srgbClr val="606978"/>
                </a:solidFill>
                <a:latin typeface="Arial"/>
              </a:rPr>
              <a:t>Seven people, the same seven in every run, so the transcripts stay comparable. The room is not a variable here. It is the thing the other three are measured against.</a:t>
            </a:r>
          </a:p>
        </p:txBody>
      </p:sp>
      <p:sp>
        <p:nvSpPr>
          <p:cNvPr id="26" name="Rectangle 25"/>
          <p:cNvSpPr/>
          <p:nvPr/>
        </p:nvSpPr>
        <p:spPr>
          <a:xfrm>
            <a:off x="841248" y="8540496"/>
            <a:ext cx="54864" cy="369569"/>
          </a:xfrm>
          <a:prstGeom prst="rect">
            <a:avLst/>
          </a:prstGeom>
          <a:solidFill>
            <a:srgbClr val="B14B26"/>
          </a:solidFill>
          <a:ln>
            <a:noFill/>
          </a:ln>
          <a:effectLst/>
        </p:spPr>
        <p:txBody>
          <a:bodyPr wrap="square" rtlCol="0" anchor="ctr"/>
          <a:lstStyle/>
          <a:p>
            <a:pPr algn="ctr"/>
            <a:endParaRPr/>
          </a:p>
        </p:txBody>
      </p:sp>
      <p:sp>
        <p:nvSpPr>
          <p:cNvPr id="27" name="TextBox 26"/>
          <p:cNvSpPr txBox="1"/>
          <p:nvPr/>
        </p:nvSpPr>
        <p:spPr>
          <a:xfrm>
            <a:off x="1115568" y="8540496"/>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A missing ingredient leaves a gap you can see. An inadequate one fills the gap with something the right shape.</a:t>
            </a:r>
          </a:p>
        </p:txBody>
      </p:sp>
      <p:sp>
        <p:nvSpPr>
          <p:cNvPr id="28" name="TextBox 27"/>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03      Security Champion Summit 2026      Brett Crawley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ONE VARIABLE EACH</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Each run restores what the one before it lacked.</a:t>
            </a:r>
          </a:p>
        </p:txBody>
      </p:sp>
      <p:sp>
        <p:nvSpPr>
          <p:cNvPr id="5" name="Rounded Rectangle 4"/>
          <p:cNvSpPr/>
          <p:nvPr/>
        </p:nvSpPr>
        <p:spPr>
          <a:xfrm>
            <a:off x="841248" y="2103120"/>
            <a:ext cx="16605504" cy="512064"/>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3108960" y="2103120"/>
            <a:ext cx="2057400"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CONTEXT</a:t>
            </a:r>
          </a:p>
        </p:txBody>
      </p:sp>
      <p:sp>
        <p:nvSpPr>
          <p:cNvPr id="7" name="TextBox 6"/>
          <p:cNvSpPr txBox="1"/>
          <p:nvPr/>
        </p:nvSpPr>
        <p:spPr>
          <a:xfrm>
            <a:off x="5394960" y="2103120"/>
            <a:ext cx="2560320"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METHOD</a:t>
            </a:r>
          </a:p>
        </p:txBody>
      </p:sp>
      <p:sp>
        <p:nvSpPr>
          <p:cNvPr id="8" name="TextBox 7"/>
          <p:cNvSpPr txBox="1"/>
          <p:nvPr/>
        </p:nvSpPr>
        <p:spPr>
          <a:xfrm>
            <a:off x="8156448" y="2103120"/>
            <a:ext cx="1389888"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MODEL</a:t>
            </a:r>
          </a:p>
        </p:txBody>
      </p:sp>
      <p:sp>
        <p:nvSpPr>
          <p:cNvPr id="9" name="TextBox 8"/>
          <p:cNvSpPr txBox="1"/>
          <p:nvPr/>
        </p:nvSpPr>
        <p:spPr>
          <a:xfrm>
            <a:off x="9774936" y="2103120"/>
            <a:ext cx="1965960"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ENVIRONMENT</a:t>
            </a:r>
          </a:p>
        </p:txBody>
      </p:sp>
      <p:sp>
        <p:nvSpPr>
          <p:cNvPr id="10" name="TextBox 9"/>
          <p:cNvSpPr txBox="1"/>
          <p:nvPr/>
        </p:nvSpPr>
        <p:spPr>
          <a:xfrm>
            <a:off x="11960352" y="2103120"/>
            <a:ext cx="1389888"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FINDINGS</a:t>
            </a:r>
          </a:p>
        </p:txBody>
      </p:sp>
      <p:sp>
        <p:nvSpPr>
          <p:cNvPr id="11" name="TextBox 10"/>
          <p:cNvSpPr txBox="1"/>
          <p:nvPr/>
        </p:nvSpPr>
        <p:spPr>
          <a:xfrm>
            <a:off x="13578840" y="2103120"/>
            <a:ext cx="1581912"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PACK COST</a:t>
            </a:r>
          </a:p>
        </p:txBody>
      </p:sp>
      <p:sp>
        <p:nvSpPr>
          <p:cNvPr id="12" name="TextBox 11"/>
          <p:cNvSpPr txBox="1"/>
          <p:nvPr/>
        </p:nvSpPr>
        <p:spPr>
          <a:xfrm>
            <a:off x="15453359" y="2103120"/>
            <a:ext cx="1920240" cy="512064"/>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RUN</a:t>
            </a:r>
          </a:p>
        </p:txBody>
      </p:sp>
      <p:sp>
        <p:nvSpPr>
          <p:cNvPr id="13" name="TextBox 12"/>
          <p:cNvSpPr txBox="1"/>
          <p:nvPr/>
        </p:nvSpPr>
        <p:spPr>
          <a:xfrm>
            <a:off x="987552" y="2615184"/>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model</a:t>
            </a:r>
          </a:p>
        </p:txBody>
      </p:sp>
      <p:sp>
        <p:nvSpPr>
          <p:cNvPr id="14" name="TextBox 13"/>
          <p:cNvSpPr txBox="1"/>
          <p:nvPr/>
        </p:nvSpPr>
        <p:spPr>
          <a:xfrm>
            <a:off x="3108960" y="2615184"/>
            <a:ext cx="205740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rich</a:t>
            </a:r>
          </a:p>
        </p:txBody>
      </p:sp>
      <p:sp>
        <p:nvSpPr>
          <p:cNvPr id="15" name="TextBox 14"/>
          <p:cNvSpPr txBox="1"/>
          <p:nvPr/>
        </p:nvSpPr>
        <p:spPr>
          <a:xfrm>
            <a:off x="5394960" y="2615184"/>
            <a:ext cx="256032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 chained skills</a:t>
            </a:r>
          </a:p>
        </p:txBody>
      </p:sp>
      <p:sp>
        <p:nvSpPr>
          <p:cNvPr id="16" name="TextBox 15"/>
          <p:cNvSpPr txBox="1"/>
          <p:nvPr/>
        </p:nvSpPr>
        <p:spPr>
          <a:xfrm>
            <a:off x="8156448" y="2615184"/>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cheap tier</a:t>
            </a:r>
          </a:p>
        </p:txBody>
      </p:sp>
      <p:sp>
        <p:nvSpPr>
          <p:cNvPr id="17" name="TextBox 16"/>
          <p:cNvSpPr txBox="1"/>
          <p:nvPr/>
        </p:nvSpPr>
        <p:spPr>
          <a:xfrm>
            <a:off x="9774936" y="2615184"/>
            <a:ext cx="196596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supplied</a:t>
            </a:r>
          </a:p>
        </p:txBody>
      </p:sp>
      <p:sp>
        <p:nvSpPr>
          <p:cNvPr id="18" name="TextBox 17"/>
          <p:cNvSpPr txBox="1"/>
          <p:nvPr/>
        </p:nvSpPr>
        <p:spPr>
          <a:xfrm>
            <a:off x="11960352" y="2615184"/>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13</a:t>
            </a:r>
          </a:p>
        </p:txBody>
      </p:sp>
      <p:sp>
        <p:nvSpPr>
          <p:cNvPr id="19" name="TextBox 18"/>
          <p:cNvSpPr txBox="1"/>
          <p:nvPr/>
        </p:nvSpPr>
        <p:spPr>
          <a:xfrm>
            <a:off x="13578840" y="2615184"/>
            <a:ext cx="158191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$1.33</a:t>
            </a:r>
          </a:p>
        </p:txBody>
      </p:sp>
      <p:sp>
        <p:nvSpPr>
          <p:cNvPr id="20" name="TextBox 19"/>
          <p:cNvSpPr txBox="1"/>
          <p:nvPr/>
        </p:nvSpPr>
        <p:spPr>
          <a:xfrm>
            <a:off x="15453359" y="2615184"/>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run 3</a:t>
            </a:r>
          </a:p>
        </p:txBody>
      </p:sp>
      <p:sp>
        <p:nvSpPr>
          <p:cNvPr id="21" name="Rounded Rectangle 20"/>
          <p:cNvSpPr/>
          <p:nvPr/>
        </p:nvSpPr>
        <p:spPr>
          <a:xfrm>
            <a:off x="841248" y="3150870"/>
            <a:ext cx="16605504" cy="535686"/>
          </a:xfrm>
          <a:prstGeom prst="roundRect">
            <a:avLst/>
          </a:prstGeom>
          <a:solidFill>
            <a:srgbClr val="EDEAE3"/>
          </a:solidFill>
          <a:ln>
            <a:noFill/>
          </a:ln>
          <a:effectLst/>
        </p:spPr>
        <p:txBody>
          <a:bodyPr wrap="square" rtlCol="0" anchor="ctr"/>
          <a:lstStyle/>
          <a:p>
            <a:pPr algn="ctr"/>
            <a:endParaRPr/>
          </a:p>
        </p:txBody>
      </p:sp>
      <p:sp>
        <p:nvSpPr>
          <p:cNvPr id="22" name="TextBox 21"/>
          <p:cNvSpPr txBox="1"/>
          <p:nvPr/>
        </p:nvSpPr>
        <p:spPr>
          <a:xfrm>
            <a:off x="987552" y="3150870"/>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skill</a:t>
            </a:r>
          </a:p>
        </p:txBody>
      </p:sp>
      <p:sp>
        <p:nvSpPr>
          <p:cNvPr id="23" name="TextBox 22"/>
          <p:cNvSpPr txBox="1"/>
          <p:nvPr/>
        </p:nvSpPr>
        <p:spPr>
          <a:xfrm>
            <a:off x="3108960" y="3150870"/>
            <a:ext cx="205740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rich</a:t>
            </a:r>
          </a:p>
        </p:txBody>
      </p:sp>
      <p:sp>
        <p:nvSpPr>
          <p:cNvPr id="24" name="TextBox 23"/>
          <p:cNvSpPr txBox="1"/>
          <p:nvPr/>
        </p:nvSpPr>
        <p:spPr>
          <a:xfrm>
            <a:off x="5394960" y="3150870"/>
            <a:ext cx="256032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pass, 27-line STRIDE</a:t>
            </a:r>
          </a:p>
        </p:txBody>
      </p:sp>
      <p:sp>
        <p:nvSpPr>
          <p:cNvPr id="25" name="TextBox 24"/>
          <p:cNvSpPr txBox="1"/>
          <p:nvPr/>
        </p:nvSpPr>
        <p:spPr>
          <a:xfrm>
            <a:off x="8156448" y="3150870"/>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frontier</a:t>
            </a:r>
          </a:p>
        </p:txBody>
      </p:sp>
      <p:sp>
        <p:nvSpPr>
          <p:cNvPr id="26" name="TextBox 25"/>
          <p:cNvSpPr txBox="1"/>
          <p:nvPr/>
        </p:nvSpPr>
        <p:spPr>
          <a:xfrm>
            <a:off x="9774936" y="3150870"/>
            <a:ext cx="196596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supplied</a:t>
            </a:r>
          </a:p>
        </p:txBody>
      </p:sp>
      <p:sp>
        <p:nvSpPr>
          <p:cNvPr id="27" name="TextBox 26"/>
          <p:cNvSpPr txBox="1"/>
          <p:nvPr/>
        </p:nvSpPr>
        <p:spPr>
          <a:xfrm>
            <a:off x="11960352" y="3150870"/>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35</a:t>
            </a:r>
          </a:p>
        </p:txBody>
      </p:sp>
      <p:sp>
        <p:nvSpPr>
          <p:cNvPr id="28" name="TextBox 27"/>
          <p:cNvSpPr txBox="1"/>
          <p:nvPr/>
        </p:nvSpPr>
        <p:spPr>
          <a:xfrm>
            <a:off x="13578840" y="3150870"/>
            <a:ext cx="158191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$7.37</a:t>
            </a:r>
          </a:p>
        </p:txBody>
      </p:sp>
      <p:sp>
        <p:nvSpPr>
          <p:cNvPr id="29" name="TextBox 28"/>
          <p:cNvSpPr txBox="1"/>
          <p:nvPr/>
        </p:nvSpPr>
        <p:spPr>
          <a:xfrm>
            <a:off x="15453359" y="3150870"/>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run 2</a:t>
            </a:r>
          </a:p>
        </p:txBody>
      </p:sp>
      <p:sp>
        <p:nvSpPr>
          <p:cNvPr id="30" name="TextBox 29"/>
          <p:cNvSpPr txBox="1"/>
          <p:nvPr/>
        </p:nvSpPr>
        <p:spPr>
          <a:xfrm>
            <a:off x="987552" y="3686555"/>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thin</a:t>
            </a:r>
          </a:p>
        </p:txBody>
      </p:sp>
      <p:sp>
        <p:nvSpPr>
          <p:cNvPr id="31" name="TextBox 30"/>
          <p:cNvSpPr txBox="1"/>
          <p:nvPr/>
        </p:nvSpPr>
        <p:spPr>
          <a:xfrm>
            <a:off x="3108960" y="3686555"/>
            <a:ext cx="205740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epic, 1 diagram</a:t>
            </a:r>
          </a:p>
        </p:txBody>
      </p:sp>
      <p:sp>
        <p:nvSpPr>
          <p:cNvPr id="32" name="TextBox 31"/>
          <p:cNvSpPr txBox="1"/>
          <p:nvPr/>
        </p:nvSpPr>
        <p:spPr>
          <a:xfrm>
            <a:off x="5394960" y="3686555"/>
            <a:ext cx="256032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 chained skills</a:t>
            </a:r>
          </a:p>
        </p:txBody>
      </p:sp>
      <p:sp>
        <p:nvSpPr>
          <p:cNvPr id="33" name="TextBox 32"/>
          <p:cNvSpPr txBox="1"/>
          <p:nvPr/>
        </p:nvSpPr>
        <p:spPr>
          <a:xfrm>
            <a:off x="8156448" y="3686555"/>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frontier</a:t>
            </a:r>
          </a:p>
        </p:txBody>
      </p:sp>
      <p:sp>
        <p:nvSpPr>
          <p:cNvPr id="34" name="TextBox 33"/>
          <p:cNvSpPr txBox="1"/>
          <p:nvPr/>
        </p:nvSpPr>
        <p:spPr>
          <a:xfrm>
            <a:off x="9774936" y="3686555"/>
            <a:ext cx="196596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withheld</a:t>
            </a:r>
          </a:p>
        </p:txBody>
      </p:sp>
      <p:sp>
        <p:nvSpPr>
          <p:cNvPr id="35" name="TextBox 34"/>
          <p:cNvSpPr txBox="1"/>
          <p:nvPr/>
        </p:nvSpPr>
        <p:spPr>
          <a:xfrm>
            <a:off x="11960352" y="3686555"/>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74</a:t>
            </a:r>
          </a:p>
        </p:txBody>
      </p:sp>
      <p:sp>
        <p:nvSpPr>
          <p:cNvPr id="36" name="TextBox 35"/>
          <p:cNvSpPr txBox="1"/>
          <p:nvPr/>
        </p:nvSpPr>
        <p:spPr>
          <a:xfrm>
            <a:off x="13578840" y="3686555"/>
            <a:ext cx="158191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$34.00</a:t>
            </a:r>
          </a:p>
        </p:txBody>
      </p:sp>
      <p:sp>
        <p:nvSpPr>
          <p:cNvPr id="37" name="TextBox 36"/>
          <p:cNvSpPr txBox="1"/>
          <p:nvPr/>
        </p:nvSpPr>
        <p:spPr>
          <a:xfrm>
            <a:off x="15453359" y="3686555"/>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run 1</a:t>
            </a:r>
          </a:p>
        </p:txBody>
      </p:sp>
      <p:sp>
        <p:nvSpPr>
          <p:cNvPr id="38" name="Rounded Rectangle 37"/>
          <p:cNvSpPr/>
          <p:nvPr/>
        </p:nvSpPr>
        <p:spPr>
          <a:xfrm>
            <a:off x="841248" y="4222242"/>
            <a:ext cx="16605504" cy="535686"/>
          </a:xfrm>
          <a:prstGeom prst="roundRect">
            <a:avLst/>
          </a:prstGeom>
          <a:solidFill>
            <a:srgbClr val="EDEAE3"/>
          </a:solidFill>
          <a:ln>
            <a:noFill/>
          </a:ln>
          <a:effectLst/>
        </p:spPr>
        <p:txBody>
          <a:bodyPr wrap="square" rtlCol="0" anchor="ctr"/>
          <a:lstStyle/>
          <a:p>
            <a:pPr algn="ctr"/>
            <a:endParaRPr/>
          </a:p>
        </p:txBody>
      </p:sp>
      <p:sp>
        <p:nvSpPr>
          <p:cNvPr id="39" name="TextBox 38"/>
          <p:cNvSpPr txBox="1"/>
          <p:nvPr/>
        </p:nvSpPr>
        <p:spPr>
          <a:xfrm>
            <a:off x="987552" y="4222242"/>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 repo</a:t>
            </a:r>
          </a:p>
        </p:txBody>
      </p:sp>
      <p:sp>
        <p:nvSpPr>
          <p:cNvPr id="40" name="TextBox 39"/>
          <p:cNvSpPr txBox="1"/>
          <p:nvPr/>
        </p:nvSpPr>
        <p:spPr>
          <a:xfrm>
            <a:off x="3108960" y="4222242"/>
            <a:ext cx="205740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tickets, wiki</a:t>
            </a:r>
          </a:p>
        </p:txBody>
      </p:sp>
      <p:sp>
        <p:nvSpPr>
          <p:cNvPr id="41" name="TextBox 40"/>
          <p:cNvSpPr txBox="1"/>
          <p:nvPr/>
        </p:nvSpPr>
        <p:spPr>
          <a:xfrm>
            <a:off x="5394960" y="4222242"/>
            <a:ext cx="256032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 chained skills</a:t>
            </a:r>
          </a:p>
        </p:txBody>
      </p:sp>
      <p:sp>
        <p:nvSpPr>
          <p:cNvPr id="42" name="TextBox 41"/>
          <p:cNvSpPr txBox="1"/>
          <p:nvPr/>
        </p:nvSpPr>
        <p:spPr>
          <a:xfrm>
            <a:off x="8156448" y="4222242"/>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frontier</a:t>
            </a:r>
          </a:p>
        </p:txBody>
      </p:sp>
      <p:sp>
        <p:nvSpPr>
          <p:cNvPr id="43" name="TextBox 42"/>
          <p:cNvSpPr txBox="1"/>
          <p:nvPr/>
        </p:nvSpPr>
        <p:spPr>
          <a:xfrm>
            <a:off x="9774936" y="4222242"/>
            <a:ext cx="196596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withheld</a:t>
            </a:r>
          </a:p>
        </p:txBody>
      </p:sp>
      <p:sp>
        <p:nvSpPr>
          <p:cNvPr id="44" name="TextBox 43"/>
          <p:cNvSpPr txBox="1"/>
          <p:nvPr/>
        </p:nvSpPr>
        <p:spPr>
          <a:xfrm>
            <a:off x="11960352" y="4222242"/>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71</a:t>
            </a:r>
          </a:p>
        </p:txBody>
      </p:sp>
      <p:sp>
        <p:nvSpPr>
          <p:cNvPr id="45" name="TextBox 44"/>
          <p:cNvSpPr txBox="1"/>
          <p:nvPr/>
        </p:nvSpPr>
        <p:spPr>
          <a:xfrm>
            <a:off x="13578840" y="4222242"/>
            <a:ext cx="158191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$30.50</a:t>
            </a:r>
          </a:p>
        </p:txBody>
      </p:sp>
      <p:sp>
        <p:nvSpPr>
          <p:cNvPr id="46" name="TextBox 45"/>
          <p:cNvSpPr txBox="1"/>
          <p:nvPr/>
        </p:nvSpPr>
        <p:spPr>
          <a:xfrm>
            <a:off x="15453359" y="4222242"/>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run 5</a:t>
            </a:r>
          </a:p>
        </p:txBody>
      </p:sp>
      <p:sp>
        <p:nvSpPr>
          <p:cNvPr id="47" name="Rounded Rectangle 46"/>
          <p:cNvSpPr/>
          <p:nvPr/>
        </p:nvSpPr>
        <p:spPr>
          <a:xfrm>
            <a:off x="841248" y="4757928"/>
            <a:ext cx="16605504" cy="535686"/>
          </a:xfrm>
          <a:prstGeom prst="roundRect">
            <a:avLst/>
          </a:prstGeom>
          <a:solidFill>
            <a:srgbClr val="E4E0D7"/>
          </a:solidFill>
          <a:ln>
            <a:noFill/>
          </a:ln>
          <a:effectLst/>
        </p:spPr>
        <p:txBody>
          <a:bodyPr wrap="square" rtlCol="0" anchor="ctr"/>
          <a:lstStyle/>
          <a:p>
            <a:pPr algn="ctr"/>
            <a:endParaRPr/>
          </a:p>
        </p:txBody>
      </p:sp>
      <p:sp>
        <p:nvSpPr>
          <p:cNvPr id="48" name="TextBox 47"/>
          <p:cNvSpPr txBox="1"/>
          <p:nvPr/>
        </p:nvSpPr>
        <p:spPr>
          <a:xfrm>
            <a:off x="987552" y="4757928"/>
            <a:ext cx="1920240" cy="535686"/>
          </a:xfrm>
          <a:prstGeom prst="rect">
            <a:avLst/>
          </a:prstGeom>
          <a:noFill/>
        </p:spPr>
        <p:txBody>
          <a:bodyPr wrap="square" lIns="0" tIns="0" rIns="0" bIns="0" anchor="ctr">
            <a:spAutoFit/>
          </a:bodyPr>
          <a:lstStyle/>
          <a:p>
            <a:pPr algn="l">
              <a:lnSpc>
                <a:spcPts val="1770"/>
              </a:lnSpc>
              <a:spcAft>
                <a:spcPts val="0"/>
              </a:spcAft>
            </a:pPr>
            <a:r>
              <a:rPr sz="1500" b="1">
                <a:solidFill>
                  <a:srgbClr val="1A1F29"/>
                </a:solidFill>
                <a:latin typeface="Arial"/>
              </a:rPr>
              <a:t>everything</a:t>
            </a:r>
          </a:p>
        </p:txBody>
      </p:sp>
      <p:sp>
        <p:nvSpPr>
          <p:cNvPr id="49" name="TextBox 48"/>
          <p:cNvSpPr txBox="1"/>
          <p:nvPr/>
        </p:nvSpPr>
        <p:spPr>
          <a:xfrm>
            <a:off x="3108960" y="4757928"/>
            <a:ext cx="205740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rich</a:t>
            </a:r>
          </a:p>
        </p:txBody>
      </p:sp>
      <p:sp>
        <p:nvSpPr>
          <p:cNvPr id="50" name="TextBox 49"/>
          <p:cNvSpPr txBox="1"/>
          <p:nvPr/>
        </p:nvSpPr>
        <p:spPr>
          <a:xfrm>
            <a:off x="5394960" y="4757928"/>
            <a:ext cx="256032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 chained skills</a:t>
            </a:r>
          </a:p>
        </p:txBody>
      </p:sp>
      <p:sp>
        <p:nvSpPr>
          <p:cNvPr id="51" name="TextBox 50"/>
          <p:cNvSpPr txBox="1"/>
          <p:nvPr/>
        </p:nvSpPr>
        <p:spPr>
          <a:xfrm>
            <a:off x="8156448" y="4757928"/>
            <a:ext cx="138988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frontier</a:t>
            </a:r>
          </a:p>
        </p:txBody>
      </p:sp>
      <p:sp>
        <p:nvSpPr>
          <p:cNvPr id="52" name="TextBox 51"/>
          <p:cNvSpPr txBox="1"/>
          <p:nvPr/>
        </p:nvSpPr>
        <p:spPr>
          <a:xfrm>
            <a:off x="9774936" y="4757928"/>
            <a:ext cx="196596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supplied</a:t>
            </a:r>
          </a:p>
        </p:txBody>
      </p:sp>
      <p:sp>
        <p:nvSpPr>
          <p:cNvPr id="53" name="Rounded Rectangle 52"/>
          <p:cNvSpPr/>
          <p:nvPr/>
        </p:nvSpPr>
        <p:spPr>
          <a:xfrm>
            <a:off x="11868912" y="4870323"/>
            <a:ext cx="676548"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54" name="TextBox 53"/>
          <p:cNvSpPr txBox="1"/>
          <p:nvPr/>
        </p:nvSpPr>
        <p:spPr>
          <a:xfrm>
            <a:off x="11960352" y="4757928"/>
            <a:ext cx="1389888" cy="535686"/>
          </a:xfrm>
          <a:prstGeom prst="rect">
            <a:avLst/>
          </a:prstGeom>
          <a:noFill/>
        </p:spPr>
        <p:txBody>
          <a:bodyPr wrap="square" lIns="0" tIns="0" rIns="0" bIns="0" anchor="ctr">
            <a:spAutoFit/>
          </a:bodyPr>
          <a:lstStyle/>
          <a:p>
            <a:pPr algn="l">
              <a:lnSpc>
                <a:spcPts val="1770"/>
              </a:lnSpc>
              <a:spcAft>
                <a:spcPts val="0"/>
              </a:spcAft>
            </a:pPr>
            <a:r>
              <a:rPr sz="1500" b="1">
                <a:solidFill>
                  <a:srgbClr val="FFFFFF"/>
                </a:solidFill>
                <a:latin typeface="Arial"/>
              </a:rPr>
              <a:t>75</a:t>
            </a:r>
          </a:p>
        </p:txBody>
      </p:sp>
      <p:sp>
        <p:nvSpPr>
          <p:cNvPr id="55" name="TextBox 54"/>
          <p:cNvSpPr txBox="1"/>
          <p:nvPr/>
        </p:nvSpPr>
        <p:spPr>
          <a:xfrm>
            <a:off x="13578840" y="4757928"/>
            <a:ext cx="158191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$46.78</a:t>
            </a:r>
          </a:p>
        </p:txBody>
      </p:sp>
      <p:sp>
        <p:nvSpPr>
          <p:cNvPr id="56" name="TextBox 55"/>
          <p:cNvSpPr txBox="1"/>
          <p:nvPr/>
        </p:nvSpPr>
        <p:spPr>
          <a:xfrm>
            <a:off x="15453359" y="4757928"/>
            <a:ext cx="1920240"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run 4</a:t>
            </a:r>
          </a:p>
        </p:txBody>
      </p:sp>
      <p:sp>
        <p:nvSpPr>
          <p:cNvPr id="57" name="TextBox 56"/>
          <p:cNvSpPr txBox="1"/>
          <p:nvPr/>
        </p:nvSpPr>
        <p:spPr>
          <a:xfrm>
            <a:off x="841248" y="5513070"/>
            <a:ext cx="16605504" cy="738632"/>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Environment is the machine-readable definition of the estate, not only application code. Three of the five had it. The last column is the run number in the harness, for anyone reading the reports afterwards.</a:t>
            </a:r>
          </a:p>
          <a:p>
            <a:pPr algn="l">
              <a:lnSpc>
                <a:spcPts val="1652"/>
              </a:lnSpc>
              <a:spcBef>
                <a:spcPts val="500"/>
              </a:spcBef>
              <a:spcAft>
                <a:spcPts val="0"/>
              </a:spcAft>
            </a:pPr>
            <a:r>
              <a:rPr sz="1400" b="0">
                <a:solidFill>
                  <a:srgbClr val="606978"/>
                </a:solidFill>
                <a:latin typeface="Arial"/>
              </a:rPr>
              <a:t>Costs are the automation only: two costed model passes per cell, three for the directed run. A further pass per cell generates the session transcript. It cost $24.48 across the batch and is excluded, because it stands in for people rather than being part of the automation.</a:t>
            </a:r>
          </a:p>
        </p:txBody>
      </p:sp>
      <p:sp>
        <p:nvSpPr>
          <p:cNvPr id="58" name="Rectangle 57"/>
          <p:cNvSpPr/>
          <p:nvPr/>
        </p:nvSpPr>
        <p:spPr>
          <a:xfrm>
            <a:off x="841248" y="7806182"/>
            <a:ext cx="54864" cy="369569"/>
          </a:xfrm>
          <a:prstGeom prst="rect">
            <a:avLst/>
          </a:prstGeom>
          <a:solidFill>
            <a:srgbClr val="B14B26"/>
          </a:solidFill>
          <a:ln>
            <a:noFill/>
          </a:ln>
          <a:effectLst/>
        </p:spPr>
        <p:txBody>
          <a:bodyPr wrap="square" rtlCol="0" anchor="ctr"/>
          <a:lstStyle/>
          <a:p>
            <a:pPr algn="ctr"/>
            <a:endParaRPr/>
          </a:p>
        </p:txBody>
      </p:sp>
      <p:sp>
        <p:nvSpPr>
          <p:cNvPr id="59" name="TextBox 58"/>
          <p:cNvSpPr txBox="1"/>
          <p:nvPr/>
        </p:nvSpPr>
        <p:spPr>
          <a:xfrm>
            <a:off x="1115568" y="7806182"/>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These are the automation only. The room's time is not priced anywhere in this work, and it is the larger number by far.</a:t>
            </a:r>
          </a:p>
        </p:txBody>
      </p:sp>
      <p:sp>
        <p:nvSpPr>
          <p:cNvPr id="60" name="TextBox 59"/>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04      Security Champion Summit 2026      Brett Crawley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STAGES OF THE THREE SKILL</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The eleven steps, and where each one lands.</a:t>
            </a:r>
          </a:p>
        </p:txBody>
      </p:sp>
      <p:sp>
        <p:nvSpPr>
          <p:cNvPr id="5" name="Rounded Rectangle 4"/>
          <p:cNvSpPr/>
          <p:nvPr/>
        </p:nvSpPr>
        <p:spPr>
          <a:xfrm>
            <a:off x="841248" y="2103120"/>
            <a:ext cx="16605504" cy="402336"/>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987552" y="2103120"/>
            <a:ext cx="731520" cy="402336"/>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a:t>
            </a:r>
          </a:p>
        </p:txBody>
      </p:sp>
      <p:sp>
        <p:nvSpPr>
          <p:cNvPr id="7" name="TextBox 6"/>
          <p:cNvSpPr txBox="1"/>
          <p:nvPr/>
        </p:nvSpPr>
        <p:spPr>
          <a:xfrm>
            <a:off x="1920240" y="2103120"/>
            <a:ext cx="10424160" cy="402336"/>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STEP</a:t>
            </a:r>
          </a:p>
        </p:txBody>
      </p:sp>
      <p:sp>
        <p:nvSpPr>
          <p:cNvPr id="8" name="TextBox 7"/>
          <p:cNvSpPr txBox="1"/>
          <p:nvPr/>
        </p:nvSpPr>
        <p:spPr>
          <a:xfrm>
            <a:off x="12618720" y="2103120"/>
            <a:ext cx="4754880" cy="402336"/>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LANDS IN</a:t>
            </a:r>
          </a:p>
        </p:txBody>
      </p:sp>
      <p:sp>
        <p:nvSpPr>
          <p:cNvPr id="9" name="TextBox 8"/>
          <p:cNvSpPr txBox="1"/>
          <p:nvPr/>
        </p:nvSpPr>
        <p:spPr>
          <a:xfrm>
            <a:off x="987552" y="2505456"/>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1</a:t>
            </a:r>
          </a:p>
        </p:txBody>
      </p:sp>
      <p:sp>
        <p:nvSpPr>
          <p:cNvPr id="10" name="TextBox 9"/>
          <p:cNvSpPr txBox="1"/>
          <p:nvPr/>
        </p:nvSpPr>
        <p:spPr>
          <a:xfrm>
            <a:off x="1920240" y="2505456"/>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Context, sources, open questions</a:t>
            </a:r>
          </a:p>
        </p:txBody>
      </p:sp>
      <p:sp>
        <p:nvSpPr>
          <p:cNvPr id="11" name="TextBox 10"/>
          <p:cNvSpPr txBox="1"/>
          <p:nvPr/>
        </p:nvSpPr>
        <p:spPr>
          <a:xfrm>
            <a:off x="12618720" y="2505456"/>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00-context-…</a:t>
            </a:r>
          </a:p>
        </p:txBody>
      </p:sp>
      <p:sp>
        <p:nvSpPr>
          <p:cNvPr id="12" name="Rounded Rectangle 11"/>
          <p:cNvSpPr/>
          <p:nvPr/>
        </p:nvSpPr>
        <p:spPr>
          <a:xfrm>
            <a:off x="841248" y="2907791"/>
            <a:ext cx="16605504" cy="402336"/>
          </a:xfrm>
          <a:prstGeom prst="roundRect">
            <a:avLst/>
          </a:prstGeom>
          <a:solidFill>
            <a:srgbClr val="EDEAE3"/>
          </a:solidFill>
          <a:ln>
            <a:noFill/>
          </a:ln>
          <a:effectLst/>
        </p:spPr>
        <p:txBody>
          <a:bodyPr wrap="square" rtlCol="0" anchor="ctr"/>
          <a:lstStyle/>
          <a:p>
            <a:pPr algn="ctr"/>
            <a:endParaRPr/>
          </a:p>
        </p:txBody>
      </p:sp>
      <p:sp>
        <p:nvSpPr>
          <p:cNvPr id="13" name="TextBox 12"/>
          <p:cNvSpPr txBox="1"/>
          <p:nvPr/>
        </p:nvSpPr>
        <p:spPr>
          <a:xfrm>
            <a:off x="987552" y="2907791"/>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2</a:t>
            </a:r>
          </a:p>
        </p:txBody>
      </p:sp>
      <p:sp>
        <p:nvSpPr>
          <p:cNvPr id="14" name="TextBox 13"/>
          <p:cNvSpPr txBox="1"/>
          <p:nvPr/>
        </p:nvSpPr>
        <p:spPr>
          <a:xfrm>
            <a:off x="1920240" y="2907791"/>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Use cases</a:t>
            </a:r>
          </a:p>
        </p:txBody>
      </p:sp>
      <p:sp>
        <p:nvSpPr>
          <p:cNvPr id="15" name="TextBox 14"/>
          <p:cNvSpPr txBox="1"/>
          <p:nvPr/>
        </p:nvSpPr>
        <p:spPr>
          <a:xfrm>
            <a:off x="12618720" y="2907791"/>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02-use-abuse-…  §2</a:t>
            </a:r>
          </a:p>
        </p:txBody>
      </p:sp>
      <p:sp>
        <p:nvSpPr>
          <p:cNvPr id="16" name="Rounded Rectangle 15"/>
          <p:cNvSpPr/>
          <p:nvPr/>
        </p:nvSpPr>
        <p:spPr>
          <a:xfrm>
            <a:off x="841248" y="3310127"/>
            <a:ext cx="16605504" cy="402336"/>
          </a:xfrm>
          <a:prstGeom prst="roundRect">
            <a:avLst/>
          </a:prstGeom>
          <a:solidFill>
            <a:srgbClr val="E4E0D7"/>
          </a:solidFill>
          <a:ln>
            <a:noFill/>
          </a:ln>
          <a:effectLst/>
        </p:spPr>
        <p:txBody>
          <a:bodyPr wrap="square" rtlCol="0" anchor="ctr"/>
          <a:lstStyle/>
          <a:p>
            <a:pPr algn="ctr"/>
            <a:endParaRPr/>
          </a:p>
        </p:txBody>
      </p:sp>
      <p:sp>
        <p:nvSpPr>
          <p:cNvPr id="17" name="TextBox 16"/>
          <p:cNvSpPr txBox="1"/>
          <p:nvPr/>
        </p:nvSpPr>
        <p:spPr>
          <a:xfrm>
            <a:off x="987552" y="3310127"/>
            <a:ext cx="731520" cy="402336"/>
          </a:xfrm>
          <a:prstGeom prst="rect">
            <a:avLst/>
          </a:prstGeom>
          <a:noFill/>
        </p:spPr>
        <p:txBody>
          <a:bodyPr wrap="square" lIns="0" tIns="0" rIns="0" bIns="0" anchor="ctr">
            <a:spAutoFit/>
          </a:bodyPr>
          <a:lstStyle/>
          <a:p>
            <a:pPr algn="l">
              <a:lnSpc>
                <a:spcPts val="1711"/>
              </a:lnSpc>
              <a:spcAft>
                <a:spcPts val="0"/>
              </a:spcAft>
            </a:pPr>
            <a:r>
              <a:rPr sz="1450" b="1">
                <a:solidFill>
                  <a:srgbClr val="1A1F29"/>
                </a:solidFill>
                <a:latin typeface="Arial"/>
              </a:rPr>
              <a:t>3</a:t>
            </a:r>
          </a:p>
        </p:txBody>
      </p:sp>
      <p:sp>
        <p:nvSpPr>
          <p:cNvPr id="18" name="TextBox 17"/>
          <p:cNvSpPr txBox="1"/>
          <p:nvPr/>
        </p:nvSpPr>
        <p:spPr>
          <a:xfrm>
            <a:off x="1920240" y="3310127"/>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Architecture map — descriptive: components, trust boundaries, data flows, doc-vs-code drift</a:t>
            </a:r>
          </a:p>
        </p:txBody>
      </p:sp>
      <p:sp>
        <p:nvSpPr>
          <p:cNvPr id="19" name="TextBox 18"/>
          <p:cNvSpPr txBox="1"/>
          <p:nvPr/>
        </p:nvSpPr>
        <p:spPr>
          <a:xfrm>
            <a:off x="12618720" y="3310127"/>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03-security-architecture</a:t>
            </a:r>
          </a:p>
        </p:txBody>
      </p:sp>
      <p:sp>
        <p:nvSpPr>
          <p:cNvPr id="20" name="Rounded Rectangle 19"/>
          <p:cNvSpPr/>
          <p:nvPr/>
        </p:nvSpPr>
        <p:spPr>
          <a:xfrm>
            <a:off x="841248" y="3712463"/>
            <a:ext cx="16605504" cy="402336"/>
          </a:xfrm>
          <a:prstGeom prst="roundRect">
            <a:avLst/>
          </a:prstGeom>
          <a:solidFill>
            <a:srgbClr val="EDEAE3"/>
          </a:solidFill>
          <a:ln>
            <a:noFill/>
          </a:ln>
          <a:effectLst/>
        </p:spPr>
        <p:txBody>
          <a:bodyPr wrap="square" rtlCol="0" anchor="ctr"/>
          <a:lstStyle/>
          <a:p>
            <a:pPr algn="ctr"/>
            <a:endParaRPr/>
          </a:p>
        </p:txBody>
      </p:sp>
      <p:sp>
        <p:nvSpPr>
          <p:cNvPr id="21" name="TextBox 20"/>
          <p:cNvSpPr txBox="1"/>
          <p:nvPr/>
        </p:nvSpPr>
        <p:spPr>
          <a:xfrm>
            <a:off x="987552" y="3712463"/>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4</a:t>
            </a:r>
          </a:p>
        </p:txBody>
      </p:sp>
      <p:sp>
        <p:nvSpPr>
          <p:cNvPr id="22" name="TextBox 21"/>
          <p:cNvSpPr txBox="1"/>
          <p:nvPr/>
        </p:nvSpPr>
        <p:spPr>
          <a:xfrm>
            <a:off x="1920240" y="3712463"/>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Security and privacy abuse cases</a:t>
            </a:r>
          </a:p>
        </p:txBody>
      </p:sp>
      <p:sp>
        <p:nvSpPr>
          <p:cNvPr id="23" name="TextBox 22"/>
          <p:cNvSpPr txBox="1"/>
          <p:nvPr/>
        </p:nvSpPr>
        <p:spPr>
          <a:xfrm>
            <a:off x="12618720" y="3712463"/>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02-use-abuse-…  §3–4</a:t>
            </a:r>
          </a:p>
        </p:txBody>
      </p:sp>
      <p:sp>
        <p:nvSpPr>
          <p:cNvPr id="24" name="Rounded Rectangle 23"/>
          <p:cNvSpPr/>
          <p:nvPr/>
        </p:nvSpPr>
        <p:spPr>
          <a:xfrm>
            <a:off x="841248" y="4114800"/>
            <a:ext cx="16605504" cy="402336"/>
          </a:xfrm>
          <a:prstGeom prst="roundRect">
            <a:avLst/>
          </a:prstGeom>
          <a:solidFill>
            <a:srgbClr val="E4E0D7"/>
          </a:solidFill>
          <a:ln>
            <a:noFill/>
          </a:ln>
          <a:effectLst/>
        </p:spPr>
        <p:txBody>
          <a:bodyPr wrap="square" rtlCol="0" anchor="ctr"/>
          <a:lstStyle/>
          <a:p>
            <a:pPr algn="ctr"/>
            <a:endParaRPr/>
          </a:p>
        </p:txBody>
      </p:sp>
      <p:sp>
        <p:nvSpPr>
          <p:cNvPr id="25" name="TextBox 24"/>
          <p:cNvSpPr txBox="1"/>
          <p:nvPr/>
        </p:nvSpPr>
        <p:spPr>
          <a:xfrm>
            <a:off x="987552" y="4114800"/>
            <a:ext cx="731520" cy="402336"/>
          </a:xfrm>
          <a:prstGeom prst="rect">
            <a:avLst/>
          </a:prstGeom>
          <a:noFill/>
        </p:spPr>
        <p:txBody>
          <a:bodyPr wrap="square" lIns="0" tIns="0" rIns="0" bIns="0" anchor="ctr">
            <a:spAutoFit/>
          </a:bodyPr>
          <a:lstStyle/>
          <a:p>
            <a:pPr algn="l">
              <a:lnSpc>
                <a:spcPts val="1711"/>
              </a:lnSpc>
              <a:spcAft>
                <a:spcPts val="0"/>
              </a:spcAft>
            </a:pPr>
            <a:r>
              <a:rPr sz="1450" b="1">
                <a:solidFill>
                  <a:srgbClr val="1A1F29"/>
                </a:solidFill>
                <a:latin typeface="Arial"/>
              </a:rPr>
              <a:t>5</a:t>
            </a:r>
          </a:p>
        </p:txBody>
      </p:sp>
      <p:sp>
        <p:nvSpPr>
          <p:cNvPr id="26" name="TextBox 25"/>
          <p:cNvSpPr txBox="1"/>
          <p:nvPr/>
        </p:nvSpPr>
        <p:spPr>
          <a:xfrm>
            <a:off x="1920240" y="4114800"/>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Threat model — phase 1 candidate register, then phase 2 write-up</a:t>
            </a:r>
          </a:p>
        </p:txBody>
      </p:sp>
      <p:sp>
        <p:nvSpPr>
          <p:cNvPr id="27" name="TextBox 26"/>
          <p:cNvSpPr txBox="1"/>
          <p:nvPr/>
        </p:nvSpPr>
        <p:spPr>
          <a:xfrm>
            <a:off x="12618720" y="4114800"/>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06-…-candidates, then 06-threat-model</a:t>
            </a:r>
          </a:p>
        </p:txBody>
      </p:sp>
      <p:sp>
        <p:nvSpPr>
          <p:cNvPr id="28" name="Rounded Rectangle 27"/>
          <p:cNvSpPr/>
          <p:nvPr/>
        </p:nvSpPr>
        <p:spPr>
          <a:xfrm>
            <a:off x="841248" y="4517136"/>
            <a:ext cx="16605504" cy="402336"/>
          </a:xfrm>
          <a:prstGeom prst="roundRect">
            <a:avLst/>
          </a:prstGeom>
          <a:solidFill>
            <a:srgbClr val="EDEAE3"/>
          </a:solidFill>
          <a:ln>
            <a:noFill/>
          </a:ln>
          <a:effectLst/>
        </p:spPr>
        <p:txBody>
          <a:bodyPr wrap="square" rtlCol="0" anchor="ctr"/>
          <a:lstStyle/>
          <a:p>
            <a:pPr algn="ctr"/>
            <a:endParaRPr/>
          </a:p>
        </p:txBody>
      </p:sp>
      <p:sp>
        <p:nvSpPr>
          <p:cNvPr id="29" name="TextBox 28"/>
          <p:cNvSpPr txBox="1"/>
          <p:nvPr/>
        </p:nvSpPr>
        <p:spPr>
          <a:xfrm>
            <a:off x="987552" y="4517136"/>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6</a:t>
            </a:r>
          </a:p>
        </p:txBody>
      </p:sp>
      <p:sp>
        <p:nvSpPr>
          <p:cNvPr id="30" name="TextBox 29"/>
          <p:cNvSpPr txBox="1"/>
          <p:nvPr/>
        </p:nvSpPr>
        <p:spPr>
          <a:xfrm>
            <a:off x="1920240" y="4517136"/>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Counter-use cases (SUC, PUC)</a:t>
            </a:r>
          </a:p>
        </p:txBody>
      </p:sp>
      <p:sp>
        <p:nvSpPr>
          <p:cNvPr id="31" name="TextBox 30"/>
          <p:cNvSpPr txBox="1"/>
          <p:nvPr/>
        </p:nvSpPr>
        <p:spPr>
          <a:xfrm>
            <a:off x="12618720" y="4517136"/>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02-use-abuse-…  §5–6</a:t>
            </a:r>
          </a:p>
        </p:txBody>
      </p:sp>
      <p:sp>
        <p:nvSpPr>
          <p:cNvPr id="32" name="TextBox 31"/>
          <p:cNvSpPr txBox="1"/>
          <p:nvPr/>
        </p:nvSpPr>
        <p:spPr>
          <a:xfrm>
            <a:off x="987552" y="4919472"/>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7</a:t>
            </a:r>
          </a:p>
        </p:txBody>
      </p:sp>
      <p:sp>
        <p:nvSpPr>
          <p:cNvPr id="33" name="TextBox 32"/>
          <p:cNvSpPr txBox="1"/>
          <p:nvPr/>
        </p:nvSpPr>
        <p:spPr>
          <a:xfrm>
            <a:off x="1920240" y="4919472"/>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Gap analysis</a:t>
            </a:r>
          </a:p>
        </p:txBody>
      </p:sp>
      <p:sp>
        <p:nvSpPr>
          <p:cNvPr id="34" name="TextBox 33"/>
          <p:cNvSpPr txBox="1"/>
          <p:nvPr/>
        </p:nvSpPr>
        <p:spPr>
          <a:xfrm>
            <a:off x="12618720" y="4919472"/>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04-gap-analysis</a:t>
            </a:r>
          </a:p>
        </p:txBody>
      </p:sp>
      <p:sp>
        <p:nvSpPr>
          <p:cNvPr id="35" name="Rounded Rectangle 34"/>
          <p:cNvSpPr/>
          <p:nvPr/>
        </p:nvSpPr>
        <p:spPr>
          <a:xfrm>
            <a:off x="841248" y="5321808"/>
            <a:ext cx="16605504" cy="402336"/>
          </a:xfrm>
          <a:prstGeom prst="roundRect">
            <a:avLst/>
          </a:prstGeom>
          <a:solidFill>
            <a:srgbClr val="E4E0D7"/>
          </a:solidFill>
          <a:ln>
            <a:noFill/>
          </a:ln>
          <a:effectLst/>
        </p:spPr>
        <p:txBody>
          <a:bodyPr wrap="square" rtlCol="0" anchor="ctr"/>
          <a:lstStyle/>
          <a:p>
            <a:pPr algn="ctr"/>
            <a:endParaRPr/>
          </a:p>
        </p:txBody>
      </p:sp>
      <p:sp>
        <p:nvSpPr>
          <p:cNvPr id="36" name="TextBox 35"/>
          <p:cNvSpPr txBox="1"/>
          <p:nvPr/>
        </p:nvSpPr>
        <p:spPr>
          <a:xfrm>
            <a:off x="987552" y="5321808"/>
            <a:ext cx="731520" cy="402336"/>
          </a:xfrm>
          <a:prstGeom prst="rect">
            <a:avLst/>
          </a:prstGeom>
          <a:noFill/>
        </p:spPr>
        <p:txBody>
          <a:bodyPr wrap="square" lIns="0" tIns="0" rIns="0" bIns="0" anchor="ctr">
            <a:spAutoFit/>
          </a:bodyPr>
          <a:lstStyle/>
          <a:p>
            <a:pPr algn="l">
              <a:lnSpc>
                <a:spcPts val="1711"/>
              </a:lnSpc>
              <a:spcAft>
                <a:spcPts val="0"/>
              </a:spcAft>
            </a:pPr>
            <a:r>
              <a:rPr sz="1450" b="1">
                <a:solidFill>
                  <a:srgbClr val="1A1F29"/>
                </a:solidFill>
                <a:latin typeface="Arial"/>
              </a:rPr>
              <a:t>8</a:t>
            </a:r>
          </a:p>
        </p:txBody>
      </p:sp>
      <p:sp>
        <p:nvSpPr>
          <p:cNvPr id="37" name="TextBox 36"/>
          <p:cNvSpPr txBox="1"/>
          <p:nvPr/>
        </p:nvSpPr>
        <p:spPr>
          <a:xfrm>
            <a:off x="1920240" y="5321808"/>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Architecture evaluation — target design, now that threats are known</a:t>
            </a:r>
          </a:p>
        </p:txBody>
      </p:sp>
      <p:sp>
        <p:nvSpPr>
          <p:cNvPr id="38" name="TextBox 37"/>
          <p:cNvSpPr txBox="1"/>
          <p:nvPr/>
        </p:nvSpPr>
        <p:spPr>
          <a:xfrm>
            <a:off x="12618720" y="5321808"/>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03-security-architecture, second pass</a:t>
            </a:r>
          </a:p>
        </p:txBody>
      </p:sp>
      <p:sp>
        <p:nvSpPr>
          <p:cNvPr id="39" name="TextBox 38"/>
          <p:cNvSpPr txBox="1"/>
          <p:nvPr/>
        </p:nvSpPr>
        <p:spPr>
          <a:xfrm>
            <a:off x="987552" y="5724144"/>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9</a:t>
            </a:r>
          </a:p>
        </p:txBody>
      </p:sp>
      <p:sp>
        <p:nvSpPr>
          <p:cNvPr id="40" name="TextBox 39"/>
          <p:cNvSpPr txBox="1"/>
          <p:nvPr/>
        </p:nvSpPr>
        <p:spPr>
          <a:xfrm>
            <a:off x="1920240" y="5724144"/>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SRTM</a:t>
            </a:r>
          </a:p>
        </p:txBody>
      </p:sp>
      <p:sp>
        <p:nvSpPr>
          <p:cNvPr id="41" name="TextBox 40"/>
          <p:cNvSpPr txBox="1"/>
          <p:nvPr/>
        </p:nvSpPr>
        <p:spPr>
          <a:xfrm>
            <a:off x="12618720" y="5724144"/>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05-srtm-and-test-artefacts</a:t>
            </a:r>
          </a:p>
        </p:txBody>
      </p:sp>
      <p:sp>
        <p:nvSpPr>
          <p:cNvPr id="42" name="Rounded Rectangle 41"/>
          <p:cNvSpPr/>
          <p:nvPr/>
        </p:nvSpPr>
        <p:spPr>
          <a:xfrm>
            <a:off x="841248" y="6126480"/>
            <a:ext cx="16605504" cy="402336"/>
          </a:xfrm>
          <a:prstGeom prst="roundRect">
            <a:avLst/>
          </a:prstGeom>
          <a:solidFill>
            <a:srgbClr val="EDEAE3"/>
          </a:solidFill>
          <a:ln>
            <a:noFill/>
          </a:ln>
          <a:effectLst/>
        </p:spPr>
        <p:txBody>
          <a:bodyPr wrap="square" rtlCol="0" anchor="ctr"/>
          <a:lstStyle/>
          <a:p>
            <a:pPr algn="ctr"/>
            <a:endParaRPr/>
          </a:p>
        </p:txBody>
      </p:sp>
      <p:sp>
        <p:nvSpPr>
          <p:cNvPr id="43" name="TextBox 42"/>
          <p:cNvSpPr txBox="1"/>
          <p:nvPr/>
        </p:nvSpPr>
        <p:spPr>
          <a:xfrm>
            <a:off x="987552" y="6126480"/>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10</a:t>
            </a:r>
          </a:p>
        </p:txBody>
      </p:sp>
      <p:sp>
        <p:nvSpPr>
          <p:cNvPr id="44" name="TextBox 43"/>
          <p:cNvSpPr txBox="1"/>
          <p:nvPr/>
        </p:nvSpPr>
        <p:spPr>
          <a:xfrm>
            <a:off x="1920240" y="6126480"/>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Test artefacts</a:t>
            </a:r>
          </a:p>
        </p:txBody>
      </p:sp>
      <p:sp>
        <p:nvSpPr>
          <p:cNvPr id="45" name="TextBox 44"/>
          <p:cNvSpPr txBox="1"/>
          <p:nvPr/>
        </p:nvSpPr>
        <p:spPr>
          <a:xfrm>
            <a:off x="12618720" y="6126480"/>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05-…</a:t>
            </a:r>
          </a:p>
        </p:txBody>
      </p:sp>
      <p:sp>
        <p:nvSpPr>
          <p:cNvPr id="46" name="TextBox 45"/>
          <p:cNvSpPr txBox="1"/>
          <p:nvPr/>
        </p:nvSpPr>
        <p:spPr>
          <a:xfrm>
            <a:off x="987552" y="6528816"/>
            <a:ext cx="73152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11</a:t>
            </a:r>
          </a:p>
        </p:txBody>
      </p:sp>
      <p:sp>
        <p:nvSpPr>
          <p:cNvPr id="47" name="TextBox 46"/>
          <p:cNvSpPr txBox="1"/>
          <p:nvPr/>
        </p:nvSpPr>
        <p:spPr>
          <a:xfrm>
            <a:off x="1920240" y="6528816"/>
            <a:ext cx="1042416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Security review / executive verdict</a:t>
            </a:r>
          </a:p>
        </p:txBody>
      </p:sp>
      <p:sp>
        <p:nvSpPr>
          <p:cNvPr id="48" name="TextBox 47"/>
          <p:cNvSpPr txBox="1"/>
          <p:nvPr/>
        </p:nvSpPr>
        <p:spPr>
          <a:xfrm>
            <a:off x="12618720" y="6528816"/>
            <a:ext cx="4754880" cy="402336"/>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01-security-review</a:t>
            </a:r>
          </a:p>
        </p:txBody>
      </p:sp>
      <p:sp>
        <p:nvSpPr>
          <p:cNvPr id="49" name="TextBox 48"/>
          <p:cNvSpPr txBox="1"/>
          <p:nvPr/>
        </p:nvSpPr>
        <p:spPr>
          <a:xfrm>
            <a:off x="841248" y="7150608"/>
            <a:ext cx="16605504" cy="255524"/>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Steps 3, 5 and 8 are the structural ones: the map is written before the threats, the register before the write-up, and the target architecture only once the threats are known.</a:t>
            </a:r>
          </a:p>
        </p:txBody>
      </p:sp>
      <p:sp>
        <p:nvSpPr>
          <p:cNvPr id="50" name="Rectangle 49"/>
          <p:cNvSpPr/>
          <p:nvPr/>
        </p:nvSpPr>
        <p:spPr>
          <a:xfrm>
            <a:off x="841248" y="8540496"/>
            <a:ext cx="54864" cy="369569"/>
          </a:xfrm>
          <a:prstGeom prst="rect">
            <a:avLst/>
          </a:prstGeom>
          <a:solidFill>
            <a:srgbClr val="B14B26"/>
          </a:solidFill>
          <a:ln>
            <a:noFill/>
          </a:ln>
          <a:effectLst/>
        </p:spPr>
        <p:txBody>
          <a:bodyPr wrap="square" rtlCol="0" anchor="ctr"/>
          <a:lstStyle/>
          <a:p>
            <a:pPr algn="ctr"/>
            <a:endParaRPr/>
          </a:p>
        </p:txBody>
      </p:sp>
      <p:sp>
        <p:nvSpPr>
          <p:cNvPr id="51" name="TextBox 50"/>
          <p:cNvSpPr txBox="1"/>
          <p:nvPr/>
        </p:nvSpPr>
        <p:spPr>
          <a:xfrm>
            <a:off x="1115568" y="8540496"/>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The threat model is step 5 of 11. Everything after it is what makes the findings closeable.</a:t>
            </a:r>
          </a:p>
        </p:txBody>
      </p:sp>
      <p:sp>
        <p:nvSpPr>
          <p:cNvPr id="52" name="TextBox 51"/>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05      Security Champion Summit 2026      Brett Crawley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Rounded Rectangle 2"/>
          <p:cNvSpPr/>
          <p:nvPr/>
        </p:nvSpPr>
        <p:spPr>
          <a:xfrm>
            <a:off x="841248" y="713232"/>
            <a:ext cx="1765876"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 name="TextBox 3"/>
          <p:cNvSpPr txBox="1"/>
          <p:nvPr/>
        </p:nvSpPr>
        <p:spPr>
          <a:xfrm>
            <a:off x="1042416" y="781812"/>
            <a:ext cx="1400116" cy="201168"/>
          </a:xfrm>
          <a:prstGeom prst="rect">
            <a:avLst/>
          </a:prstGeom>
          <a:noFill/>
        </p:spPr>
        <p:txBody>
          <a:bodyPr wrap="square" lIns="0" tIns="0" rIns="0" bIns="0" anchor="t">
            <a:spAutoFit/>
          </a:bodyPr>
          <a:lstStyle/>
          <a:p>
            <a:pPr algn="l">
              <a:lnSpc>
                <a:spcPts val="1534"/>
              </a:lnSpc>
              <a:spcAft>
                <a:spcPts val="0"/>
              </a:spcAft>
            </a:pPr>
            <a:r>
              <a:rPr sz="1300" b="1" spc="140">
                <a:solidFill>
                  <a:srgbClr val="FFFFFF"/>
                </a:solidFill>
                <a:latin typeface="Arial"/>
              </a:rPr>
              <a:t>THE PIPELINE</a:t>
            </a:r>
          </a:p>
        </p:txBody>
      </p:sp>
      <p:sp>
        <p:nvSpPr>
          <p:cNvPr id="5" name="TextBox 4"/>
          <p:cNvSpPr txBox="1"/>
          <p:nvPr/>
        </p:nvSpPr>
        <p:spPr>
          <a:xfrm>
            <a:off x="841248" y="133502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The same model runs twice, with the room in between.</a:t>
            </a:r>
          </a:p>
        </p:txBody>
      </p:sp>
      <p:sp>
        <p:nvSpPr>
          <p:cNvPr id="6" name="Rounded Rectangle 5"/>
          <p:cNvSpPr/>
          <p:nvPr/>
        </p:nvSpPr>
        <p:spPr>
          <a:xfrm>
            <a:off x="841248" y="2596896"/>
            <a:ext cx="3904487" cy="4773168"/>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7" name="TextBox 6"/>
          <p:cNvSpPr txBox="1"/>
          <p:nvPr/>
        </p:nvSpPr>
        <p:spPr>
          <a:xfrm>
            <a:off x="1133856" y="2852928"/>
            <a:ext cx="1828800" cy="932688"/>
          </a:xfrm>
          <a:prstGeom prst="rect">
            <a:avLst/>
          </a:prstGeom>
          <a:noFill/>
        </p:spPr>
        <p:txBody>
          <a:bodyPr wrap="square" lIns="0" tIns="0" rIns="0" bIns="0" anchor="t">
            <a:spAutoFit/>
          </a:bodyPr>
          <a:lstStyle/>
          <a:p>
            <a:pPr algn="l">
              <a:lnSpc>
                <a:spcPts val="6372"/>
              </a:lnSpc>
              <a:spcAft>
                <a:spcPts val="0"/>
              </a:spcAft>
            </a:pPr>
            <a:r>
              <a:rPr sz="5400" b="1">
                <a:solidFill>
                  <a:srgbClr val="B14B26"/>
                </a:solidFill>
                <a:latin typeface="Arial"/>
              </a:rPr>
              <a:t>01</a:t>
            </a:r>
          </a:p>
        </p:txBody>
      </p:sp>
      <p:sp>
        <p:nvSpPr>
          <p:cNvPr id="8" name="TextBox 7"/>
          <p:cNvSpPr txBox="1"/>
          <p:nvPr/>
        </p:nvSpPr>
        <p:spPr>
          <a:xfrm>
            <a:off x="1133856" y="3913631"/>
            <a:ext cx="3319271" cy="530352"/>
          </a:xfrm>
          <a:prstGeom prst="rect">
            <a:avLst/>
          </a:prstGeom>
          <a:noFill/>
        </p:spPr>
        <p:txBody>
          <a:bodyPr wrap="square" lIns="0" tIns="0" rIns="0" bIns="0" anchor="t">
            <a:spAutoFit/>
          </a:bodyPr>
          <a:lstStyle/>
          <a:p>
            <a:pPr algn="l">
              <a:lnSpc>
                <a:spcPts val="3540"/>
              </a:lnSpc>
              <a:spcAft>
                <a:spcPts val="0"/>
              </a:spcAft>
            </a:pPr>
            <a:r>
              <a:rPr sz="3000" b="0">
                <a:solidFill>
                  <a:srgbClr val="1A1F29"/>
                </a:solidFill>
                <a:latin typeface="Georgia"/>
              </a:rPr>
              <a:t>Generation</a:t>
            </a:r>
          </a:p>
        </p:txBody>
      </p:sp>
      <p:sp>
        <p:nvSpPr>
          <p:cNvPr id="9" name="TextBox 8"/>
          <p:cNvSpPr txBox="1"/>
          <p:nvPr/>
        </p:nvSpPr>
        <p:spPr>
          <a:xfrm>
            <a:off x="1133856" y="4608576"/>
            <a:ext cx="3319271" cy="1373632"/>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Arial"/>
              </a:rPr>
              <a:t>Context in, pack out. One to nine documents, depending on the method. All five cells.</a:t>
            </a:r>
          </a:p>
        </p:txBody>
      </p:sp>
      <p:sp>
        <p:nvSpPr>
          <p:cNvPr id="10" name="Rectangle 9"/>
          <p:cNvSpPr/>
          <p:nvPr/>
        </p:nvSpPr>
        <p:spPr>
          <a:xfrm>
            <a:off x="4832603" y="4983480"/>
            <a:ext cx="182880" cy="25603"/>
          </a:xfrm>
          <a:prstGeom prst="rect">
            <a:avLst/>
          </a:prstGeom>
          <a:solidFill>
            <a:srgbClr val="D6D1C6"/>
          </a:solidFill>
          <a:ln>
            <a:noFill/>
          </a:ln>
          <a:effectLst/>
        </p:spPr>
        <p:txBody>
          <a:bodyPr wrap="square" rtlCol="0" anchor="ctr"/>
          <a:lstStyle/>
          <a:p>
            <a:pPr algn="ctr"/>
            <a:endParaRPr/>
          </a:p>
        </p:txBody>
      </p:sp>
      <p:sp>
        <p:nvSpPr>
          <p:cNvPr id="11" name="Rounded Rectangle 10"/>
          <p:cNvSpPr/>
          <p:nvPr/>
        </p:nvSpPr>
        <p:spPr>
          <a:xfrm>
            <a:off x="5084064" y="2596896"/>
            <a:ext cx="3904487" cy="4773168"/>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12" name="TextBox 11"/>
          <p:cNvSpPr txBox="1"/>
          <p:nvPr/>
        </p:nvSpPr>
        <p:spPr>
          <a:xfrm>
            <a:off x="5376672" y="2852928"/>
            <a:ext cx="1828800" cy="932688"/>
          </a:xfrm>
          <a:prstGeom prst="rect">
            <a:avLst/>
          </a:prstGeom>
          <a:noFill/>
        </p:spPr>
        <p:txBody>
          <a:bodyPr wrap="square" lIns="0" tIns="0" rIns="0" bIns="0" anchor="t">
            <a:spAutoFit/>
          </a:bodyPr>
          <a:lstStyle/>
          <a:p>
            <a:pPr algn="l">
              <a:lnSpc>
                <a:spcPts val="6372"/>
              </a:lnSpc>
              <a:spcAft>
                <a:spcPts val="0"/>
              </a:spcAft>
            </a:pPr>
            <a:r>
              <a:rPr sz="5400" b="1">
                <a:solidFill>
                  <a:srgbClr val="B14B26"/>
                </a:solidFill>
                <a:latin typeface="Arial"/>
              </a:rPr>
              <a:t>02</a:t>
            </a:r>
          </a:p>
        </p:txBody>
      </p:sp>
      <p:sp>
        <p:nvSpPr>
          <p:cNvPr id="13" name="TextBox 12"/>
          <p:cNvSpPr txBox="1"/>
          <p:nvPr/>
        </p:nvSpPr>
        <p:spPr>
          <a:xfrm>
            <a:off x="5376672" y="3913631"/>
            <a:ext cx="3319271" cy="530352"/>
          </a:xfrm>
          <a:prstGeom prst="rect">
            <a:avLst/>
          </a:prstGeom>
          <a:noFill/>
        </p:spPr>
        <p:txBody>
          <a:bodyPr wrap="square" lIns="0" tIns="0" rIns="0" bIns="0" anchor="t">
            <a:spAutoFit/>
          </a:bodyPr>
          <a:lstStyle/>
          <a:p>
            <a:pPr algn="l">
              <a:lnSpc>
                <a:spcPts val="3540"/>
              </a:lnSpc>
              <a:spcAft>
                <a:spcPts val="0"/>
              </a:spcAft>
            </a:pPr>
            <a:r>
              <a:rPr sz="3000" b="0">
                <a:solidFill>
                  <a:srgbClr val="1A1F29"/>
                </a:solidFill>
                <a:latin typeface="Georgia"/>
              </a:rPr>
              <a:t>The room</a:t>
            </a:r>
          </a:p>
        </p:txBody>
      </p:sp>
      <p:sp>
        <p:nvSpPr>
          <p:cNvPr id="14" name="TextBox 13"/>
          <p:cNvSpPr txBox="1"/>
          <p:nvPr/>
        </p:nvSpPr>
        <p:spPr>
          <a:xfrm>
            <a:off x="5376672" y="4608576"/>
            <a:ext cx="3319271" cy="1703323"/>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Arial"/>
              </a:rPr>
              <a:t>Seven people, 62 to 98 minutes. In production the one phase priced in people rather than tokens.</a:t>
            </a:r>
          </a:p>
        </p:txBody>
      </p:sp>
      <p:sp>
        <p:nvSpPr>
          <p:cNvPr id="15" name="Rectangle 14"/>
          <p:cNvSpPr/>
          <p:nvPr/>
        </p:nvSpPr>
        <p:spPr>
          <a:xfrm>
            <a:off x="9075419" y="4983480"/>
            <a:ext cx="182880" cy="25603"/>
          </a:xfrm>
          <a:prstGeom prst="rect">
            <a:avLst/>
          </a:prstGeom>
          <a:solidFill>
            <a:srgbClr val="D6D1C6"/>
          </a:solidFill>
          <a:ln>
            <a:noFill/>
          </a:ln>
          <a:effectLst/>
        </p:spPr>
        <p:txBody>
          <a:bodyPr wrap="square" rtlCol="0" anchor="ctr"/>
          <a:lstStyle/>
          <a:p>
            <a:pPr algn="ctr"/>
            <a:endParaRPr/>
          </a:p>
        </p:txBody>
      </p:sp>
      <p:sp>
        <p:nvSpPr>
          <p:cNvPr id="16" name="Rounded Rectangle 15"/>
          <p:cNvSpPr/>
          <p:nvPr/>
        </p:nvSpPr>
        <p:spPr>
          <a:xfrm>
            <a:off x="9336024" y="2596896"/>
            <a:ext cx="3904487" cy="4773168"/>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17" name="TextBox 16"/>
          <p:cNvSpPr txBox="1"/>
          <p:nvPr/>
        </p:nvSpPr>
        <p:spPr>
          <a:xfrm>
            <a:off x="9628632" y="2852928"/>
            <a:ext cx="1828800" cy="932688"/>
          </a:xfrm>
          <a:prstGeom prst="rect">
            <a:avLst/>
          </a:prstGeom>
          <a:noFill/>
        </p:spPr>
        <p:txBody>
          <a:bodyPr wrap="square" lIns="0" tIns="0" rIns="0" bIns="0" anchor="t">
            <a:spAutoFit/>
          </a:bodyPr>
          <a:lstStyle/>
          <a:p>
            <a:pPr algn="l">
              <a:lnSpc>
                <a:spcPts val="6372"/>
              </a:lnSpc>
              <a:spcAft>
                <a:spcPts val="0"/>
              </a:spcAft>
            </a:pPr>
            <a:r>
              <a:rPr sz="5400" b="1">
                <a:solidFill>
                  <a:srgbClr val="B14B26"/>
                </a:solidFill>
                <a:latin typeface="Arial"/>
              </a:rPr>
              <a:t>03</a:t>
            </a:r>
          </a:p>
        </p:txBody>
      </p:sp>
      <p:sp>
        <p:nvSpPr>
          <p:cNvPr id="18" name="TextBox 17"/>
          <p:cNvSpPr txBox="1"/>
          <p:nvPr/>
        </p:nvSpPr>
        <p:spPr>
          <a:xfrm>
            <a:off x="9628632" y="3913631"/>
            <a:ext cx="3319271" cy="530352"/>
          </a:xfrm>
          <a:prstGeom prst="rect">
            <a:avLst/>
          </a:prstGeom>
          <a:noFill/>
        </p:spPr>
        <p:txBody>
          <a:bodyPr wrap="square" lIns="0" tIns="0" rIns="0" bIns="0" anchor="t">
            <a:spAutoFit/>
          </a:bodyPr>
          <a:lstStyle/>
          <a:p>
            <a:pPr algn="l">
              <a:lnSpc>
                <a:spcPts val="3540"/>
              </a:lnSpc>
              <a:spcAft>
                <a:spcPts val="0"/>
              </a:spcAft>
            </a:pPr>
            <a:r>
              <a:rPr sz="3000" b="0">
                <a:solidFill>
                  <a:srgbClr val="1A1F29"/>
                </a:solidFill>
                <a:latin typeface="Georgia"/>
              </a:rPr>
              <a:t>Revision</a:t>
            </a:r>
          </a:p>
        </p:txBody>
      </p:sp>
      <p:sp>
        <p:nvSpPr>
          <p:cNvPr id="19" name="TextBox 18"/>
          <p:cNvSpPr txBox="1"/>
          <p:nvPr/>
        </p:nvSpPr>
        <p:spPr>
          <a:xfrm>
            <a:off x="9628632" y="4608576"/>
            <a:ext cx="3319271" cy="1373632"/>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Arial"/>
              </a:rPr>
              <a:t>The transcript goes back in. This is where a pack absorbs the correction, or fails to. All five cells.</a:t>
            </a:r>
          </a:p>
        </p:txBody>
      </p:sp>
      <p:sp>
        <p:nvSpPr>
          <p:cNvPr id="20" name="Rectangle 19"/>
          <p:cNvSpPr/>
          <p:nvPr/>
        </p:nvSpPr>
        <p:spPr>
          <a:xfrm>
            <a:off x="13327380" y="4983480"/>
            <a:ext cx="182880" cy="25603"/>
          </a:xfrm>
          <a:prstGeom prst="rect">
            <a:avLst/>
          </a:prstGeom>
          <a:solidFill>
            <a:srgbClr val="D6D1C6"/>
          </a:solidFill>
          <a:ln>
            <a:noFill/>
          </a:ln>
          <a:effectLst/>
        </p:spPr>
        <p:txBody>
          <a:bodyPr wrap="square" rtlCol="0" anchor="ctr"/>
          <a:lstStyle/>
          <a:p>
            <a:pPr algn="ctr"/>
            <a:endParaRPr/>
          </a:p>
        </p:txBody>
      </p:sp>
      <p:sp>
        <p:nvSpPr>
          <p:cNvPr id="21" name="Rounded Rectangle 20"/>
          <p:cNvSpPr/>
          <p:nvPr/>
        </p:nvSpPr>
        <p:spPr>
          <a:xfrm>
            <a:off x="13578840" y="2596896"/>
            <a:ext cx="3904487" cy="4773168"/>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22" name="TextBox 21"/>
          <p:cNvSpPr txBox="1"/>
          <p:nvPr/>
        </p:nvSpPr>
        <p:spPr>
          <a:xfrm>
            <a:off x="13871448" y="2852928"/>
            <a:ext cx="1828800" cy="932688"/>
          </a:xfrm>
          <a:prstGeom prst="rect">
            <a:avLst/>
          </a:prstGeom>
          <a:noFill/>
        </p:spPr>
        <p:txBody>
          <a:bodyPr wrap="square" lIns="0" tIns="0" rIns="0" bIns="0" anchor="t">
            <a:spAutoFit/>
          </a:bodyPr>
          <a:lstStyle/>
          <a:p>
            <a:pPr algn="l">
              <a:lnSpc>
                <a:spcPts val="6372"/>
              </a:lnSpc>
              <a:spcAft>
                <a:spcPts val="0"/>
              </a:spcAft>
            </a:pPr>
            <a:r>
              <a:rPr sz="5400" b="1">
                <a:solidFill>
                  <a:srgbClr val="B14B26"/>
                </a:solidFill>
                <a:latin typeface="Arial"/>
              </a:rPr>
              <a:t>04</a:t>
            </a:r>
          </a:p>
        </p:txBody>
      </p:sp>
      <p:sp>
        <p:nvSpPr>
          <p:cNvPr id="23" name="TextBox 22"/>
          <p:cNvSpPr txBox="1"/>
          <p:nvPr/>
        </p:nvSpPr>
        <p:spPr>
          <a:xfrm>
            <a:off x="13871448" y="3913631"/>
            <a:ext cx="3319271" cy="530352"/>
          </a:xfrm>
          <a:prstGeom prst="rect">
            <a:avLst/>
          </a:prstGeom>
          <a:noFill/>
        </p:spPr>
        <p:txBody>
          <a:bodyPr wrap="square" lIns="0" tIns="0" rIns="0" bIns="0" anchor="t">
            <a:spAutoFit/>
          </a:bodyPr>
          <a:lstStyle/>
          <a:p>
            <a:pPr algn="l">
              <a:lnSpc>
                <a:spcPts val="3540"/>
              </a:lnSpc>
              <a:spcAft>
                <a:spcPts val="0"/>
              </a:spcAft>
            </a:pPr>
            <a:r>
              <a:rPr sz="3000" b="0">
                <a:solidFill>
                  <a:srgbClr val="1A1F29"/>
                </a:solidFill>
                <a:latin typeface="Georgia"/>
              </a:rPr>
              <a:t>Direction</a:t>
            </a:r>
          </a:p>
        </p:txBody>
      </p:sp>
      <p:sp>
        <p:nvSpPr>
          <p:cNvPr id="24" name="TextBox 23"/>
          <p:cNvSpPr txBox="1"/>
          <p:nvPr/>
        </p:nvSpPr>
        <p:spPr>
          <a:xfrm>
            <a:off x="13871448" y="4608576"/>
            <a:ext cx="3319271" cy="1043940"/>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Arial"/>
              </a:rPr>
              <a:t>Two named scenarios in, a verdict on each out. Run 4 only.</a:t>
            </a:r>
          </a:p>
        </p:txBody>
      </p:sp>
      <p:sp>
        <p:nvSpPr>
          <p:cNvPr id="25" name="Rectangle 24"/>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26" name="TextBox 25"/>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In this harness the room is a generated transcript. In production it is seven people for the length of the session, and that time sits outside every number in this deck.</a:t>
            </a:r>
          </a:p>
        </p:txBody>
      </p:sp>
      <p:sp>
        <p:nvSpPr>
          <p:cNvPr id="27" name="TextBox 26"/>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06      Security Champion Summit 2026      Brett Crawley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THE WEAK MODEL, VERBATIM</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It logged a correction it never made.</a:t>
            </a:r>
          </a:p>
        </p:txBody>
      </p:sp>
      <p:sp>
        <p:nvSpPr>
          <p:cNvPr id="5" name="Rounded Rectangle 4"/>
          <p:cNvSpPr/>
          <p:nvPr/>
        </p:nvSpPr>
        <p:spPr>
          <a:xfrm>
            <a:off x="841248" y="2249424"/>
            <a:ext cx="8193024" cy="3383280"/>
          </a:xfrm>
          <a:prstGeom prst="roundRect">
            <a:avLst>
              <a:gd name="adj" fmla="val 4500"/>
            </a:avLst>
          </a:prstGeom>
          <a:solidFill>
            <a:srgbClr val="EDEAE3"/>
          </a:solidFill>
          <a:ln w="11430">
            <a:solidFill>
              <a:srgbClr val="D6D1C6"/>
            </a:solidFill>
          </a:ln>
          <a:effectLst/>
        </p:spPr>
        <p:txBody>
          <a:bodyPr wrap="square" rtlCol="0" anchor="ctr"/>
          <a:lstStyle/>
          <a:p>
            <a:pPr algn="ctr"/>
            <a:endParaRPr/>
          </a:p>
        </p:txBody>
      </p:sp>
      <p:sp>
        <p:nvSpPr>
          <p:cNvPr id="6" name="TextBox 5"/>
          <p:cNvSpPr txBox="1"/>
          <p:nvPr/>
        </p:nvSpPr>
        <p:spPr>
          <a:xfrm>
            <a:off x="1188720" y="2523744"/>
            <a:ext cx="7498079" cy="292608"/>
          </a:xfrm>
          <a:prstGeom prst="rect">
            <a:avLst/>
          </a:prstGeom>
          <a:noFill/>
        </p:spPr>
        <p:txBody>
          <a:bodyPr wrap="square" lIns="0" tIns="0" rIns="0" bIns="0" anchor="t">
            <a:spAutoFit/>
          </a:bodyPr>
          <a:lstStyle/>
          <a:p>
            <a:pPr algn="l">
              <a:lnSpc>
                <a:spcPts val="1770"/>
              </a:lnSpc>
              <a:spcAft>
                <a:spcPts val="0"/>
              </a:spcAft>
            </a:pPr>
            <a:r>
              <a:rPr sz="1500" b="1" spc="140">
                <a:solidFill>
                  <a:srgbClr val="606978"/>
                </a:solidFill>
                <a:latin typeface="Arial"/>
              </a:rPr>
              <a:t>WHAT IT SAYS IT DID</a:t>
            </a:r>
          </a:p>
        </p:txBody>
      </p:sp>
      <p:sp>
        <p:nvSpPr>
          <p:cNvPr id="7" name="TextBox 6"/>
          <p:cNvSpPr txBox="1"/>
          <p:nvPr/>
        </p:nvSpPr>
        <p:spPr>
          <a:xfrm>
            <a:off x="1188720" y="3072384"/>
            <a:ext cx="7498079" cy="237744"/>
          </a:xfrm>
          <a:prstGeom prst="rect">
            <a:avLst/>
          </a:prstGeom>
          <a:noFill/>
        </p:spPr>
        <p:txBody>
          <a:bodyPr wrap="square" lIns="0" tIns="0" rIns="0" bIns="0" anchor="t">
            <a:spAutoFit/>
          </a:bodyPr>
          <a:lstStyle/>
          <a:p>
            <a:pPr algn="l">
              <a:lnSpc>
                <a:spcPts val="1475"/>
              </a:lnSpc>
              <a:spcAft>
                <a:spcPts val="0"/>
              </a:spcAft>
            </a:pPr>
            <a:r>
              <a:rPr sz="1250" b="1" spc="80">
                <a:solidFill>
                  <a:srgbClr val="606978"/>
                </a:solidFill>
                <a:latin typeface="Arial"/>
              </a:rPr>
              <a:t>SESSION-VALIDATION-SUMMARY.md, line 121</a:t>
            </a:r>
          </a:p>
        </p:txBody>
      </p:sp>
      <p:sp>
        <p:nvSpPr>
          <p:cNvPr id="8" name="TextBox 7"/>
          <p:cNvSpPr txBox="1"/>
          <p:nvPr/>
        </p:nvSpPr>
        <p:spPr>
          <a:xfrm>
            <a:off x="1188720" y="3419856"/>
            <a:ext cx="7498079" cy="864108"/>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01-security-review. “Enable debug logging in production.” Removed, contradicts PRV-003, replaced with selective argument logging.</a:t>
            </a:r>
          </a:p>
        </p:txBody>
      </p:sp>
      <p:sp>
        <p:nvSpPr>
          <p:cNvPr id="9" name="TextBox 8"/>
          <p:cNvSpPr txBox="1"/>
          <p:nvPr/>
        </p:nvSpPr>
        <p:spPr>
          <a:xfrm>
            <a:off x="1188720" y="4704588"/>
            <a:ext cx="7498079" cy="237744"/>
          </a:xfrm>
          <a:prstGeom prst="rect">
            <a:avLst/>
          </a:prstGeom>
          <a:noFill/>
        </p:spPr>
        <p:txBody>
          <a:bodyPr wrap="square" lIns="0" tIns="0" rIns="0" bIns="0" anchor="t">
            <a:spAutoFit/>
          </a:bodyPr>
          <a:lstStyle/>
          <a:p>
            <a:pPr algn="l">
              <a:lnSpc>
                <a:spcPts val="1475"/>
              </a:lnSpc>
              <a:spcAft>
                <a:spcPts val="0"/>
              </a:spcAft>
            </a:pPr>
            <a:r>
              <a:rPr sz="1250" b="1" spc="80">
                <a:solidFill>
                  <a:srgbClr val="606978"/>
                </a:solidFill>
                <a:latin typeface="Arial"/>
              </a:rPr>
              <a:t>DELIVERY-SUMMARY.md, line 38</a:t>
            </a:r>
          </a:p>
        </p:txBody>
      </p:sp>
      <p:sp>
        <p:nvSpPr>
          <p:cNvPr id="10" name="TextBox 9"/>
          <p:cNvSpPr txBox="1"/>
          <p:nvPr/>
        </p:nvSpPr>
        <p:spPr>
          <a:xfrm>
            <a:off x="1188720" y="5052059"/>
            <a:ext cx="7498079" cy="594359"/>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Removed: “Enable debug logging in production” (contradicted PRV-003).</a:t>
            </a:r>
          </a:p>
        </p:txBody>
      </p:sp>
      <p:sp>
        <p:nvSpPr>
          <p:cNvPr id="11" name="Rounded Rectangle 10"/>
          <p:cNvSpPr/>
          <p:nvPr/>
        </p:nvSpPr>
        <p:spPr>
          <a:xfrm>
            <a:off x="9336024" y="2249424"/>
            <a:ext cx="8193024" cy="3383280"/>
          </a:xfrm>
          <a:prstGeom prst="roundRect">
            <a:avLst>
              <a:gd name="adj" fmla="val 4500"/>
            </a:avLst>
          </a:prstGeom>
          <a:solidFill>
            <a:srgbClr val="F0DFD6"/>
          </a:solidFill>
          <a:ln w="11430">
            <a:solidFill>
              <a:srgbClr val="DEC2B4"/>
            </a:solidFill>
          </a:ln>
          <a:effectLst/>
        </p:spPr>
        <p:txBody>
          <a:bodyPr wrap="square" rtlCol="0" anchor="ctr"/>
          <a:lstStyle/>
          <a:p>
            <a:pPr algn="ctr"/>
            <a:endParaRPr/>
          </a:p>
        </p:txBody>
      </p:sp>
      <p:sp>
        <p:nvSpPr>
          <p:cNvPr id="12" name="TextBox 11"/>
          <p:cNvSpPr txBox="1"/>
          <p:nvPr/>
        </p:nvSpPr>
        <p:spPr>
          <a:xfrm>
            <a:off x="9683496" y="2523744"/>
            <a:ext cx="7498079" cy="292608"/>
          </a:xfrm>
          <a:prstGeom prst="rect">
            <a:avLst/>
          </a:prstGeom>
          <a:noFill/>
        </p:spPr>
        <p:txBody>
          <a:bodyPr wrap="square" lIns="0" tIns="0" rIns="0" bIns="0" anchor="t">
            <a:spAutoFit/>
          </a:bodyPr>
          <a:lstStyle/>
          <a:p>
            <a:pPr algn="l">
              <a:lnSpc>
                <a:spcPts val="1770"/>
              </a:lnSpc>
              <a:spcAft>
                <a:spcPts val="0"/>
              </a:spcAft>
            </a:pPr>
            <a:r>
              <a:rPr sz="1500" b="1" spc="140">
                <a:solidFill>
                  <a:srgbClr val="8A381B"/>
                </a:solidFill>
                <a:latin typeface="Arial"/>
              </a:rPr>
              <a:t>WHAT THE DOCUMENT STILL SAYS</a:t>
            </a:r>
          </a:p>
        </p:txBody>
      </p:sp>
      <p:sp>
        <p:nvSpPr>
          <p:cNvPr id="13" name="TextBox 12"/>
          <p:cNvSpPr txBox="1"/>
          <p:nvPr/>
        </p:nvSpPr>
        <p:spPr>
          <a:xfrm>
            <a:off x="9683496" y="3072384"/>
            <a:ext cx="7498079" cy="237744"/>
          </a:xfrm>
          <a:prstGeom prst="rect">
            <a:avLst/>
          </a:prstGeom>
          <a:noFill/>
        </p:spPr>
        <p:txBody>
          <a:bodyPr wrap="square" lIns="0" tIns="0" rIns="0" bIns="0" anchor="t">
            <a:spAutoFit/>
          </a:bodyPr>
          <a:lstStyle/>
          <a:p>
            <a:pPr algn="l">
              <a:lnSpc>
                <a:spcPts val="1475"/>
              </a:lnSpc>
              <a:spcAft>
                <a:spcPts val="0"/>
              </a:spcAft>
            </a:pPr>
            <a:r>
              <a:rPr sz="1250" b="1" spc="80">
                <a:solidFill>
                  <a:srgbClr val="606978"/>
                </a:solidFill>
                <a:latin typeface="Arial"/>
              </a:rPr>
              <a:t>01-security-review.md, line 170, unchanged</a:t>
            </a:r>
          </a:p>
        </p:txBody>
      </p:sp>
      <p:sp>
        <p:nvSpPr>
          <p:cNvPr id="14" name="TextBox 13"/>
          <p:cNvSpPr txBox="1"/>
          <p:nvPr/>
        </p:nvSpPr>
        <p:spPr>
          <a:xfrm>
            <a:off x="9683496" y="3419856"/>
            <a:ext cx="7498079" cy="864108"/>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6. Visibility and Transparency. Audit logs exist but do not log tool args or results in production. Enable debug logging in production for audit trail.</a:t>
            </a:r>
          </a:p>
        </p:txBody>
      </p:sp>
      <p:sp>
        <p:nvSpPr>
          <p:cNvPr id="15" name="TextBox 14"/>
          <p:cNvSpPr txBox="1"/>
          <p:nvPr/>
        </p:nvSpPr>
        <p:spPr>
          <a:xfrm>
            <a:off x="9683496" y="4704588"/>
            <a:ext cx="7498079" cy="237744"/>
          </a:xfrm>
          <a:prstGeom prst="rect">
            <a:avLst/>
          </a:prstGeom>
          <a:noFill/>
        </p:spPr>
        <p:txBody>
          <a:bodyPr wrap="square" lIns="0" tIns="0" rIns="0" bIns="0" anchor="t">
            <a:spAutoFit/>
          </a:bodyPr>
          <a:lstStyle/>
          <a:p>
            <a:pPr algn="l">
              <a:lnSpc>
                <a:spcPts val="1475"/>
              </a:lnSpc>
              <a:spcAft>
                <a:spcPts val="0"/>
              </a:spcAft>
            </a:pPr>
            <a:r>
              <a:rPr sz="1250" b="1" spc="80">
                <a:solidFill>
                  <a:srgbClr val="606978"/>
                </a:solidFill>
                <a:latin typeface="Arial"/>
              </a:rPr>
              <a:t>DELIVERY-SUMMARY.md, line 190</a:t>
            </a:r>
          </a:p>
        </p:txBody>
      </p:sp>
      <p:sp>
        <p:nvSpPr>
          <p:cNvPr id="16" name="TextBox 15"/>
          <p:cNvSpPr txBox="1"/>
          <p:nvPr/>
        </p:nvSpPr>
        <p:spPr>
          <a:xfrm>
            <a:off x="9683496" y="5052059"/>
            <a:ext cx="7498079" cy="324612"/>
          </a:xfrm>
          <a:prstGeom prst="rect">
            <a:avLst/>
          </a:prstGeom>
          <a:noFill/>
        </p:spPr>
        <p:txBody>
          <a:bodyPr wrap="square" lIns="0" tIns="0" rIns="0" bIns="0" anchor="t">
            <a:spAutoFit/>
          </a:bodyPr>
          <a:lstStyle/>
          <a:p>
            <a:pPr algn="l">
              <a:lnSpc>
                <a:spcPts val="2124"/>
              </a:lnSpc>
              <a:spcAft>
                <a:spcPts val="0"/>
              </a:spcAft>
            </a:pPr>
            <a:r>
              <a:rPr sz="1800" b="0">
                <a:solidFill>
                  <a:srgbClr val="1A1F29"/>
                </a:solidFill>
                <a:latin typeface="Georgia"/>
              </a:rPr>
              <a:t>“All documents are production-ready. No known gaps remain.”</a:t>
            </a:r>
          </a:p>
        </p:txBody>
      </p:sp>
      <p:sp>
        <p:nvSpPr>
          <p:cNvPr id="17" name="Rounded Rectangle 16"/>
          <p:cNvSpPr/>
          <p:nvPr/>
        </p:nvSpPr>
        <p:spPr>
          <a:xfrm>
            <a:off x="841248" y="5852160"/>
            <a:ext cx="16605504" cy="1554480"/>
          </a:xfrm>
          <a:prstGeom prst="roundRect">
            <a:avLst>
              <a:gd name="adj" fmla="val 4500"/>
            </a:avLst>
          </a:prstGeom>
          <a:solidFill>
            <a:srgbClr val="F7F6F3"/>
          </a:solidFill>
          <a:ln w="11430">
            <a:solidFill>
              <a:srgbClr val="D6D1C6"/>
            </a:solidFill>
          </a:ln>
          <a:effectLst/>
        </p:spPr>
        <p:txBody>
          <a:bodyPr wrap="square" rtlCol="0" anchor="ctr"/>
          <a:lstStyle/>
          <a:p>
            <a:pPr algn="ctr"/>
            <a:endParaRPr/>
          </a:p>
        </p:txBody>
      </p:sp>
      <p:sp>
        <p:nvSpPr>
          <p:cNvPr id="18" name="TextBox 17"/>
          <p:cNvSpPr txBox="1"/>
          <p:nvPr/>
        </p:nvSpPr>
        <p:spPr>
          <a:xfrm>
            <a:off x="1152144" y="6089904"/>
            <a:ext cx="16020288" cy="1097280"/>
          </a:xfrm>
          <a:prstGeom prst="rect">
            <a:avLst/>
          </a:prstGeom>
          <a:noFill/>
        </p:spPr>
        <p:txBody>
          <a:bodyPr wrap="square" lIns="0" tIns="0" rIns="0" bIns="0" anchor="t">
            <a:spAutoFit/>
          </a:bodyPr>
          <a:lstStyle/>
          <a:p>
            <a:pPr algn="l">
              <a:lnSpc>
                <a:spcPts val="1829"/>
              </a:lnSpc>
              <a:spcAft>
                <a:spcPts val="0"/>
              </a:spcAft>
            </a:pPr>
            <a:r>
              <a:rPr sz="1550" b="0">
                <a:solidFill>
                  <a:srgbClr val="1A1F29"/>
                </a:solidFill>
                <a:latin typeface="Arial"/>
              </a:rPr>
              <a:t>The pack logs the fix, signs itself off as complete, and leaves the line in place recommending the thing it removed.</a:t>
            </a:r>
          </a:p>
          <a:p>
            <a:pPr algn="l">
              <a:lnSpc>
                <a:spcPts val="1829"/>
              </a:lnSpc>
              <a:spcBef>
                <a:spcPts val="600"/>
              </a:spcBef>
              <a:spcAft>
                <a:spcPts val="0"/>
              </a:spcAft>
            </a:pPr>
            <a:r>
              <a:rPr sz="1550" b="0">
                <a:solidFill>
                  <a:srgbClr val="1A1F29"/>
                </a:solidFill>
                <a:latin typeface="Arial"/>
              </a:rPr>
              <a:t>Same run: “19 of 20 findings confirmed” is asserted six times across four documents, against a register of thirteen. The table under that heading lists eleven.</a:t>
            </a:r>
          </a:p>
          <a:p>
            <a:pPr algn="l">
              <a:lnSpc>
                <a:spcPts val="1829"/>
              </a:lnSpc>
              <a:spcBef>
                <a:spcPts val="600"/>
              </a:spcBef>
              <a:spcAft>
                <a:spcPts val="0"/>
              </a:spcAft>
            </a:pPr>
            <a:r>
              <a:rPr sz="1550" b="0">
                <a:solidFill>
                  <a:srgbClr val="1A1F29"/>
                </a:solidFill>
                <a:latin typeface="Arial"/>
              </a:rPr>
              <a:t>Four of its twelve documents are about how to read the other eight: README, 00-START-HERE, CHANGES-GUIDE and DELIVERY-SUMMARY, 569 lines against a 225-line threat model.</a:t>
            </a:r>
          </a:p>
        </p:txBody>
      </p:sp>
      <p:sp>
        <p:nvSpPr>
          <p:cNvPr id="19" name="Rectangle 18"/>
          <p:cNvSpPr/>
          <p:nvPr/>
        </p:nvSpPr>
        <p:spPr>
          <a:xfrm>
            <a:off x="841248" y="8540496"/>
            <a:ext cx="54864" cy="369569"/>
          </a:xfrm>
          <a:prstGeom prst="rect">
            <a:avLst/>
          </a:prstGeom>
          <a:solidFill>
            <a:srgbClr val="B14B26"/>
          </a:solidFill>
          <a:ln>
            <a:noFill/>
          </a:ln>
          <a:effectLst/>
        </p:spPr>
        <p:txBody>
          <a:bodyPr wrap="square" rtlCol="0" anchor="ctr"/>
          <a:lstStyle/>
          <a:p>
            <a:pPr algn="ctr"/>
            <a:endParaRPr/>
          </a:p>
        </p:txBody>
      </p:sp>
      <p:sp>
        <p:nvSpPr>
          <p:cNvPr id="20" name="TextBox 19"/>
          <p:cNvSpPr txBox="1"/>
          <p:nvPr/>
        </p:nvSpPr>
        <p:spPr>
          <a:xfrm>
            <a:off x="1115568" y="8540496"/>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It had the context, the environment, the full chain and the strong prompt. The only variable left is the model.</a:t>
            </a:r>
          </a:p>
        </p:txBody>
      </p:sp>
      <p:sp>
        <p:nvSpPr>
          <p:cNvPr id="21" name="TextBox 20"/>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07      Security Champion Summit 2026      Brett Crawley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FINDINGS BY CATEGORY, COUNTED FROM THE FINDING HEADINGS</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Every pack was asked for the same analysis.</a:t>
            </a:r>
          </a:p>
        </p:txBody>
      </p:sp>
      <p:sp>
        <p:nvSpPr>
          <p:cNvPr id="5" name="Rounded Rectangle 4"/>
          <p:cNvSpPr/>
          <p:nvPr/>
        </p:nvSpPr>
        <p:spPr>
          <a:xfrm>
            <a:off x="841248" y="2011680"/>
            <a:ext cx="16605504" cy="338328"/>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987552" y="2011680"/>
            <a:ext cx="5029200" cy="338328"/>
          </a:xfrm>
          <a:prstGeom prst="rect">
            <a:avLst/>
          </a:prstGeom>
          <a:noFill/>
        </p:spPr>
        <p:txBody>
          <a:bodyPr wrap="square" lIns="0" tIns="0" rIns="0" bIns="0" anchor="ctr">
            <a:spAutoFit/>
          </a:bodyPr>
          <a:lstStyle/>
          <a:p>
            <a:pPr algn="l">
              <a:lnSpc>
                <a:spcPts val="1356"/>
              </a:lnSpc>
              <a:spcAft>
                <a:spcPts val="0"/>
              </a:spcAft>
            </a:pPr>
            <a:r>
              <a:rPr sz="1150" b="1" spc="140">
                <a:solidFill>
                  <a:srgbClr val="F7F6F3"/>
                </a:solidFill>
                <a:latin typeface="Arial"/>
              </a:rPr>
              <a:t>FINDING CATEGORY</a:t>
            </a:r>
          </a:p>
        </p:txBody>
      </p:sp>
      <p:sp>
        <p:nvSpPr>
          <p:cNvPr id="7" name="TextBox 6"/>
          <p:cNvSpPr txBox="1"/>
          <p:nvPr/>
        </p:nvSpPr>
        <p:spPr>
          <a:xfrm>
            <a:off x="6245352" y="2011680"/>
            <a:ext cx="1984248" cy="338328"/>
          </a:xfrm>
          <a:prstGeom prst="rect">
            <a:avLst/>
          </a:prstGeom>
          <a:noFill/>
        </p:spPr>
        <p:txBody>
          <a:bodyPr wrap="square" lIns="0" tIns="0" rIns="0" bIns="0" anchor="ctr">
            <a:spAutoFit/>
          </a:bodyPr>
          <a:lstStyle/>
          <a:p>
            <a:pPr algn="ctr">
              <a:lnSpc>
                <a:spcPts val="1356"/>
              </a:lnSpc>
              <a:spcAft>
                <a:spcPts val="0"/>
              </a:spcAft>
            </a:pPr>
            <a:r>
              <a:rPr sz="1150" b="1" spc="140">
                <a:solidFill>
                  <a:srgbClr val="F7F6F3"/>
                </a:solidFill>
                <a:latin typeface="Arial"/>
              </a:rPr>
              <a:t>WEAK MODEL</a:t>
            </a:r>
          </a:p>
        </p:txBody>
      </p:sp>
      <p:sp>
        <p:nvSpPr>
          <p:cNvPr id="8" name="TextBox 7"/>
          <p:cNvSpPr txBox="1"/>
          <p:nvPr/>
        </p:nvSpPr>
        <p:spPr>
          <a:xfrm>
            <a:off x="8531352" y="2011680"/>
            <a:ext cx="1984248" cy="338328"/>
          </a:xfrm>
          <a:prstGeom prst="rect">
            <a:avLst/>
          </a:prstGeom>
          <a:noFill/>
        </p:spPr>
        <p:txBody>
          <a:bodyPr wrap="square" lIns="0" tIns="0" rIns="0" bIns="0" anchor="ctr">
            <a:spAutoFit/>
          </a:bodyPr>
          <a:lstStyle/>
          <a:p>
            <a:pPr algn="ctr">
              <a:lnSpc>
                <a:spcPts val="1356"/>
              </a:lnSpc>
              <a:spcAft>
                <a:spcPts val="0"/>
              </a:spcAft>
            </a:pPr>
            <a:r>
              <a:rPr sz="1150" b="1" spc="140">
                <a:solidFill>
                  <a:srgbClr val="F7F6F3"/>
                </a:solidFill>
                <a:latin typeface="Arial"/>
              </a:rPr>
              <a:t>WEAK SKILL</a:t>
            </a:r>
          </a:p>
        </p:txBody>
      </p:sp>
      <p:sp>
        <p:nvSpPr>
          <p:cNvPr id="9" name="TextBox 8"/>
          <p:cNvSpPr txBox="1"/>
          <p:nvPr/>
        </p:nvSpPr>
        <p:spPr>
          <a:xfrm>
            <a:off x="10817352" y="2011680"/>
            <a:ext cx="1984248" cy="338328"/>
          </a:xfrm>
          <a:prstGeom prst="rect">
            <a:avLst/>
          </a:prstGeom>
          <a:noFill/>
        </p:spPr>
        <p:txBody>
          <a:bodyPr wrap="square" lIns="0" tIns="0" rIns="0" bIns="0" anchor="ctr">
            <a:spAutoFit/>
          </a:bodyPr>
          <a:lstStyle/>
          <a:p>
            <a:pPr algn="ctr">
              <a:lnSpc>
                <a:spcPts val="1356"/>
              </a:lnSpc>
              <a:spcAft>
                <a:spcPts val="0"/>
              </a:spcAft>
            </a:pPr>
            <a:r>
              <a:rPr sz="1150" b="1" spc="140">
                <a:solidFill>
                  <a:srgbClr val="F7F6F3"/>
                </a:solidFill>
                <a:latin typeface="Arial"/>
              </a:rPr>
              <a:t>THIN</a:t>
            </a:r>
          </a:p>
        </p:txBody>
      </p:sp>
      <p:sp>
        <p:nvSpPr>
          <p:cNvPr id="10" name="TextBox 9"/>
          <p:cNvSpPr txBox="1"/>
          <p:nvPr/>
        </p:nvSpPr>
        <p:spPr>
          <a:xfrm>
            <a:off x="13103352" y="2011680"/>
            <a:ext cx="1984248" cy="338328"/>
          </a:xfrm>
          <a:prstGeom prst="rect">
            <a:avLst/>
          </a:prstGeom>
          <a:noFill/>
        </p:spPr>
        <p:txBody>
          <a:bodyPr wrap="square" lIns="0" tIns="0" rIns="0" bIns="0" anchor="ctr">
            <a:spAutoFit/>
          </a:bodyPr>
          <a:lstStyle/>
          <a:p>
            <a:pPr algn="ctr">
              <a:lnSpc>
                <a:spcPts val="1356"/>
              </a:lnSpc>
              <a:spcAft>
                <a:spcPts val="0"/>
              </a:spcAft>
            </a:pPr>
            <a:r>
              <a:rPr sz="1150" b="1" spc="140">
                <a:solidFill>
                  <a:srgbClr val="F7F6F3"/>
                </a:solidFill>
                <a:latin typeface="Arial"/>
              </a:rPr>
              <a:t>NO REPO</a:t>
            </a:r>
          </a:p>
        </p:txBody>
      </p:sp>
      <p:sp>
        <p:nvSpPr>
          <p:cNvPr id="11" name="TextBox 10"/>
          <p:cNvSpPr txBox="1"/>
          <p:nvPr/>
        </p:nvSpPr>
        <p:spPr>
          <a:xfrm>
            <a:off x="15389351" y="2011680"/>
            <a:ext cx="1984248" cy="338328"/>
          </a:xfrm>
          <a:prstGeom prst="rect">
            <a:avLst/>
          </a:prstGeom>
          <a:noFill/>
        </p:spPr>
        <p:txBody>
          <a:bodyPr wrap="square" lIns="0" tIns="0" rIns="0" bIns="0" anchor="ctr">
            <a:spAutoFit/>
          </a:bodyPr>
          <a:lstStyle/>
          <a:p>
            <a:pPr algn="ctr">
              <a:lnSpc>
                <a:spcPts val="1356"/>
              </a:lnSpc>
              <a:spcAft>
                <a:spcPts val="0"/>
              </a:spcAft>
            </a:pPr>
            <a:r>
              <a:rPr sz="1150" b="1" spc="140">
                <a:solidFill>
                  <a:srgbClr val="F7F6F3"/>
                </a:solidFill>
                <a:latin typeface="Arial"/>
              </a:rPr>
              <a:t>EVERYTHING</a:t>
            </a:r>
          </a:p>
        </p:txBody>
      </p:sp>
      <p:sp>
        <p:nvSpPr>
          <p:cNvPr id="12" name="TextBox 11"/>
          <p:cNvSpPr txBox="1"/>
          <p:nvPr/>
        </p:nvSpPr>
        <p:spPr>
          <a:xfrm>
            <a:off x="987552" y="2350008"/>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Spoofing</a:t>
            </a:r>
          </a:p>
        </p:txBody>
      </p:sp>
      <p:sp>
        <p:nvSpPr>
          <p:cNvPr id="13" name="TextBox 12"/>
          <p:cNvSpPr txBox="1"/>
          <p:nvPr/>
        </p:nvSpPr>
        <p:spPr>
          <a:xfrm>
            <a:off x="6245352" y="235000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2</a:t>
            </a:r>
          </a:p>
        </p:txBody>
      </p:sp>
      <p:sp>
        <p:nvSpPr>
          <p:cNvPr id="14" name="TextBox 13"/>
          <p:cNvSpPr txBox="1"/>
          <p:nvPr/>
        </p:nvSpPr>
        <p:spPr>
          <a:xfrm>
            <a:off x="8531352" y="235000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15" name="TextBox 14"/>
          <p:cNvSpPr txBox="1"/>
          <p:nvPr/>
        </p:nvSpPr>
        <p:spPr>
          <a:xfrm>
            <a:off x="10817352" y="235000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16" name="TextBox 15"/>
          <p:cNvSpPr txBox="1"/>
          <p:nvPr/>
        </p:nvSpPr>
        <p:spPr>
          <a:xfrm>
            <a:off x="13103352" y="235000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17" name="TextBox 16"/>
          <p:cNvSpPr txBox="1"/>
          <p:nvPr/>
        </p:nvSpPr>
        <p:spPr>
          <a:xfrm>
            <a:off x="15389351" y="235000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18" name="Rounded Rectangle 17"/>
          <p:cNvSpPr/>
          <p:nvPr/>
        </p:nvSpPr>
        <p:spPr>
          <a:xfrm>
            <a:off x="841248" y="2688336"/>
            <a:ext cx="16605504" cy="338328"/>
          </a:xfrm>
          <a:prstGeom prst="roundRect">
            <a:avLst/>
          </a:prstGeom>
          <a:solidFill>
            <a:srgbClr val="EDEAE3"/>
          </a:solidFill>
          <a:ln>
            <a:noFill/>
          </a:ln>
          <a:effectLst/>
        </p:spPr>
        <p:txBody>
          <a:bodyPr wrap="square" rtlCol="0" anchor="ctr"/>
          <a:lstStyle/>
          <a:p>
            <a:pPr algn="ctr"/>
            <a:endParaRPr/>
          </a:p>
        </p:txBody>
      </p:sp>
      <p:sp>
        <p:nvSpPr>
          <p:cNvPr id="19" name="TextBox 18"/>
          <p:cNvSpPr txBox="1"/>
          <p:nvPr/>
        </p:nvSpPr>
        <p:spPr>
          <a:xfrm>
            <a:off x="987552" y="2688336"/>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Tampering</a:t>
            </a:r>
          </a:p>
        </p:txBody>
      </p:sp>
      <p:sp>
        <p:nvSpPr>
          <p:cNvPr id="20" name="TextBox 19"/>
          <p:cNvSpPr txBox="1"/>
          <p:nvPr/>
        </p:nvSpPr>
        <p:spPr>
          <a:xfrm>
            <a:off x="6245352" y="268833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21" name="TextBox 20"/>
          <p:cNvSpPr txBox="1"/>
          <p:nvPr/>
        </p:nvSpPr>
        <p:spPr>
          <a:xfrm>
            <a:off x="8531352" y="268833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22" name="TextBox 21"/>
          <p:cNvSpPr txBox="1"/>
          <p:nvPr/>
        </p:nvSpPr>
        <p:spPr>
          <a:xfrm>
            <a:off x="10817352" y="268833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23" name="TextBox 22"/>
          <p:cNvSpPr txBox="1"/>
          <p:nvPr/>
        </p:nvSpPr>
        <p:spPr>
          <a:xfrm>
            <a:off x="13103352" y="268833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24" name="TextBox 23"/>
          <p:cNvSpPr txBox="1"/>
          <p:nvPr/>
        </p:nvSpPr>
        <p:spPr>
          <a:xfrm>
            <a:off x="15389351" y="268833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25" name="TextBox 24"/>
          <p:cNvSpPr txBox="1"/>
          <p:nvPr/>
        </p:nvSpPr>
        <p:spPr>
          <a:xfrm>
            <a:off x="987552" y="3026664"/>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Repudiation</a:t>
            </a:r>
          </a:p>
        </p:txBody>
      </p:sp>
      <p:sp>
        <p:nvSpPr>
          <p:cNvPr id="26" name="TextBox 25"/>
          <p:cNvSpPr txBox="1"/>
          <p:nvPr/>
        </p:nvSpPr>
        <p:spPr>
          <a:xfrm>
            <a:off x="6245352" y="302666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a:t>
            </a:r>
          </a:p>
        </p:txBody>
      </p:sp>
      <p:sp>
        <p:nvSpPr>
          <p:cNvPr id="27" name="TextBox 26"/>
          <p:cNvSpPr txBox="1"/>
          <p:nvPr/>
        </p:nvSpPr>
        <p:spPr>
          <a:xfrm>
            <a:off x="8531352" y="302666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a:t>
            </a:r>
          </a:p>
        </p:txBody>
      </p:sp>
      <p:sp>
        <p:nvSpPr>
          <p:cNvPr id="28" name="TextBox 27"/>
          <p:cNvSpPr txBox="1"/>
          <p:nvPr/>
        </p:nvSpPr>
        <p:spPr>
          <a:xfrm>
            <a:off x="10817352" y="302666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29" name="TextBox 28"/>
          <p:cNvSpPr txBox="1"/>
          <p:nvPr/>
        </p:nvSpPr>
        <p:spPr>
          <a:xfrm>
            <a:off x="13103352" y="302666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30" name="TextBox 29"/>
          <p:cNvSpPr txBox="1"/>
          <p:nvPr/>
        </p:nvSpPr>
        <p:spPr>
          <a:xfrm>
            <a:off x="15389351" y="302666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31" name="Rounded Rectangle 30"/>
          <p:cNvSpPr/>
          <p:nvPr/>
        </p:nvSpPr>
        <p:spPr>
          <a:xfrm>
            <a:off x="841248" y="3364992"/>
            <a:ext cx="16605504" cy="338328"/>
          </a:xfrm>
          <a:prstGeom prst="roundRect">
            <a:avLst/>
          </a:prstGeom>
          <a:solidFill>
            <a:srgbClr val="EDEAE3"/>
          </a:solidFill>
          <a:ln>
            <a:noFill/>
          </a:ln>
          <a:effectLst/>
        </p:spPr>
        <p:txBody>
          <a:bodyPr wrap="square" rtlCol="0" anchor="ctr"/>
          <a:lstStyle/>
          <a:p>
            <a:pPr algn="ctr"/>
            <a:endParaRPr/>
          </a:p>
        </p:txBody>
      </p:sp>
      <p:sp>
        <p:nvSpPr>
          <p:cNvPr id="32" name="TextBox 31"/>
          <p:cNvSpPr txBox="1"/>
          <p:nvPr/>
        </p:nvSpPr>
        <p:spPr>
          <a:xfrm>
            <a:off x="987552" y="3364992"/>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Information disclosure</a:t>
            </a:r>
          </a:p>
        </p:txBody>
      </p:sp>
      <p:sp>
        <p:nvSpPr>
          <p:cNvPr id="33" name="TextBox 32"/>
          <p:cNvSpPr txBox="1"/>
          <p:nvPr/>
        </p:nvSpPr>
        <p:spPr>
          <a:xfrm>
            <a:off x="6245352" y="336499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3</a:t>
            </a:r>
          </a:p>
        </p:txBody>
      </p:sp>
      <p:sp>
        <p:nvSpPr>
          <p:cNvPr id="34" name="TextBox 33"/>
          <p:cNvSpPr txBox="1"/>
          <p:nvPr/>
        </p:nvSpPr>
        <p:spPr>
          <a:xfrm>
            <a:off x="8531352" y="336499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35" name="TextBox 34"/>
          <p:cNvSpPr txBox="1"/>
          <p:nvPr/>
        </p:nvSpPr>
        <p:spPr>
          <a:xfrm>
            <a:off x="10817352" y="336499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36" name="TextBox 35"/>
          <p:cNvSpPr txBox="1"/>
          <p:nvPr/>
        </p:nvSpPr>
        <p:spPr>
          <a:xfrm>
            <a:off x="13103352" y="336499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37" name="TextBox 36"/>
          <p:cNvSpPr txBox="1"/>
          <p:nvPr/>
        </p:nvSpPr>
        <p:spPr>
          <a:xfrm>
            <a:off x="15389351" y="336499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38" name="TextBox 37"/>
          <p:cNvSpPr txBox="1"/>
          <p:nvPr/>
        </p:nvSpPr>
        <p:spPr>
          <a:xfrm>
            <a:off x="987552" y="3703320"/>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Elevation of privilege</a:t>
            </a:r>
          </a:p>
        </p:txBody>
      </p:sp>
      <p:sp>
        <p:nvSpPr>
          <p:cNvPr id="39" name="TextBox 38"/>
          <p:cNvSpPr txBox="1"/>
          <p:nvPr/>
        </p:nvSpPr>
        <p:spPr>
          <a:xfrm>
            <a:off x="6245352" y="370332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2</a:t>
            </a:r>
          </a:p>
        </p:txBody>
      </p:sp>
      <p:sp>
        <p:nvSpPr>
          <p:cNvPr id="40" name="TextBox 39"/>
          <p:cNvSpPr txBox="1"/>
          <p:nvPr/>
        </p:nvSpPr>
        <p:spPr>
          <a:xfrm>
            <a:off x="8531352" y="370332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41" name="TextBox 40"/>
          <p:cNvSpPr txBox="1"/>
          <p:nvPr/>
        </p:nvSpPr>
        <p:spPr>
          <a:xfrm>
            <a:off x="10817352" y="370332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42" name="TextBox 41"/>
          <p:cNvSpPr txBox="1"/>
          <p:nvPr/>
        </p:nvSpPr>
        <p:spPr>
          <a:xfrm>
            <a:off x="13103352" y="370332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43" name="TextBox 42"/>
          <p:cNvSpPr txBox="1"/>
          <p:nvPr/>
        </p:nvSpPr>
        <p:spPr>
          <a:xfrm>
            <a:off x="15389351" y="370332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44" name="Rounded Rectangle 43"/>
          <p:cNvSpPr/>
          <p:nvPr/>
        </p:nvSpPr>
        <p:spPr>
          <a:xfrm>
            <a:off x="841248" y="4041648"/>
            <a:ext cx="16605504" cy="338328"/>
          </a:xfrm>
          <a:prstGeom prst="roundRect">
            <a:avLst/>
          </a:prstGeom>
          <a:solidFill>
            <a:srgbClr val="EDEAE3"/>
          </a:solidFill>
          <a:ln>
            <a:noFill/>
          </a:ln>
          <a:effectLst/>
        </p:spPr>
        <p:txBody>
          <a:bodyPr wrap="square" rtlCol="0" anchor="ctr"/>
          <a:lstStyle/>
          <a:p>
            <a:pPr algn="ctr"/>
            <a:endParaRPr/>
          </a:p>
        </p:txBody>
      </p:sp>
      <p:sp>
        <p:nvSpPr>
          <p:cNvPr id="45" name="TextBox 44"/>
          <p:cNvSpPr txBox="1"/>
          <p:nvPr/>
        </p:nvSpPr>
        <p:spPr>
          <a:xfrm>
            <a:off x="987552" y="4041648"/>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Denial of service</a:t>
            </a:r>
          </a:p>
        </p:txBody>
      </p:sp>
      <p:sp>
        <p:nvSpPr>
          <p:cNvPr id="46" name="TextBox 45"/>
          <p:cNvSpPr txBox="1"/>
          <p:nvPr/>
        </p:nvSpPr>
        <p:spPr>
          <a:xfrm>
            <a:off x="6245352" y="404164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47" name="TextBox 46"/>
          <p:cNvSpPr txBox="1"/>
          <p:nvPr/>
        </p:nvSpPr>
        <p:spPr>
          <a:xfrm>
            <a:off x="8531352" y="404164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2</a:t>
            </a:r>
          </a:p>
        </p:txBody>
      </p:sp>
      <p:sp>
        <p:nvSpPr>
          <p:cNvPr id="48" name="TextBox 47"/>
          <p:cNvSpPr txBox="1"/>
          <p:nvPr/>
        </p:nvSpPr>
        <p:spPr>
          <a:xfrm>
            <a:off x="10817352" y="404164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49" name="TextBox 48"/>
          <p:cNvSpPr txBox="1"/>
          <p:nvPr/>
        </p:nvSpPr>
        <p:spPr>
          <a:xfrm>
            <a:off x="13103352" y="404164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50" name="TextBox 49"/>
          <p:cNvSpPr txBox="1"/>
          <p:nvPr/>
        </p:nvSpPr>
        <p:spPr>
          <a:xfrm>
            <a:off x="15389351" y="404164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5</a:t>
            </a:r>
          </a:p>
        </p:txBody>
      </p:sp>
      <p:sp>
        <p:nvSpPr>
          <p:cNvPr id="51" name="TextBox 50"/>
          <p:cNvSpPr txBox="1"/>
          <p:nvPr/>
        </p:nvSpPr>
        <p:spPr>
          <a:xfrm>
            <a:off x="987552" y="4379976"/>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Privacy, LINDDUN</a:t>
            </a:r>
          </a:p>
        </p:txBody>
      </p:sp>
      <p:sp>
        <p:nvSpPr>
          <p:cNvPr id="52" name="TextBox 51"/>
          <p:cNvSpPr txBox="1"/>
          <p:nvPr/>
        </p:nvSpPr>
        <p:spPr>
          <a:xfrm>
            <a:off x="6245352" y="437997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a:t>
            </a:r>
          </a:p>
        </p:txBody>
      </p:sp>
      <p:sp>
        <p:nvSpPr>
          <p:cNvPr id="53" name="TextBox 52"/>
          <p:cNvSpPr txBox="1"/>
          <p:nvPr/>
        </p:nvSpPr>
        <p:spPr>
          <a:xfrm>
            <a:off x="8531352" y="437997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2</a:t>
            </a:r>
          </a:p>
        </p:txBody>
      </p:sp>
      <p:sp>
        <p:nvSpPr>
          <p:cNvPr id="54" name="TextBox 53"/>
          <p:cNvSpPr txBox="1"/>
          <p:nvPr/>
        </p:nvSpPr>
        <p:spPr>
          <a:xfrm>
            <a:off x="10817352" y="437997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8</a:t>
            </a:r>
          </a:p>
        </p:txBody>
      </p:sp>
      <p:sp>
        <p:nvSpPr>
          <p:cNvPr id="55" name="TextBox 54"/>
          <p:cNvSpPr txBox="1"/>
          <p:nvPr/>
        </p:nvSpPr>
        <p:spPr>
          <a:xfrm>
            <a:off x="13103352" y="437997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8</a:t>
            </a:r>
          </a:p>
        </p:txBody>
      </p:sp>
      <p:sp>
        <p:nvSpPr>
          <p:cNvPr id="56" name="TextBox 55"/>
          <p:cNvSpPr txBox="1"/>
          <p:nvPr/>
        </p:nvSpPr>
        <p:spPr>
          <a:xfrm>
            <a:off x="15389351" y="437997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57" name="Rounded Rectangle 56"/>
          <p:cNvSpPr/>
          <p:nvPr/>
        </p:nvSpPr>
        <p:spPr>
          <a:xfrm>
            <a:off x="841248" y="4718304"/>
            <a:ext cx="16605504" cy="338328"/>
          </a:xfrm>
          <a:prstGeom prst="roundRect">
            <a:avLst/>
          </a:prstGeom>
          <a:solidFill>
            <a:srgbClr val="EDEAE3"/>
          </a:solidFill>
          <a:ln>
            <a:noFill/>
          </a:ln>
          <a:effectLst/>
        </p:spPr>
        <p:txBody>
          <a:bodyPr wrap="square" rtlCol="0" anchor="ctr"/>
          <a:lstStyle/>
          <a:p>
            <a:pPr algn="ctr"/>
            <a:endParaRPr/>
          </a:p>
        </p:txBody>
      </p:sp>
      <p:sp>
        <p:nvSpPr>
          <p:cNvPr id="58" name="TextBox 57"/>
          <p:cNvSpPr txBox="1"/>
          <p:nvPr/>
        </p:nvSpPr>
        <p:spPr>
          <a:xfrm>
            <a:off x="987552" y="4718304"/>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Cross-cutting, organisational</a:t>
            </a:r>
          </a:p>
        </p:txBody>
      </p:sp>
      <p:sp>
        <p:nvSpPr>
          <p:cNvPr id="59" name="TextBox 58"/>
          <p:cNvSpPr txBox="1"/>
          <p:nvPr/>
        </p:nvSpPr>
        <p:spPr>
          <a:xfrm>
            <a:off x="6245352" y="471830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60" name="TextBox 59"/>
          <p:cNvSpPr txBox="1"/>
          <p:nvPr/>
        </p:nvSpPr>
        <p:spPr>
          <a:xfrm>
            <a:off x="8531352" y="471830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61" name="TextBox 60"/>
          <p:cNvSpPr txBox="1"/>
          <p:nvPr/>
        </p:nvSpPr>
        <p:spPr>
          <a:xfrm>
            <a:off x="10817352" y="471830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62" name="TextBox 61"/>
          <p:cNvSpPr txBox="1"/>
          <p:nvPr/>
        </p:nvSpPr>
        <p:spPr>
          <a:xfrm>
            <a:off x="13103352" y="471830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7</a:t>
            </a:r>
          </a:p>
        </p:txBody>
      </p:sp>
      <p:sp>
        <p:nvSpPr>
          <p:cNvPr id="63" name="TextBox 62"/>
          <p:cNvSpPr txBox="1"/>
          <p:nvPr/>
        </p:nvSpPr>
        <p:spPr>
          <a:xfrm>
            <a:off x="15389351" y="471830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7</a:t>
            </a:r>
          </a:p>
        </p:txBody>
      </p:sp>
      <p:sp>
        <p:nvSpPr>
          <p:cNvPr id="64" name="TextBox 63"/>
          <p:cNvSpPr txBox="1"/>
          <p:nvPr/>
        </p:nvSpPr>
        <p:spPr>
          <a:xfrm>
            <a:off x="987552" y="5056632"/>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AI and agentic</a:t>
            </a:r>
          </a:p>
        </p:txBody>
      </p:sp>
      <p:sp>
        <p:nvSpPr>
          <p:cNvPr id="65" name="TextBox 64"/>
          <p:cNvSpPr txBox="1"/>
          <p:nvPr/>
        </p:nvSpPr>
        <p:spPr>
          <a:xfrm>
            <a:off x="6245352" y="505663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66" name="TextBox 65"/>
          <p:cNvSpPr txBox="1"/>
          <p:nvPr/>
        </p:nvSpPr>
        <p:spPr>
          <a:xfrm>
            <a:off x="8531352" y="505663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67" name="TextBox 66"/>
          <p:cNvSpPr txBox="1"/>
          <p:nvPr/>
        </p:nvSpPr>
        <p:spPr>
          <a:xfrm>
            <a:off x="10817352" y="505663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26</a:t>
            </a:r>
          </a:p>
        </p:txBody>
      </p:sp>
      <p:sp>
        <p:nvSpPr>
          <p:cNvPr id="68" name="TextBox 67"/>
          <p:cNvSpPr txBox="1"/>
          <p:nvPr/>
        </p:nvSpPr>
        <p:spPr>
          <a:xfrm>
            <a:off x="13103352" y="505663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15</a:t>
            </a:r>
          </a:p>
        </p:txBody>
      </p:sp>
      <p:sp>
        <p:nvSpPr>
          <p:cNvPr id="69" name="TextBox 68"/>
          <p:cNvSpPr txBox="1"/>
          <p:nvPr/>
        </p:nvSpPr>
        <p:spPr>
          <a:xfrm>
            <a:off x="15389351" y="505663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19</a:t>
            </a:r>
          </a:p>
        </p:txBody>
      </p:sp>
      <p:sp>
        <p:nvSpPr>
          <p:cNvPr id="70" name="Rounded Rectangle 69"/>
          <p:cNvSpPr/>
          <p:nvPr/>
        </p:nvSpPr>
        <p:spPr>
          <a:xfrm>
            <a:off x="841248" y="5394960"/>
            <a:ext cx="16605504" cy="338328"/>
          </a:xfrm>
          <a:prstGeom prst="roundRect">
            <a:avLst/>
          </a:prstGeom>
          <a:solidFill>
            <a:srgbClr val="EDEAE3"/>
          </a:solidFill>
          <a:ln>
            <a:noFill/>
          </a:ln>
          <a:effectLst/>
        </p:spPr>
        <p:txBody>
          <a:bodyPr wrap="square" rtlCol="0" anchor="ctr"/>
          <a:lstStyle/>
          <a:p>
            <a:pPr algn="ctr"/>
            <a:endParaRPr/>
          </a:p>
        </p:txBody>
      </p:sp>
      <p:sp>
        <p:nvSpPr>
          <p:cNvPr id="71" name="TextBox 70"/>
          <p:cNvSpPr txBox="1"/>
          <p:nvPr/>
        </p:nvSpPr>
        <p:spPr>
          <a:xfrm>
            <a:off x="987552" y="5394960"/>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Cloud</a:t>
            </a:r>
          </a:p>
        </p:txBody>
      </p:sp>
      <p:sp>
        <p:nvSpPr>
          <p:cNvPr id="72" name="TextBox 71"/>
          <p:cNvSpPr txBox="1"/>
          <p:nvPr/>
        </p:nvSpPr>
        <p:spPr>
          <a:xfrm>
            <a:off x="6245352" y="539496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73" name="TextBox 72"/>
          <p:cNvSpPr txBox="1"/>
          <p:nvPr/>
        </p:nvSpPr>
        <p:spPr>
          <a:xfrm>
            <a:off x="8531352" y="539496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74" name="TextBox 73"/>
          <p:cNvSpPr txBox="1"/>
          <p:nvPr/>
        </p:nvSpPr>
        <p:spPr>
          <a:xfrm>
            <a:off x="10817352" y="539496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n/a</a:t>
            </a:r>
          </a:p>
        </p:txBody>
      </p:sp>
      <p:sp>
        <p:nvSpPr>
          <p:cNvPr id="75" name="TextBox 74"/>
          <p:cNvSpPr txBox="1"/>
          <p:nvPr/>
        </p:nvSpPr>
        <p:spPr>
          <a:xfrm>
            <a:off x="13103352" y="539496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76" name="TextBox 75"/>
          <p:cNvSpPr txBox="1"/>
          <p:nvPr/>
        </p:nvSpPr>
        <p:spPr>
          <a:xfrm>
            <a:off x="15389351" y="5394960"/>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4</a:t>
            </a:r>
          </a:p>
        </p:txBody>
      </p:sp>
      <p:sp>
        <p:nvSpPr>
          <p:cNvPr id="77" name="TextBox 76"/>
          <p:cNvSpPr txBox="1"/>
          <p:nvPr/>
        </p:nvSpPr>
        <p:spPr>
          <a:xfrm>
            <a:off x="987552" y="5733288"/>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Container</a:t>
            </a:r>
          </a:p>
        </p:txBody>
      </p:sp>
      <p:sp>
        <p:nvSpPr>
          <p:cNvPr id="78" name="TextBox 77"/>
          <p:cNvSpPr txBox="1"/>
          <p:nvPr/>
        </p:nvSpPr>
        <p:spPr>
          <a:xfrm>
            <a:off x="6245352" y="573328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79" name="TextBox 78"/>
          <p:cNvSpPr txBox="1"/>
          <p:nvPr/>
        </p:nvSpPr>
        <p:spPr>
          <a:xfrm>
            <a:off x="8531352" y="573328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80" name="TextBox 79"/>
          <p:cNvSpPr txBox="1"/>
          <p:nvPr/>
        </p:nvSpPr>
        <p:spPr>
          <a:xfrm>
            <a:off x="10817352" y="573328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n/a</a:t>
            </a:r>
          </a:p>
        </p:txBody>
      </p:sp>
      <p:sp>
        <p:nvSpPr>
          <p:cNvPr id="81" name="TextBox 80"/>
          <p:cNvSpPr txBox="1"/>
          <p:nvPr/>
        </p:nvSpPr>
        <p:spPr>
          <a:xfrm>
            <a:off x="13103352" y="573328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82" name="TextBox 81"/>
          <p:cNvSpPr txBox="1"/>
          <p:nvPr/>
        </p:nvSpPr>
        <p:spPr>
          <a:xfrm>
            <a:off x="15389351" y="5733288"/>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6</a:t>
            </a:r>
          </a:p>
        </p:txBody>
      </p:sp>
      <p:sp>
        <p:nvSpPr>
          <p:cNvPr id="83" name="Rounded Rectangle 82"/>
          <p:cNvSpPr/>
          <p:nvPr/>
        </p:nvSpPr>
        <p:spPr>
          <a:xfrm>
            <a:off x="841248" y="6071616"/>
            <a:ext cx="16605504" cy="338328"/>
          </a:xfrm>
          <a:prstGeom prst="roundRect">
            <a:avLst/>
          </a:prstGeom>
          <a:solidFill>
            <a:srgbClr val="EDEAE3"/>
          </a:solidFill>
          <a:ln>
            <a:noFill/>
          </a:ln>
          <a:effectLst/>
        </p:spPr>
        <p:txBody>
          <a:bodyPr wrap="square" rtlCol="0" anchor="ctr"/>
          <a:lstStyle/>
          <a:p>
            <a:pPr algn="ctr"/>
            <a:endParaRPr/>
          </a:p>
        </p:txBody>
      </p:sp>
      <p:sp>
        <p:nvSpPr>
          <p:cNvPr id="84" name="TextBox 83"/>
          <p:cNvSpPr txBox="1"/>
          <p:nvPr/>
        </p:nvSpPr>
        <p:spPr>
          <a:xfrm>
            <a:off x="987552" y="6071616"/>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Recovery and resilience</a:t>
            </a:r>
          </a:p>
        </p:txBody>
      </p:sp>
      <p:sp>
        <p:nvSpPr>
          <p:cNvPr id="85" name="TextBox 84"/>
          <p:cNvSpPr txBox="1"/>
          <p:nvPr/>
        </p:nvSpPr>
        <p:spPr>
          <a:xfrm>
            <a:off x="6245352" y="607161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86" name="TextBox 85"/>
          <p:cNvSpPr txBox="1"/>
          <p:nvPr/>
        </p:nvSpPr>
        <p:spPr>
          <a:xfrm>
            <a:off x="8531352" y="607161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0</a:t>
            </a:r>
          </a:p>
        </p:txBody>
      </p:sp>
      <p:sp>
        <p:nvSpPr>
          <p:cNvPr id="87" name="TextBox 86"/>
          <p:cNvSpPr txBox="1"/>
          <p:nvPr/>
        </p:nvSpPr>
        <p:spPr>
          <a:xfrm>
            <a:off x="10817352" y="607161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3</a:t>
            </a:r>
          </a:p>
        </p:txBody>
      </p:sp>
      <p:sp>
        <p:nvSpPr>
          <p:cNvPr id="88" name="TextBox 87"/>
          <p:cNvSpPr txBox="1"/>
          <p:nvPr/>
        </p:nvSpPr>
        <p:spPr>
          <a:xfrm>
            <a:off x="13103352" y="607161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a:t>
            </a:r>
          </a:p>
        </p:txBody>
      </p:sp>
      <p:sp>
        <p:nvSpPr>
          <p:cNvPr id="89" name="TextBox 88"/>
          <p:cNvSpPr txBox="1"/>
          <p:nvPr/>
        </p:nvSpPr>
        <p:spPr>
          <a:xfrm>
            <a:off x="15389351" y="6071616"/>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3</a:t>
            </a:r>
          </a:p>
        </p:txBody>
      </p:sp>
      <p:sp>
        <p:nvSpPr>
          <p:cNvPr id="90" name="TextBox 89"/>
          <p:cNvSpPr txBox="1"/>
          <p:nvPr/>
        </p:nvSpPr>
        <p:spPr>
          <a:xfrm>
            <a:off x="987552" y="6409944"/>
            <a:ext cx="5029200" cy="338328"/>
          </a:xfrm>
          <a:prstGeom prst="rect">
            <a:avLst/>
          </a:prstGeom>
          <a:noFill/>
        </p:spPr>
        <p:txBody>
          <a:bodyPr wrap="square" lIns="0" tIns="0" rIns="0" bIns="0" anchor="ctr">
            <a:spAutoFit/>
          </a:bodyPr>
          <a:lstStyle/>
          <a:p>
            <a:pPr algn="l">
              <a:lnSpc>
                <a:spcPts val="1593"/>
              </a:lnSpc>
              <a:spcAft>
                <a:spcPts val="0"/>
              </a:spcAft>
            </a:pPr>
            <a:r>
              <a:rPr sz="1350" b="0">
                <a:solidFill>
                  <a:srgbClr val="1A1F29"/>
                </a:solidFill>
                <a:latin typeface="Arial"/>
              </a:rPr>
              <a:t>Design flaws, its own bucket</a:t>
            </a:r>
          </a:p>
        </p:txBody>
      </p:sp>
      <p:sp>
        <p:nvSpPr>
          <p:cNvPr id="91" name="TextBox 90"/>
          <p:cNvSpPr txBox="1"/>
          <p:nvPr/>
        </p:nvSpPr>
        <p:spPr>
          <a:xfrm>
            <a:off x="8531352" y="6409944"/>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9</a:t>
            </a:r>
          </a:p>
        </p:txBody>
      </p:sp>
      <p:sp>
        <p:nvSpPr>
          <p:cNvPr id="92" name="Rounded Rectangle 91"/>
          <p:cNvSpPr/>
          <p:nvPr/>
        </p:nvSpPr>
        <p:spPr>
          <a:xfrm>
            <a:off x="841248" y="6748272"/>
            <a:ext cx="16605504" cy="338328"/>
          </a:xfrm>
          <a:prstGeom prst="roundRect">
            <a:avLst/>
          </a:prstGeom>
          <a:solidFill>
            <a:srgbClr val="E4E0D7"/>
          </a:solidFill>
          <a:ln>
            <a:noFill/>
          </a:ln>
          <a:effectLst/>
        </p:spPr>
        <p:txBody>
          <a:bodyPr wrap="square" rtlCol="0" anchor="ctr"/>
          <a:lstStyle/>
          <a:p>
            <a:pPr algn="ctr"/>
            <a:endParaRPr/>
          </a:p>
        </p:txBody>
      </p:sp>
      <p:sp>
        <p:nvSpPr>
          <p:cNvPr id="93" name="TextBox 92"/>
          <p:cNvSpPr txBox="1"/>
          <p:nvPr/>
        </p:nvSpPr>
        <p:spPr>
          <a:xfrm>
            <a:off x="987552" y="6748272"/>
            <a:ext cx="5029200" cy="338328"/>
          </a:xfrm>
          <a:prstGeom prst="rect">
            <a:avLst/>
          </a:prstGeom>
          <a:noFill/>
        </p:spPr>
        <p:txBody>
          <a:bodyPr wrap="square" lIns="0" tIns="0" rIns="0" bIns="0" anchor="ctr">
            <a:spAutoFit/>
          </a:bodyPr>
          <a:lstStyle/>
          <a:p>
            <a:pPr algn="l">
              <a:lnSpc>
                <a:spcPts val="1593"/>
              </a:lnSpc>
              <a:spcAft>
                <a:spcPts val="0"/>
              </a:spcAft>
            </a:pPr>
            <a:r>
              <a:rPr sz="1350" b="1">
                <a:solidFill>
                  <a:srgbClr val="1A1F29"/>
                </a:solidFill>
                <a:latin typeface="Arial"/>
              </a:rPr>
              <a:t>Total</a:t>
            </a:r>
          </a:p>
        </p:txBody>
      </p:sp>
      <p:sp>
        <p:nvSpPr>
          <p:cNvPr id="94" name="TextBox 93"/>
          <p:cNvSpPr txBox="1"/>
          <p:nvPr/>
        </p:nvSpPr>
        <p:spPr>
          <a:xfrm>
            <a:off x="6245352" y="674827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13</a:t>
            </a:r>
          </a:p>
        </p:txBody>
      </p:sp>
      <p:sp>
        <p:nvSpPr>
          <p:cNvPr id="95" name="TextBox 94"/>
          <p:cNvSpPr txBox="1"/>
          <p:nvPr/>
        </p:nvSpPr>
        <p:spPr>
          <a:xfrm>
            <a:off x="8531352" y="674827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35</a:t>
            </a:r>
          </a:p>
        </p:txBody>
      </p:sp>
      <p:sp>
        <p:nvSpPr>
          <p:cNvPr id="96" name="TextBox 95"/>
          <p:cNvSpPr txBox="1"/>
          <p:nvPr/>
        </p:nvSpPr>
        <p:spPr>
          <a:xfrm>
            <a:off x="10817352" y="674827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74</a:t>
            </a:r>
          </a:p>
        </p:txBody>
      </p:sp>
      <p:sp>
        <p:nvSpPr>
          <p:cNvPr id="97" name="TextBox 96"/>
          <p:cNvSpPr txBox="1"/>
          <p:nvPr/>
        </p:nvSpPr>
        <p:spPr>
          <a:xfrm>
            <a:off x="13103352" y="6748272"/>
            <a:ext cx="1984248" cy="338328"/>
          </a:xfrm>
          <a:prstGeom prst="rect">
            <a:avLst/>
          </a:prstGeom>
          <a:noFill/>
        </p:spPr>
        <p:txBody>
          <a:bodyPr wrap="square" lIns="0" tIns="0" rIns="0" bIns="0" anchor="ctr">
            <a:spAutoFit/>
          </a:bodyPr>
          <a:lstStyle/>
          <a:p>
            <a:pPr algn="ctr">
              <a:lnSpc>
                <a:spcPts val="1593"/>
              </a:lnSpc>
              <a:spcAft>
                <a:spcPts val="0"/>
              </a:spcAft>
            </a:pPr>
            <a:r>
              <a:rPr sz="1350" b="0">
                <a:solidFill>
                  <a:srgbClr val="1A1F29"/>
                </a:solidFill>
                <a:latin typeface="Arial"/>
              </a:rPr>
              <a:t>71</a:t>
            </a:r>
          </a:p>
        </p:txBody>
      </p:sp>
      <p:sp>
        <p:nvSpPr>
          <p:cNvPr id="98" name="Rounded Rectangle 97"/>
          <p:cNvSpPr/>
          <p:nvPr/>
        </p:nvSpPr>
        <p:spPr>
          <a:xfrm>
            <a:off x="16054189" y="6761988"/>
            <a:ext cx="654572"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99" name="TextBox 98"/>
          <p:cNvSpPr txBox="1"/>
          <p:nvPr/>
        </p:nvSpPr>
        <p:spPr>
          <a:xfrm>
            <a:off x="15389351" y="6748272"/>
            <a:ext cx="1984248" cy="338328"/>
          </a:xfrm>
          <a:prstGeom prst="rect">
            <a:avLst/>
          </a:prstGeom>
          <a:noFill/>
        </p:spPr>
        <p:txBody>
          <a:bodyPr wrap="square" lIns="0" tIns="0" rIns="0" bIns="0" anchor="ctr">
            <a:spAutoFit/>
          </a:bodyPr>
          <a:lstStyle/>
          <a:p>
            <a:pPr algn="ctr">
              <a:lnSpc>
                <a:spcPts val="1593"/>
              </a:lnSpc>
              <a:spcAft>
                <a:spcPts val="0"/>
              </a:spcAft>
            </a:pPr>
            <a:r>
              <a:rPr sz="1350" b="1">
                <a:solidFill>
                  <a:srgbClr val="FFFFFF"/>
                </a:solidFill>
                <a:latin typeface="Arial"/>
              </a:rPr>
              <a:t>75</a:t>
            </a:r>
          </a:p>
        </p:txBody>
      </p:sp>
      <p:sp>
        <p:nvSpPr>
          <p:cNvPr id="100" name="TextBox 99"/>
          <p:cNvSpPr txBox="1"/>
          <p:nvPr/>
        </p:nvSpPr>
        <p:spPr>
          <a:xfrm>
            <a:off x="841248" y="7306056"/>
            <a:ext cx="16605504" cy="734695"/>
          </a:xfrm>
          <a:prstGeom prst="rect">
            <a:avLst/>
          </a:prstGeom>
          <a:noFill/>
        </p:spPr>
        <p:txBody>
          <a:bodyPr wrap="square" lIns="0" tIns="0" rIns="0" bIns="0" anchor="t">
            <a:spAutoFit/>
          </a:bodyPr>
          <a:lstStyle/>
          <a:p>
            <a:pPr algn="l">
              <a:lnSpc>
                <a:spcPts val="1475"/>
              </a:lnSpc>
              <a:spcAft>
                <a:spcPts val="0"/>
              </a:spcAft>
            </a:pPr>
            <a:r>
              <a:rPr sz="1250" b="0">
                <a:solidFill>
                  <a:srgbClr val="606978"/>
                </a:solidFill>
                <a:latin typeface="Arial"/>
              </a:rPr>
              <a:t>* The weak model does use STRIDE headings. Only its numbering is flat: all thirteen are S-1 to S-13 whatever the category.</a:t>
            </a:r>
          </a:p>
          <a:p>
            <a:pPr algn="l">
              <a:lnSpc>
                <a:spcPts val="1475"/>
              </a:lnSpc>
              <a:spcBef>
                <a:spcPts val="500"/>
              </a:spcBef>
              <a:spcAft>
                <a:spcPts val="0"/>
              </a:spcAft>
            </a:pPr>
            <a:r>
              <a:rPr sz="1250" b="0">
                <a:solidFill>
                  <a:srgbClr val="606978"/>
                </a:solidFill>
                <a:latin typeface="Arial"/>
              </a:rPr>
              <a:t>Thin has no cloud or container findings because it was given no infrastructure definitions. That is the experiment, not a deficiency.</a:t>
            </a:r>
          </a:p>
          <a:p>
            <a:pPr algn="l">
              <a:lnSpc>
                <a:spcPts val="1475"/>
              </a:lnSpc>
              <a:spcBef>
                <a:spcPts val="500"/>
              </a:spcBef>
              <a:spcAft>
                <a:spcPts val="0"/>
              </a:spcAft>
            </a:pPr>
            <a:r>
              <a:rPr sz="1250" b="0">
                <a:solidFill>
                  <a:srgbClr val="606978"/>
                </a:solidFill>
                <a:latin typeface="Arial"/>
              </a:rPr>
              <a:t>Counted from finding headings. The weak skill did find agentic threats: its S1 is indirect prompt injection, rated Critical, filed under Spoofing. Tampering would have been defensible. Spoofing is identity, and is not.</a:t>
            </a:r>
          </a:p>
        </p:txBody>
      </p:sp>
      <p:sp>
        <p:nvSpPr>
          <p:cNvPr id="101" name="Rectangle 100"/>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102" name="TextBox 101"/>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STRIDE has no letter for cloud or container. It does have one for prompt injection, and the weak skill still filed that under Spoofing.</a:t>
            </a:r>
          </a:p>
        </p:txBody>
      </p:sp>
      <p:sp>
        <p:nvSpPr>
          <p:cNvPr id="103" name="TextBox 102"/>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08      Security Champion Summit 2026      Brett Crawley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DID IT READ, JOIN AND REASON, AND CAN YOU USE THE RESULT</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Reading the repository well is not the same as being useful.</a:t>
            </a:r>
          </a:p>
        </p:txBody>
      </p:sp>
      <p:sp>
        <p:nvSpPr>
          <p:cNvPr id="5" name="Rounded Rectangle 4"/>
          <p:cNvSpPr/>
          <p:nvPr/>
        </p:nvSpPr>
        <p:spPr>
          <a:xfrm>
            <a:off x="841248" y="2103120"/>
            <a:ext cx="16605504" cy="548640"/>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2816352" y="2103120"/>
            <a:ext cx="1481328" cy="548640"/>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DRIFT /8</a:t>
            </a:r>
          </a:p>
        </p:txBody>
      </p:sp>
      <p:sp>
        <p:nvSpPr>
          <p:cNvPr id="7" name="TextBox 6"/>
          <p:cNvSpPr txBox="1"/>
          <p:nvPr/>
        </p:nvSpPr>
        <p:spPr>
          <a:xfrm>
            <a:off x="4535424" y="2103120"/>
            <a:ext cx="2057400" cy="548640"/>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COMPOSITION /5</a:t>
            </a:r>
          </a:p>
        </p:txBody>
      </p:sp>
      <p:sp>
        <p:nvSpPr>
          <p:cNvPr id="8" name="TextBox 7"/>
          <p:cNvSpPr txBox="1"/>
          <p:nvPr/>
        </p:nvSpPr>
        <p:spPr>
          <a:xfrm>
            <a:off x="6821424" y="2103120"/>
            <a:ext cx="1673352" cy="548640"/>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REASONING /3</a:t>
            </a:r>
          </a:p>
        </p:txBody>
      </p:sp>
      <p:sp>
        <p:nvSpPr>
          <p:cNvPr id="9" name="TextBox 8"/>
          <p:cNvSpPr txBox="1"/>
          <p:nvPr/>
        </p:nvSpPr>
        <p:spPr>
          <a:xfrm>
            <a:off x="8723376" y="2103120"/>
            <a:ext cx="1481328" cy="548640"/>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FINDINGS</a:t>
            </a:r>
          </a:p>
        </p:txBody>
      </p:sp>
      <p:sp>
        <p:nvSpPr>
          <p:cNvPr id="10" name="TextBox 9"/>
          <p:cNvSpPr txBox="1"/>
          <p:nvPr/>
        </p:nvSpPr>
        <p:spPr>
          <a:xfrm>
            <a:off x="10442448" y="2103120"/>
            <a:ext cx="6949440" cy="548640"/>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WHAT YOU CAN DO WITH IT</a:t>
            </a:r>
          </a:p>
        </p:txBody>
      </p:sp>
      <p:sp>
        <p:nvSpPr>
          <p:cNvPr id="11" name="TextBox 10"/>
          <p:cNvSpPr txBox="1"/>
          <p:nvPr/>
        </p:nvSpPr>
        <p:spPr>
          <a:xfrm>
            <a:off x="987552" y="2651760"/>
            <a:ext cx="1645920" cy="548640"/>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model</a:t>
            </a:r>
          </a:p>
        </p:txBody>
      </p:sp>
      <p:sp>
        <p:nvSpPr>
          <p:cNvPr id="12" name="TextBox 11"/>
          <p:cNvSpPr txBox="1"/>
          <p:nvPr/>
        </p:nvSpPr>
        <p:spPr>
          <a:xfrm>
            <a:off x="2816352" y="2651760"/>
            <a:ext cx="1481328"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4.5</a:t>
            </a:r>
          </a:p>
        </p:txBody>
      </p:sp>
      <p:sp>
        <p:nvSpPr>
          <p:cNvPr id="13" name="TextBox 12"/>
          <p:cNvSpPr txBox="1"/>
          <p:nvPr/>
        </p:nvSpPr>
        <p:spPr>
          <a:xfrm>
            <a:off x="4535424" y="2651760"/>
            <a:ext cx="2057400"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0.5</a:t>
            </a:r>
          </a:p>
        </p:txBody>
      </p:sp>
      <p:sp>
        <p:nvSpPr>
          <p:cNvPr id="14" name="TextBox 13"/>
          <p:cNvSpPr txBox="1"/>
          <p:nvPr/>
        </p:nvSpPr>
        <p:spPr>
          <a:xfrm>
            <a:off x="6821424" y="2651760"/>
            <a:ext cx="1673352"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0.0</a:t>
            </a:r>
          </a:p>
        </p:txBody>
      </p:sp>
      <p:sp>
        <p:nvSpPr>
          <p:cNvPr id="15" name="TextBox 14"/>
          <p:cNvSpPr txBox="1"/>
          <p:nvPr/>
        </p:nvSpPr>
        <p:spPr>
          <a:xfrm>
            <a:off x="8723376" y="2651760"/>
            <a:ext cx="1481328"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13</a:t>
            </a:r>
          </a:p>
        </p:txBody>
      </p:sp>
      <p:sp>
        <p:nvSpPr>
          <p:cNvPr id="16" name="TextBox 15"/>
          <p:cNvSpPr txBox="1"/>
          <p:nvPr/>
        </p:nvSpPr>
        <p:spPr>
          <a:xfrm>
            <a:off x="10442448" y="2651760"/>
            <a:ext cx="6949440" cy="548640"/>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Three of the thirteen tell you where to look. Not one tells you what to do.</a:t>
            </a:r>
          </a:p>
        </p:txBody>
      </p:sp>
      <p:sp>
        <p:nvSpPr>
          <p:cNvPr id="17" name="Rounded Rectangle 16"/>
          <p:cNvSpPr/>
          <p:nvPr/>
        </p:nvSpPr>
        <p:spPr>
          <a:xfrm>
            <a:off x="841248" y="3200400"/>
            <a:ext cx="16605504" cy="548640"/>
          </a:xfrm>
          <a:prstGeom prst="roundRect">
            <a:avLst/>
          </a:prstGeom>
          <a:solidFill>
            <a:srgbClr val="EDEAE3"/>
          </a:solidFill>
          <a:ln>
            <a:noFill/>
          </a:ln>
          <a:effectLst/>
        </p:spPr>
        <p:txBody>
          <a:bodyPr wrap="square" rtlCol="0" anchor="ctr"/>
          <a:lstStyle/>
          <a:p>
            <a:pPr algn="ctr"/>
            <a:endParaRPr/>
          </a:p>
        </p:txBody>
      </p:sp>
      <p:sp>
        <p:nvSpPr>
          <p:cNvPr id="18" name="TextBox 17"/>
          <p:cNvSpPr txBox="1"/>
          <p:nvPr/>
        </p:nvSpPr>
        <p:spPr>
          <a:xfrm>
            <a:off x="987552" y="3200400"/>
            <a:ext cx="1645920" cy="548640"/>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skill</a:t>
            </a:r>
          </a:p>
        </p:txBody>
      </p:sp>
      <p:sp>
        <p:nvSpPr>
          <p:cNvPr id="19" name="TextBox 18"/>
          <p:cNvSpPr txBox="1"/>
          <p:nvPr/>
        </p:nvSpPr>
        <p:spPr>
          <a:xfrm>
            <a:off x="2816352" y="3200400"/>
            <a:ext cx="1481328"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8.0</a:t>
            </a:r>
          </a:p>
        </p:txBody>
      </p:sp>
      <p:sp>
        <p:nvSpPr>
          <p:cNvPr id="20" name="TextBox 19"/>
          <p:cNvSpPr txBox="1"/>
          <p:nvPr/>
        </p:nvSpPr>
        <p:spPr>
          <a:xfrm>
            <a:off x="4535424" y="3200400"/>
            <a:ext cx="2057400"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5.0</a:t>
            </a:r>
          </a:p>
        </p:txBody>
      </p:sp>
      <p:sp>
        <p:nvSpPr>
          <p:cNvPr id="21" name="TextBox 20"/>
          <p:cNvSpPr txBox="1"/>
          <p:nvPr/>
        </p:nvSpPr>
        <p:spPr>
          <a:xfrm>
            <a:off x="6821424" y="3200400"/>
            <a:ext cx="1673352"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1.0</a:t>
            </a:r>
          </a:p>
        </p:txBody>
      </p:sp>
      <p:sp>
        <p:nvSpPr>
          <p:cNvPr id="22" name="TextBox 21"/>
          <p:cNvSpPr txBox="1"/>
          <p:nvPr/>
        </p:nvSpPr>
        <p:spPr>
          <a:xfrm>
            <a:off x="8723376" y="3200400"/>
            <a:ext cx="1481328"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35</a:t>
            </a:r>
          </a:p>
        </p:txBody>
      </p:sp>
      <p:sp>
        <p:nvSpPr>
          <p:cNvPr id="23" name="TextBox 22"/>
          <p:cNvSpPr txBox="1"/>
          <p:nvPr/>
        </p:nvSpPr>
        <p:spPr>
          <a:xfrm>
            <a:off x="10442448" y="3200400"/>
            <a:ext cx="6949440" cy="548640"/>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Seven in ten name a file. Not one of the 35 names a line.</a:t>
            </a:r>
          </a:p>
        </p:txBody>
      </p:sp>
      <p:sp>
        <p:nvSpPr>
          <p:cNvPr id="24" name="TextBox 23"/>
          <p:cNvSpPr txBox="1"/>
          <p:nvPr/>
        </p:nvSpPr>
        <p:spPr>
          <a:xfrm>
            <a:off x="987552" y="3749039"/>
            <a:ext cx="1645920" cy="76047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thin</a:t>
            </a:r>
          </a:p>
        </p:txBody>
      </p:sp>
      <p:sp>
        <p:nvSpPr>
          <p:cNvPr id="25" name="TextBox 24"/>
          <p:cNvSpPr txBox="1"/>
          <p:nvPr/>
        </p:nvSpPr>
        <p:spPr>
          <a:xfrm>
            <a:off x="2816352" y="3749039"/>
            <a:ext cx="1481328"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2.0</a:t>
            </a:r>
          </a:p>
        </p:txBody>
      </p:sp>
      <p:sp>
        <p:nvSpPr>
          <p:cNvPr id="26" name="TextBox 25"/>
          <p:cNvSpPr txBox="1"/>
          <p:nvPr/>
        </p:nvSpPr>
        <p:spPr>
          <a:xfrm>
            <a:off x="4535424" y="3749039"/>
            <a:ext cx="2057400"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1.0</a:t>
            </a:r>
          </a:p>
        </p:txBody>
      </p:sp>
      <p:sp>
        <p:nvSpPr>
          <p:cNvPr id="27" name="TextBox 26"/>
          <p:cNvSpPr txBox="1"/>
          <p:nvPr/>
        </p:nvSpPr>
        <p:spPr>
          <a:xfrm>
            <a:off x="6821424" y="3749039"/>
            <a:ext cx="1673352"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1.5</a:t>
            </a:r>
          </a:p>
        </p:txBody>
      </p:sp>
      <p:sp>
        <p:nvSpPr>
          <p:cNvPr id="28" name="TextBox 27"/>
          <p:cNvSpPr txBox="1"/>
          <p:nvPr/>
        </p:nvSpPr>
        <p:spPr>
          <a:xfrm>
            <a:off x="8723376" y="3749039"/>
            <a:ext cx="1481328"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74</a:t>
            </a:r>
          </a:p>
        </p:txBody>
      </p:sp>
      <p:sp>
        <p:nvSpPr>
          <p:cNvPr id="29" name="TextBox 28"/>
          <p:cNvSpPr txBox="1"/>
          <p:nvPr/>
        </p:nvSpPr>
        <p:spPr>
          <a:xfrm>
            <a:off x="10442448" y="3749039"/>
            <a:ext cx="6949440" cy="76047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Every finding carries a worked attack and a fix. None names a repository file, by design.</a:t>
            </a:r>
          </a:p>
        </p:txBody>
      </p:sp>
      <p:sp>
        <p:nvSpPr>
          <p:cNvPr id="30" name="Rounded Rectangle 29"/>
          <p:cNvSpPr/>
          <p:nvPr/>
        </p:nvSpPr>
        <p:spPr>
          <a:xfrm>
            <a:off x="841248" y="4509516"/>
            <a:ext cx="16605504" cy="760476"/>
          </a:xfrm>
          <a:prstGeom prst="roundRect">
            <a:avLst/>
          </a:prstGeom>
          <a:solidFill>
            <a:srgbClr val="EDEAE3"/>
          </a:solidFill>
          <a:ln>
            <a:noFill/>
          </a:ln>
          <a:effectLst/>
        </p:spPr>
        <p:txBody>
          <a:bodyPr wrap="square" rtlCol="0" anchor="ctr"/>
          <a:lstStyle/>
          <a:p>
            <a:pPr algn="ctr"/>
            <a:endParaRPr/>
          </a:p>
        </p:txBody>
      </p:sp>
      <p:sp>
        <p:nvSpPr>
          <p:cNvPr id="31" name="TextBox 30"/>
          <p:cNvSpPr txBox="1"/>
          <p:nvPr/>
        </p:nvSpPr>
        <p:spPr>
          <a:xfrm>
            <a:off x="987552" y="4509516"/>
            <a:ext cx="1645920" cy="76047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 repo</a:t>
            </a:r>
          </a:p>
        </p:txBody>
      </p:sp>
      <p:sp>
        <p:nvSpPr>
          <p:cNvPr id="32" name="TextBox 31"/>
          <p:cNvSpPr txBox="1"/>
          <p:nvPr/>
        </p:nvSpPr>
        <p:spPr>
          <a:xfrm>
            <a:off x="2816352" y="4509516"/>
            <a:ext cx="1481328"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3.5</a:t>
            </a:r>
          </a:p>
        </p:txBody>
      </p:sp>
      <p:sp>
        <p:nvSpPr>
          <p:cNvPr id="33" name="TextBox 32"/>
          <p:cNvSpPr txBox="1"/>
          <p:nvPr/>
        </p:nvSpPr>
        <p:spPr>
          <a:xfrm>
            <a:off x="4535424" y="4509516"/>
            <a:ext cx="2057400"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1.0</a:t>
            </a:r>
          </a:p>
        </p:txBody>
      </p:sp>
      <p:sp>
        <p:nvSpPr>
          <p:cNvPr id="34" name="TextBox 33"/>
          <p:cNvSpPr txBox="1"/>
          <p:nvPr/>
        </p:nvSpPr>
        <p:spPr>
          <a:xfrm>
            <a:off x="6821424" y="4509516"/>
            <a:ext cx="1673352"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1.5</a:t>
            </a:r>
          </a:p>
        </p:txBody>
      </p:sp>
      <p:sp>
        <p:nvSpPr>
          <p:cNvPr id="35" name="TextBox 34"/>
          <p:cNvSpPr txBox="1"/>
          <p:nvPr/>
        </p:nvSpPr>
        <p:spPr>
          <a:xfrm>
            <a:off x="8723376" y="4509516"/>
            <a:ext cx="1481328" cy="76047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71</a:t>
            </a:r>
          </a:p>
        </p:txBody>
      </p:sp>
      <p:sp>
        <p:nvSpPr>
          <p:cNvPr id="36" name="TextBox 35"/>
          <p:cNvSpPr txBox="1"/>
          <p:nvPr/>
        </p:nvSpPr>
        <p:spPr>
          <a:xfrm>
            <a:off x="10442448" y="4509516"/>
            <a:ext cx="6949440" cy="76047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Every finding carries the full template, and eleven name the artefact that would settle them.</a:t>
            </a:r>
          </a:p>
        </p:txBody>
      </p:sp>
      <p:sp>
        <p:nvSpPr>
          <p:cNvPr id="37" name="Rounded Rectangle 36"/>
          <p:cNvSpPr/>
          <p:nvPr/>
        </p:nvSpPr>
        <p:spPr>
          <a:xfrm>
            <a:off x="841248" y="5269992"/>
            <a:ext cx="16605504" cy="548640"/>
          </a:xfrm>
          <a:prstGeom prst="roundRect">
            <a:avLst/>
          </a:prstGeom>
          <a:solidFill>
            <a:srgbClr val="E4E0D7"/>
          </a:solidFill>
          <a:ln>
            <a:noFill/>
          </a:ln>
          <a:effectLst/>
        </p:spPr>
        <p:txBody>
          <a:bodyPr wrap="square" rtlCol="0" anchor="ctr"/>
          <a:lstStyle/>
          <a:p>
            <a:pPr algn="ctr"/>
            <a:endParaRPr/>
          </a:p>
        </p:txBody>
      </p:sp>
      <p:sp>
        <p:nvSpPr>
          <p:cNvPr id="38" name="TextBox 37"/>
          <p:cNvSpPr txBox="1"/>
          <p:nvPr/>
        </p:nvSpPr>
        <p:spPr>
          <a:xfrm>
            <a:off x="987552" y="5269992"/>
            <a:ext cx="1645920" cy="548640"/>
          </a:xfrm>
          <a:prstGeom prst="rect">
            <a:avLst/>
          </a:prstGeom>
          <a:noFill/>
        </p:spPr>
        <p:txBody>
          <a:bodyPr wrap="square" lIns="0" tIns="0" rIns="0" bIns="0" anchor="ctr">
            <a:spAutoFit/>
          </a:bodyPr>
          <a:lstStyle/>
          <a:p>
            <a:pPr algn="l">
              <a:lnSpc>
                <a:spcPts val="1770"/>
              </a:lnSpc>
              <a:spcAft>
                <a:spcPts val="0"/>
              </a:spcAft>
            </a:pPr>
            <a:r>
              <a:rPr sz="1500" b="1">
                <a:solidFill>
                  <a:srgbClr val="1A1F29"/>
                </a:solidFill>
                <a:latin typeface="Arial"/>
              </a:rPr>
              <a:t>everything</a:t>
            </a:r>
          </a:p>
        </p:txBody>
      </p:sp>
      <p:sp>
        <p:nvSpPr>
          <p:cNvPr id="39" name="Rounded Rectangle 38"/>
          <p:cNvSpPr/>
          <p:nvPr/>
        </p:nvSpPr>
        <p:spPr>
          <a:xfrm>
            <a:off x="3191348" y="5388864"/>
            <a:ext cx="731334"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0" name="TextBox 39"/>
          <p:cNvSpPr txBox="1"/>
          <p:nvPr/>
        </p:nvSpPr>
        <p:spPr>
          <a:xfrm>
            <a:off x="2816352" y="5269992"/>
            <a:ext cx="1481328" cy="548640"/>
          </a:xfrm>
          <a:prstGeom prst="rect">
            <a:avLst/>
          </a:prstGeom>
          <a:noFill/>
        </p:spPr>
        <p:txBody>
          <a:bodyPr wrap="square" lIns="0" tIns="0" rIns="0" bIns="0" anchor="ctr">
            <a:spAutoFit/>
          </a:bodyPr>
          <a:lstStyle/>
          <a:p>
            <a:pPr algn="ctr">
              <a:lnSpc>
                <a:spcPts val="1770"/>
              </a:lnSpc>
              <a:spcAft>
                <a:spcPts val="0"/>
              </a:spcAft>
            </a:pPr>
            <a:r>
              <a:rPr sz="1500" b="1">
                <a:solidFill>
                  <a:srgbClr val="FFFFFF"/>
                </a:solidFill>
                <a:latin typeface="Arial"/>
              </a:rPr>
              <a:t>8.0</a:t>
            </a:r>
          </a:p>
        </p:txBody>
      </p:sp>
      <p:sp>
        <p:nvSpPr>
          <p:cNvPr id="41" name="Rounded Rectangle 40"/>
          <p:cNvSpPr/>
          <p:nvPr/>
        </p:nvSpPr>
        <p:spPr>
          <a:xfrm>
            <a:off x="5198456" y="5388864"/>
            <a:ext cx="731334"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2" name="TextBox 41"/>
          <p:cNvSpPr txBox="1"/>
          <p:nvPr/>
        </p:nvSpPr>
        <p:spPr>
          <a:xfrm>
            <a:off x="4535424" y="5269992"/>
            <a:ext cx="2057400" cy="548640"/>
          </a:xfrm>
          <a:prstGeom prst="rect">
            <a:avLst/>
          </a:prstGeom>
          <a:noFill/>
        </p:spPr>
        <p:txBody>
          <a:bodyPr wrap="square" lIns="0" tIns="0" rIns="0" bIns="0" anchor="ctr">
            <a:spAutoFit/>
          </a:bodyPr>
          <a:lstStyle/>
          <a:p>
            <a:pPr algn="ctr">
              <a:lnSpc>
                <a:spcPts val="1770"/>
              </a:lnSpc>
              <a:spcAft>
                <a:spcPts val="0"/>
              </a:spcAft>
            </a:pPr>
            <a:r>
              <a:rPr sz="1500" b="1">
                <a:solidFill>
                  <a:srgbClr val="FFFFFF"/>
                </a:solidFill>
                <a:latin typeface="Arial"/>
              </a:rPr>
              <a:t>5.0</a:t>
            </a:r>
          </a:p>
        </p:txBody>
      </p:sp>
      <p:sp>
        <p:nvSpPr>
          <p:cNvPr id="43" name="Rounded Rectangle 42"/>
          <p:cNvSpPr/>
          <p:nvPr/>
        </p:nvSpPr>
        <p:spPr>
          <a:xfrm>
            <a:off x="7292432" y="5388864"/>
            <a:ext cx="731334"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4" name="TextBox 43"/>
          <p:cNvSpPr txBox="1"/>
          <p:nvPr/>
        </p:nvSpPr>
        <p:spPr>
          <a:xfrm>
            <a:off x="6821424" y="5269992"/>
            <a:ext cx="1673352" cy="548640"/>
          </a:xfrm>
          <a:prstGeom prst="rect">
            <a:avLst/>
          </a:prstGeom>
          <a:noFill/>
        </p:spPr>
        <p:txBody>
          <a:bodyPr wrap="square" lIns="0" tIns="0" rIns="0" bIns="0" anchor="ctr">
            <a:spAutoFit/>
          </a:bodyPr>
          <a:lstStyle/>
          <a:p>
            <a:pPr algn="ctr">
              <a:lnSpc>
                <a:spcPts val="1770"/>
              </a:lnSpc>
              <a:spcAft>
                <a:spcPts val="0"/>
              </a:spcAft>
            </a:pPr>
            <a:r>
              <a:rPr sz="1500" b="1">
                <a:solidFill>
                  <a:srgbClr val="FFFFFF"/>
                </a:solidFill>
                <a:latin typeface="Arial"/>
              </a:rPr>
              <a:t>2.5</a:t>
            </a:r>
          </a:p>
        </p:txBody>
      </p:sp>
      <p:sp>
        <p:nvSpPr>
          <p:cNvPr id="45" name="TextBox 44"/>
          <p:cNvSpPr txBox="1"/>
          <p:nvPr/>
        </p:nvSpPr>
        <p:spPr>
          <a:xfrm>
            <a:off x="8723376" y="5269992"/>
            <a:ext cx="1481328" cy="548640"/>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75</a:t>
            </a:r>
          </a:p>
        </p:txBody>
      </p:sp>
      <p:sp>
        <p:nvSpPr>
          <p:cNvPr id="46" name="TextBox 45"/>
          <p:cNvSpPr txBox="1"/>
          <p:nvPr/>
        </p:nvSpPr>
        <p:spPr>
          <a:xfrm>
            <a:off x="10442448" y="5269992"/>
            <a:ext cx="6949440" cy="548640"/>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Four in five name a file and a line, and every finding carries a fix you can paste.</a:t>
            </a:r>
          </a:p>
        </p:txBody>
      </p:sp>
      <p:sp>
        <p:nvSpPr>
          <p:cNvPr id="47" name="TextBox 46"/>
          <p:cNvSpPr txBox="1"/>
          <p:nvPr/>
        </p:nvSpPr>
        <p:spPr>
          <a:xfrm>
            <a:off x="841248" y="6038088"/>
            <a:ext cx="16605504" cy="1221740"/>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Drift is whether it noticed config contradicting documentation. Composition is whether it joined several files to reach a conclusion. Reasoning is the band where no artefact contains the answer.</a:t>
            </a:r>
          </a:p>
          <a:p>
            <a:pPr algn="l">
              <a:lnSpc>
                <a:spcPts val="1652"/>
              </a:lnSpc>
              <a:spcBef>
                <a:spcPts val="500"/>
              </a:spcBef>
              <a:spcAft>
                <a:spcPts val="0"/>
              </a:spcAft>
            </a:pPr>
            <a:r>
              <a:rPr sz="1400" b="0">
                <a:solidFill>
                  <a:srgbClr val="606978"/>
                </a:solidFill>
                <a:latin typeface="Arial"/>
              </a:rPr>
              <a:t>Eight of eight and five of five, and still nothing closeable. The weak skill reads the repository as competently as the reference pack. What it does not have is anything to read it against: 27 lines and six STRIDE letters, against 217 catalogued prompts across seven instruments, including 30 agentic cards, 60 cloud cards and 25 container prompts.</a:t>
            </a:r>
          </a:p>
          <a:p>
            <a:pPr algn="l">
              <a:lnSpc>
                <a:spcPts val="1652"/>
              </a:lnSpc>
              <a:spcBef>
                <a:spcPts val="500"/>
              </a:spcBef>
              <a:spcAft>
                <a:spcPts val="0"/>
              </a:spcAft>
            </a:pPr>
            <a:r>
              <a:rPr sz="1400" b="0">
                <a:solidFill>
                  <a:srgbClr val="606978"/>
                </a:solidFill>
                <a:latin typeface="Arial"/>
              </a:rPr>
              <a:t>So it has no question to ask about those surfaces. For cloud and containers STRIDE has no letter either; for injection it has two and the weak skill chose neither. It made its own bucket instead: nine design flaws, seven of them its generation-phase governance findings renamed.</a:t>
            </a:r>
          </a:p>
        </p:txBody>
      </p:sp>
      <p:sp>
        <p:nvSpPr>
          <p:cNvPr id="48" name="Rectangle 47"/>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49" name="TextBox 48"/>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The only cell with three strong bands is the only cell you can act on unaided. The weak skill matches it on two of the three and produces a document nobody can close.</a:t>
            </a:r>
          </a:p>
        </p:txBody>
      </p:sp>
      <p:sp>
        <p:nvSpPr>
          <p:cNvPr id="50" name="TextBox 49"/>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09      Security Champion Summit 2026      Brett Crawley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SPOT THE DIFFERENCE – PART 1</a:t>
            </a:r>
          </a:p>
        </p:txBody>
      </p:sp>
      <p:sp>
        <p:nvSpPr>
          <p:cNvPr id="4" name="TextBox 3"/>
          <p:cNvSpPr txBox="1"/>
          <p:nvPr/>
        </p:nvSpPr>
        <p:spPr>
          <a:xfrm>
            <a:off x="841248" y="1024128"/>
            <a:ext cx="15179040" cy="384048"/>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Georgia"/>
              </a:rPr>
              <a:t>The same finding, as the weak model wrote it and as the reference pack did.</a:t>
            </a:r>
          </a:p>
        </p:txBody>
      </p:sp>
      <p:sp>
        <p:nvSpPr>
          <p:cNvPr id="5" name="Rounded Rectangle 4"/>
          <p:cNvSpPr/>
          <p:nvPr/>
        </p:nvSpPr>
        <p:spPr>
          <a:xfrm>
            <a:off x="1269469" y="1700784"/>
            <a:ext cx="10931798" cy="5833597"/>
          </a:xfrm>
          <a:prstGeom prst="roundRect">
            <a:avLst>
              <a:gd name="adj" fmla="val 2000"/>
            </a:avLst>
          </a:prstGeom>
          <a:solidFill>
            <a:srgbClr val="FFFFFF"/>
          </a:solidFill>
          <a:ln w="11430">
            <a:solidFill>
              <a:srgbClr val="D6D1C6"/>
            </a:solidFill>
          </a:ln>
          <a:effectLst/>
        </p:spPr>
        <p:txBody>
          <a:bodyPr wrap="square" rtlCol="0" anchor="ctr"/>
          <a:lstStyle/>
          <a:p>
            <a:pPr algn="ctr"/>
            <a:endParaRPr/>
          </a:p>
        </p:txBody>
      </p:sp>
      <p:pic>
        <p:nvPicPr>
          <p:cNvPr id="6" name="Picture 5" descr="image12.png"/>
          <p:cNvPicPr>
            <a:picLocks noChangeAspect="1"/>
          </p:cNvPicPr>
          <p:nvPr/>
        </p:nvPicPr>
        <p:blipFill>
          <a:blip r:embed="rId3"/>
          <a:stretch>
            <a:fillRect/>
          </a:stretch>
        </p:blipFill>
        <p:spPr>
          <a:xfrm>
            <a:off x="1343835" y="1775149"/>
            <a:ext cx="10783066" cy="5684865"/>
          </a:xfrm>
          <a:prstGeom prst="rect">
            <a:avLst/>
          </a:prstGeom>
        </p:spPr>
      </p:pic>
      <p:sp>
        <p:nvSpPr>
          <p:cNvPr id="7" name="Rounded Rectangle 6"/>
          <p:cNvSpPr/>
          <p:nvPr/>
        </p:nvSpPr>
        <p:spPr>
          <a:xfrm>
            <a:off x="6417247" y="3369887"/>
            <a:ext cx="10601283" cy="6048432"/>
          </a:xfrm>
          <a:prstGeom prst="roundRect">
            <a:avLst>
              <a:gd name="adj" fmla="val 2000"/>
            </a:avLst>
          </a:prstGeom>
          <a:solidFill>
            <a:srgbClr val="FFFFFF"/>
          </a:solidFill>
          <a:ln w="11430">
            <a:solidFill>
              <a:srgbClr val="D6D1C6"/>
            </a:solidFill>
          </a:ln>
          <a:effectLst/>
        </p:spPr>
        <p:txBody>
          <a:bodyPr wrap="square" rtlCol="0" anchor="ctr"/>
          <a:lstStyle/>
          <a:p>
            <a:pPr algn="ctr"/>
            <a:endParaRPr/>
          </a:p>
        </p:txBody>
      </p:sp>
      <p:pic>
        <p:nvPicPr>
          <p:cNvPr id="8" name="Picture 7" descr="image13.png"/>
          <p:cNvPicPr>
            <a:picLocks noChangeAspect="1"/>
          </p:cNvPicPr>
          <p:nvPr/>
        </p:nvPicPr>
        <p:blipFill>
          <a:blip r:embed="rId4"/>
          <a:stretch>
            <a:fillRect/>
          </a:stretch>
        </p:blipFill>
        <p:spPr>
          <a:xfrm>
            <a:off x="6491613" y="3444253"/>
            <a:ext cx="10452551" cy="5899700"/>
          </a:xfrm>
          <a:prstGeom prst="rect">
            <a:avLst/>
          </a:prstGeom>
        </p:spPr>
      </p:pic>
      <p:sp>
        <p:nvSpPr>
          <p:cNvPr id="9" name="TextBox 8"/>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10      Security Champion Summit 2026      Brett Crawley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SPOT THE DIFFERENCE – PART 2</a:t>
            </a:r>
          </a:p>
        </p:txBody>
      </p:sp>
      <p:sp>
        <p:nvSpPr>
          <p:cNvPr id="4" name="TextBox 3"/>
          <p:cNvSpPr txBox="1"/>
          <p:nvPr/>
        </p:nvSpPr>
        <p:spPr>
          <a:xfrm>
            <a:off x="841248" y="1024128"/>
            <a:ext cx="15179040" cy="384048"/>
          </a:xfrm>
          <a:prstGeom prst="rect">
            <a:avLst/>
          </a:prstGeom>
          <a:noFill/>
        </p:spPr>
        <p:txBody>
          <a:bodyPr wrap="square" lIns="0" tIns="0" rIns="0" bIns="0" anchor="t">
            <a:spAutoFit/>
          </a:bodyPr>
          <a:lstStyle/>
          <a:p>
            <a:pPr algn="l">
              <a:lnSpc>
                <a:spcPts val="2595"/>
              </a:lnSpc>
              <a:spcAft>
                <a:spcPts val="0"/>
              </a:spcAft>
            </a:pPr>
            <a:r>
              <a:rPr sz="2200" b="0">
                <a:solidFill>
                  <a:srgbClr val="606978"/>
                </a:solidFill>
                <a:latin typeface="Georgia"/>
              </a:rPr>
              <a:t>The risk register, as the weak model wrote it and as the reference pack did.</a:t>
            </a:r>
          </a:p>
        </p:txBody>
      </p:sp>
      <p:sp>
        <p:nvSpPr>
          <p:cNvPr id="5" name="Rounded Rectangle 4"/>
          <p:cNvSpPr/>
          <p:nvPr/>
        </p:nvSpPr>
        <p:spPr>
          <a:xfrm>
            <a:off x="1381736" y="1700784"/>
            <a:ext cx="7058821" cy="6017888"/>
          </a:xfrm>
          <a:prstGeom prst="roundRect">
            <a:avLst>
              <a:gd name="adj" fmla="val 2000"/>
            </a:avLst>
          </a:prstGeom>
          <a:solidFill>
            <a:srgbClr val="FFFFFF"/>
          </a:solidFill>
          <a:ln w="11430">
            <a:solidFill>
              <a:srgbClr val="D6D1C6"/>
            </a:solidFill>
          </a:ln>
          <a:effectLst/>
        </p:spPr>
        <p:txBody>
          <a:bodyPr wrap="square" rtlCol="0" anchor="ctr"/>
          <a:lstStyle/>
          <a:p>
            <a:pPr algn="ctr"/>
            <a:endParaRPr/>
          </a:p>
        </p:txBody>
      </p:sp>
      <p:pic>
        <p:nvPicPr>
          <p:cNvPr id="6" name="Picture 5" descr="image14.png"/>
          <p:cNvPicPr>
            <a:picLocks noChangeAspect="1"/>
          </p:cNvPicPr>
          <p:nvPr/>
        </p:nvPicPr>
        <p:blipFill>
          <a:blip r:embed="rId3"/>
          <a:stretch>
            <a:fillRect/>
          </a:stretch>
        </p:blipFill>
        <p:spPr>
          <a:xfrm>
            <a:off x="1454926" y="1773974"/>
            <a:ext cx="6912440" cy="5871507"/>
          </a:xfrm>
          <a:prstGeom prst="rect">
            <a:avLst/>
          </a:prstGeom>
        </p:spPr>
      </p:pic>
      <p:sp>
        <p:nvSpPr>
          <p:cNvPr id="7" name="Rounded Rectangle 6"/>
          <p:cNvSpPr/>
          <p:nvPr/>
        </p:nvSpPr>
        <p:spPr>
          <a:xfrm>
            <a:off x="5699978" y="3994087"/>
            <a:ext cx="11206285" cy="5424232"/>
          </a:xfrm>
          <a:prstGeom prst="roundRect">
            <a:avLst>
              <a:gd name="adj" fmla="val 2000"/>
            </a:avLst>
          </a:prstGeom>
          <a:solidFill>
            <a:srgbClr val="FFFFFF"/>
          </a:solidFill>
          <a:ln w="11430">
            <a:solidFill>
              <a:srgbClr val="D6D1C6"/>
            </a:solidFill>
          </a:ln>
          <a:effectLst/>
        </p:spPr>
        <p:txBody>
          <a:bodyPr wrap="square" rtlCol="0" anchor="ctr"/>
          <a:lstStyle/>
          <a:p>
            <a:pPr algn="ctr"/>
            <a:endParaRPr/>
          </a:p>
        </p:txBody>
      </p:sp>
      <p:pic>
        <p:nvPicPr>
          <p:cNvPr id="8" name="Picture 7" descr="image15.png"/>
          <p:cNvPicPr>
            <a:picLocks noChangeAspect="1"/>
          </p:cNvPicPr>
          <p:nvPr/>
        </p:nvPicPr>
        <p:blipFill>
          <a:blip r:embed="rId4"/>
          <a:stretch>
            <a:fillRect/>
          </a:stretch>
        </p:blipFill>
        <p:spPr>
          <a:xfrm>
            <a:off x="5773168" y="4067278"/>
            <a:ext cx="11059904" cy="5277851"/>
          </a:xfrm>
          <a:prstGeom prst="rect">
            <a:avLst/>
          </a:prstGeom>
        </p:spPr>
      </p:pic>
      <p:sp>
        <p:nvSpPr>
          <p:cNvPr id="9" name="TextBox 8"/>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11      Security Champion Summit 2026      Brett Crawley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BEFORE THE ROOM, AND AFTER</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Read down the phases, not across the totals.</a:t>
            </a:r>
          </a:p>
        </p:txBody>
      </p:sp>
      <p:sp>
        <p:nvSpPr>
          <p:cNvPr id="5" name="Rounded Rectangle 4"/>
          <p:cNvSpPr/>
          <p:nvPr/>
        </p:nvSpPr>
        <p:spPr>
          <a:xfrm>
            <a:off x="841248" y="2066543"/>
            <a:ext cx="16605504" cy="425069"/>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6821424" y="2066543"/>
            <a:ext cx="1865376"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WEAK MODEL</a:t>
            </a:r>
          </a:p>
        </p:txBody>
      </p:sp>
      <p:sp>
        <p:nvSpPr>
          <p:cNvPr id="7" name="TextBox 6"/>
          <p:cNvSpPr txBox="1"/>
          <p:nvPr/>
        </p:nvSpPr>
        <p:spPr>
          <a:xfrm>
            <a:off x="8988552" y="2066543"/>
            <a:ext cx="1865376"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WEAK SKILL</a:t>
            </a:r>
          </a:p>
        </p:txBody>
      </p:sp>
      <p:sp>
        <p:nvSpPr>
          <p:cNvPr id="8" name="TextBox 7"/>
          <p:cNvSpPr txBox="1"/>
          <p:nvPr/>
        </p:nvSpPr>
        <p:spPr>
          <a:xfrm>
            <a:off x="11164824" y="2066543"/>
            <a:ext cx="1865376"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THIN</a:t>
            </a:r>
          </a:p>
        </p:txBody>
      </p:sp>
      <p:sp>
        <p:nvSpPr>
          <p:cNvPr id="9" name="TextBox 8"/>
          <p:cNvSpPr txBox="1"/>
          <p:nvPr/>
        </p:nvSpPr>
        <p:spPr>
          <a:xfrm>
            <a:off x="13331952" y="2066543"/>
            <a:ext cx="1865376"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NO REPO</a:t>
            </a:r>
          </a:p>
        </p:txBody>
      </p:sp>
      <p:sp>
        <p:nvSpPr>
          <p:cNvPr id="10" name="TextBox 9"/>
          <p:cNvSpPr txBox="1"/>
          <p:nvPr/>
        </p:nvSpPr>
        <p:spPr>
          <a:xfrm>
            <a:off x="15508224" y="2066543"/>
            <a:ext cx="1865376"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EVERYTHING</a:t>
            </a:r>
          </a:p>
        </p:txBody>
      </p:sp>
      <p:sp>
        <p:nvSpPr>
          <p:cNvPr id="11" name="TextBox 10"/>
          <p:cNvSpPr txBox="1"/>
          <p:nvPr/>
        </p:nvSpPr>
        <p:spPr>
          <a:xfrm>
            <a:off x="987552" y="2491612"/>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Findings at generation</a:t>
            </a:r>
          </a:p>
        </p:txBody>
      </p:sp>
      <p:sp>
        <p:nvSpPr>
          <p:cNvPr id="12" name="TextBox 11"/>
          <p:cNvSpPr txBox="1"/>
          <p:nvPr/>
        </p:nvSpPr>
        <p:spPr>
          <a:xfrm>
            <a:off x="6821424" y="249161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24</a:t>
            </a:r>
          </a:p>
        </p:txBody>
      </p:sp>
      <p:sp>
        <p:nvSpPr>
          <p:cNvPr id="13" name="TextBox 12"/>
          <p:cNvSpPr txBox="1"/>
          <p:nvPr/>
        </p:nvSpPr>
        <p:spPr>
          <a:xfrm>
            <a:off x="8988552" y="249161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32</a:t>
            </a:r>
          </a:p>
        </p:txBody>
      </p:sp>
      <p:sp>
        <p:nvSpPr>
          <p:cNvPr id="14" name="TextBox 13"/>
          <p:cNvSpPr txBox="1"/>
          <p:nvPr/>
        </p:nvSpPr>
        <p:spPr>
          <a:xfrm>
            <a:off x="11164824" y="249161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72</a:t>
            </a:r>
          </a:p>
        </p:txBody>
      </p:sp>
      <p:sp>
        <p:nvSpPr>
          <p:cNvPr id="15" name="TextBox 14"/>
          <p:cNvSpPr txBox="1"/>
          <p:nvPr/>
        </p:nvSpPr>
        <p:spPr>
          <a:xfrm>
            <a:off x="13331952" y="249161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68</a:t>
            </a:r>
          </a:p>
        </p:txBody>
      </p:sp>
      <p:sp>
        <p:nvSpPr>
          <p:cNvPr id="16" name="TextBox 15"/>
          <p:cNvSpPr txBox="1"/>
          <p:nvPr/>
        </p:nvSpPr>
        <p:spPr>
          <a:xfrm>
            <a:off x="15508224" y="249161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72</a:t>
            </a:r>
          </a:p>
        </p:txBody>
      </p:sp>
      <p:sp>
        <p:nvSpPr>
          <p:cNvPr id="17" name="Rounded Rectangle 16"/>
          <p:cNvSpPr/>
          <p:nvPr/>
        </p:nvSpPr>
        <p:spPr>
          <a:xfrm>
            <a:off x="841248" y="2946653"/>
            <a:ext cx="16605504" cy="455040"/>
          </a:xfrm>
          <a:prstGeom prst="roundRect">
            <a:avLst/>
          </a:prstGeom>
          <a:solidFill>
            <a:srgbClr val="EDEAE3"/>
          </a:solidFill>
          <a:ln>
            <a:noFill/>
          </a:ln>
          <a:effectLst/>
        </p:spPr>
        <p:txBody>
          <a:bodyPr wrap="square" rtlCol="0" anchor="ctr"/>
          <a:lstStyle/>
          <a:p>
            <a:pPr algn="ctr"/>
            <a:endParaRPr/>
          </a:p>
        </p:txBody>
      </p:sp>
      <p:sp>
        <p:nvSpPr>
          <p:cNvPr id="18" name="TextBox 17"/>
          <p:cNvSpPr txBox="1"/>
          <p:nvPr/>
        </p:nvSpPr>
        <p:spPr>
          <a:xfrm>
            <a:off x="987552" y="2946653"/>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After the revision</a:t>
            </a:r>
          </a:p>
        </p:txBody>
      </p:sp>
      <p:sp>
        <p:nvSpPr>
          <p:cNvPr id="19" name="TextBox 18"/>
          <p:cNvSpPr txBox="1"/>
          <p:nvPr/>
        </p:nvSpPr>
        <p:spPr>
          <a:xfrm>
            <a:off x="6821424" y="2946653"/>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13</a:t>
            </a:r>
          </a:p>
        </p:txBody>
      </p:sp>
      <p:sp>
        <p:nvSpPr>
          <p:cNvPr id="20" name="TextBox 19"/>
          <p:cNvSpPr txBox="1"/>
          <p:nvPr/>
        </p:nvSpPr>
        <p:spPr>
          <a:xfrm>
            <a:off x="8988552" y="2946653"/>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35</a:t>
            </a:r>
          </a:p>
        </p:txBody>
      </p:sp>
      <p:sp>
        <p:nvSpPr>
          <p:cNvPr id="21" name="TextBox 20"/>
          <p:cNvSpPr txBox="1"/>
          <p:nvPr/>
        </p:nvSpPr>
        <p:spPr>
          <a:xfrm>
            <a:off x="11164824" y="2946653"/>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74</a:t>
            </a:r>
          </a:p>
        </p:txBody>
      </p:sp>
      <p:sp>
        <p:nvSpPr>
          <p:cNvPr id="22" name="TextBox 21"/>
          <p:cNvSpPr txBox="1"/>
          <p:nvPr/>
        </p:nvSpPr>
        <p:spPr>
          <a:xfrm>
            <a:off x="13331952" y="2946653"/>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71</a:t>
            </a:r>
          </a:p>
        </p:txBody>
      </p:sp>
      <p:sp>
        <p:nvSpPr>
          <p:cNvPr id="23" name="TextBox 22"/>
          <p:cNvSpPr txBox="1"/>
          <p:nvPr/>
        </p:nvSpPr>
        <p:spPr>
          <a:xfrm>
            <a:off x="15508224" y="2946653"/>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73</a:t>
            </a:r>
          </a:p>
        </p:txBody>
      </p:sp>
      <p:sp>
        <p:nvSpPr>
          <p:cNvPr id="24" name="TextBox 23"/>
          <p:cNvSpPr txBox="1"/>
          <p:nvPr/>
        </p:nvSpPr>
        <p:spPr>
          <a:xfrm>
            <a:off x="987552" y="3401695"/>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After the directed pass</a:t>
            </a:r>
          </a:p>
        </p:txBody>
      </p:sp>
      <p:sp>
        <p:nvSpPr>
          <p:cNvPr id="25" name="TextBox 24"/>
          <p:cNvSpPr txBox="1"/>
          <p:nvPr/>
        </p:nvSpPr>
        <p:spPr>
          <a:xfrm>
            <a:off x="6821424" y="340169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a:t>
            </a:r>
          </a:p>
        </p:txBody>
      </p:sp>
      <p:sp>
        <p:nvSpPr>
          <p:cNvPr id="26" name="TextBox 25"/>
          <p:cNvSpPr txBox="1"/>
          <p:nvPr/>
        </p:nvSpPr>
        <p:spPr>
          <a:xfrm>
            <a:off x="8988552" y="340169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a:t>
            </a:r>
          </a:p>
        </p:txBody>
      </p:sp>
      <p:sp>
        <p:nvSpPr>
          <p:cNvPr id="27" name="TextBox 26"/>
          <p:cNvSpPr txBox="1"/>
          <p:nvPr/>
        </p:nvSpPr>
        <p:spPr>
          <a:xfrm>
            <a:off x="11164824" y="340169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a:t>
            </a:r>
          </a:p>
        </p:txBody>
      </p:sp>
      <p:sp>
        <p:nvSpPr>
          <p:cNvPr id="28" name="TextBox 27"/>
          <p:cNvSpPr txBox="1"/>
          <p:nvPr/>
        </p:nvSpPr>
        <p:spPr>
          <a:xfrm>
            <a:off x="13331952" y="340169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a:t>
            </a:r>
          </a:p>
        </p:txBody>
      </p:sp>
      <p:sp>
        <p:nvSpPr>
          <p:cNvPr id="29" name="TextBox 28"/>
          <p:cNvSpPr txBox="1"/>
          <p:nvPr/>
        </p:nvSpPr>
        <p:spPr>
          <a:xfrm>
            <a:off x="15508224" y="340169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75</a:t>
            </a:r>
          </a:p>
        </p:txBody>
      </p:sp>
      <p:sp>
        <p:nvSpPr>
          <p:cNvPr id="30" name="Rounded Rectangle 29"/>
          <p:cNvSpPr/>
          <p:nvPr/>
        </p:nvSpPr>
        <p:spPr>
          <a:xfrm>
            <a:off x="841248" y="3856735"/>
            <a:ext cx="16605504" cy="455040"/>
          </a:xfrm>
          <a:prstGeom prst="roundRect">
            <a:avLst/>
          </a:prstGeom>
          <a:solidFill>
            <a:srgbClr val="E4E0D7"/>
          </a:solidFill>
          <a:ln>
            <a:noFill/>
          </a:ln>
          <a:effectLst/>
        </p:spPr>
        <p:txBody>
          <a:bodyPr wrap="square" rtlCol="0" anchor="ctr"/>
          <a:lstStyle/>
          <a:p>
            <a:pPr algn="ctr"/>
            <a:endParaRPr/>
          </a:p>
        </p:txBody>
      </p:sp>
      <p:sp>
        <p:nvSpPr>
          <p:cNvPr id="31" name="TextBox 30"/>
          <p:cNvSpPr txBox="1"/>
          <p:nvPr/>
        </p:nvSpPr>
        <p:spPr>
          <a:xfrm>
            <a:off x="987552" y="3856735"/>
            <a:ext cx="5596128" cy="455040"/>
          </a:xfrm>
          <a:prstGeom prst="rect">
            <a:avLst/>
          </a:prstGeom>
          <a:noFill/>
        </p:spPr>
        <p:txBody>
          <a:bodyPr wrap="square" lIns="0" tIns="0" rIns="0" bIns="0" anchor="ctr">
            <a:spAutoFit/>
          </a:bodyPr>
          <a:lstStyle/>
          <a:p>
            <a:pPr algn="l">
              <a:lnSpc>
                <a:spcPts val="1711"/>
              </a:lnSpc>
              <a:spcAft>
                <a:spcPts val="0"/>
              </a:spcAft>
            </a:pPr>
            <a:r>
              <a:rPr sz="1450" b="1">
                <a:solidFill>
                  <a:srgbClr val="1A1F29"/>
                </a:solidFill>
                <a:latin typeface="Arial"/>
              </a:rPr>
              <a:t>Net movement</a:t>
            </a:r>
          </a:p>
        </p:txBody>
      </p:sp>
      <p:sp>
        <p:nvSpPr>
          <p:cNvPr id="32" name="Rounded Rectangle 31"/>
          <p:cNvSpPr/>
          <p:nvPr/>
        </p:nvSpPr>
        <p:spPr>
          <a:xfrm>
            <a:off x="7369138" y="3928808"/>
            <a:ext cx="769946"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33" name="TextBox 32"/>
          <p:cNvSpPr txBox="1"/>
          <p:nvPr/>
        </p:nvSpPr>
        <p:spPr>
          <a:xfrm>
            <a:off x="6821424" y="3856735"/>
            <a:ext cx="1865376" cy="455040"/>
          </a:xfrm>
          <a:prstGeom prst="rect">
            <a:avLst/>
          </a:prstGeom>
          <a:noFill/>
        </p:spPr>
        <p:txBody>
          <a:bodyPr wrap="square" lIns="0" tIns="0" rIns="0" bIns="0" anchor="ctr">
            <a:spAutoFit/>
          </a:bodyPr>
          <a:lstStyle/>
          <a:p>
            <a:pPr algn="ctr">
              <a:lnSpc>
                <a:spcPts val="1711"/>
              </a:lnSpc>
              <a:spcAft>
                <a:spcPts val="0"/>
              </a:spcAft>
            </a:pPr>
            <a:r>
              <a:rPr sz="1450" b="1">
                <a:solidFill>
                  <a:srgbClr val="FFFFFF"/>
                </a:solidFill>
                <a:latin typeface="Arial"/>
              </a:rPr>
              <a:t>−11</a:t>
            </a:r>
          </a:p>
        </p:txBody>
      </p:sp>
      <p:sp>
        <p:nvSpPr>
          <p:cNvPr id="34" name="TextBox 33"/>
          <p:cNvSpPr txBox="1"/>
          <p:nvPr/>
        </p:nvSpPr>
        <p:spPr>
          <a:xfrm>
            <a:off x="8988552" y="385673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35" name="TextBox 34"/>
          <p:cNvSpPr txBox="1"/>
          <p:nvPr/>
        </p:nvSpPr>
        <p:spPr>
          <a:xfrm>
            <a:off x="11164824" y="385673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a:t>
            </a:r>
          </a:p>
        </p:txBody>
      </p:sp>
      <p:sp>
        <p:nvSpPr>
          <p:cNvPr id="36" name="TextBox 35"/>
          <p:cNvSpPr txBox="1"/>
          <p:nvPr/>
        </p:nvSpPr>
        <p:spPr>
          <a:xfrm>
            <a:off x="13331952" y="385673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37" name="TextBox 36"/>
          <p:cNvSpPr txBox="1"/>
          <p:nvPr/>
        </p:nvSpPr>
        <p:spPr>
          <a:xfrm>
            <a:off x="15508224" y="3856735"/>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38" name="TextBox 37"/>
          <p:cNvSpPr txBox="1"/>
          <p:nvPr/>
        </p:nvSpPr>
        <p:spPr>
          <a:xfrm>
            <a:off x="987552" y="4311776"/>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ID families lost in the revision</a:t>
            </a:r>
          </a:p>
        </p:txBody>
      </p:sp>
      <p:sp>
        <p:nvSpPr>
          <p:cNvPr id="39" name="TextBox 38"/>
          <p:cNvSpPr txBox="1"/>
          <p:nvPr/>
        </p:nvSpPr>
        <p:spPr>
          <a:xfrm>
            <a:off x="6821424" y="4311776"/>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a:t>
            </a:r>
          </a:p>
        </p:txBody>
      </p:sp>
      <p:sp>
        <p:nvSpPr>
          <p:cNvPr id="40" name="TextBox 39"/>
          <p:cNvSpPr txBox="1"/>
          <p:nvPr/>
        </p:nvSpPr>
        <p:spPr>
          <a:xfrm>
            <a:off x="8988552" y="4311776"/>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1" name="TextBox 40"/>
          <p:cNvSpPr txBox="1"/>
          <p:nvPr/>
        </p:nvSpPr>
        <p:spPr>
          <a:xfrm>
            <a:off x="11164824" y="4311776"/>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2" name="TextBox 41"/>
          <p:cNvSpPr txBox="1"/>
          <p:nvPr/>
        </p:nvSpPr>
        <p:spPr>
          <a:xfrm>
            <a:off x="13331952" y="4311776"/>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3" name="TextBox 42"/>
          <p:cNvSpPr txBox="1"/>
          <p:nvPr/>
        </p:nvSpPr>
        <p:spPr>
          <a:xfrm>
            <a:off x="15508224" y="4311776"/>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4" name="Rounded Rectangle 43"/>
          <p:cNvSpPr/>
          <p:nvPr/>
        </p:nvSpPr>
        <p:spPr>
          <a:xfrm>
            <a:off x="841248" y="4766818"/>
            <a:ext cx="16605504" cy="455040"/>
          </a:xfrm>
          <a:prstGeom prst="roundRect">
            <a:avLst/>
          </a:prstGeom>
          <a:solidFill>
            <a:srgbClr val="EDEAE3"/>
          </a:solidFill>
          <a:ln>
            <a:noFill/>
          </a:ln>
          <a:effectLst/>
        </p:spPr>
        <p:txBody>
          <a:bodyPr wrap="square" rtlCol="0" anchor="ctr"/>
          <a:lstStyle/>
          <a:p>
            <a:pPr algn="ctr"/>
            <a:endParaRPr/>
          </a:p>
        </p:txBody>
      </p:sp>
      <p:sp>
        <p:nvSpPr>
          <p:cNvPr id="45" name="TextBox 44"/>
          <p:cNvSpPr txBox="1"/>
          <p:nvPr/>
        </p:nvSpPr>
        <p:spPr>
          <a:xfrm>
            <a:off x="987552" y="4766818"/>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Session length</a:t>
            </a:r>
          </a:p>
        </p:txBody>
      </p:sp>
      <p:sp>
        <p:nvSpPr>
          <p:cNvPr id="46" name="TextBox 45"/>
          <p:cNvSpPr txBox="1"/>
          <p:nvPr/>
        </p:nvSpPr>
        <p:spPr>
          <a:xfrm>
            <a:off x="6821424" y="4766818"/>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62 min</a:t>
            </a:r>
          </a:p>
        </p:txBody>
      </p:sp>
      <p:sp>
        <p:nvSpPr>
          <p:cNvPr id="47" name="TextBox 46"/>
          <p:cNvSpPr txBox="1"/>
          <p:nvPr/>
        </p:nvSpPr>
        <p:spPr>
          <a:xfrm>
            <a:off x="8988552" y="4766818"/>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95 min</a:t>
            </a:r>
          </a:p>
        </p:txBody>
      </p:sp>
      <p:sp>
        <p:nvSpPr>
          <p:cNvPr id="48" name="TextBox 47"/>
          <p:cNvSpPr txBox="1"/>
          <p:nvPr/>
        </p:nvSpPr>
        <p:spPr>
          <a:xfrm>
            <a:off x="11164824" y="4766818"/>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95 min</a:t>
            </a:r>
          </a:p>
        </p:txBody>
      </p:sp>
      <p:sp>
        <p:nvSpPr>
          <p:cNvPr id="49" name="TextBox 48"/>
          <p:cNvSpPr txBox="1"/>
          <p:nvPr/>
        </p:nvSpPr>
        <p:spPr>
          <a:xfrm>
            <a:off x="13331952" y="4766818"/>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98 min</a:t>
            </a:r>
          </a:p>
        </p:txBody>
      </p:sp>
      <p:sp>
        <p:nvSpPr>
          <p:cNvPr id="50" name="TextBox 49"/>
          <p:cNvSpPr txBox="1"/>
          <p:nvPr/>
        </p:nvSpPr>
        <p:spPr>
          <a:xfrm>
            <a:off x="15508224" y="4766818"/>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74 min</a:t>
            </a:r>
          </a:p>
        </p:txBody>
      </p:sp>
      <p:sp>
        <p:nvSpPr>
          <p:cNvPr id="51" name="TextBox 50"/>
          <p:cNvSpPr txBox="1"/>
          <p:nvPr/>
        </p:nvSpPr>
        <p:spPr>
          <a:xfrm>
            <a:off x="987552" y="5221859"/>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Findings reached, per session manifest*</a:t>
            </a:r>
          </a:p>
        </p:txBody>
      </p:sp>
      <p:sp>
        <p:nvSpPr>
          <p:cNvPr id="52" name="TextBox 51"/>
          <p:cNvSpPr txBox="1"/>
          <p:nvPr/>
        </p:nvSpPr>
        <p:spPr>
          <a:xfrm>
            <a:off x="6821424" y="5221859"/>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9</a:t>
            </a:r>
          </a:p>
        </p:txBody>
      </p:sp>
      <p:sp>
        <p:nvSpPr>
          <p:cNvPr id="53" name="TextBox 52"/>
          <p:cNvSpPr txBox="1"/>
          <p:nvPr/>
        </p:nvSpPr>
        <p:spPr>
          <a:xfrm>
            <a:off x="8988552" y="5221859"/>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22</a:t>
            </a:r>
          </a:p>
        </p:txBody>
      </p:sp>
      <p:sp>
        <p:nvSpPr>
          <p:cNvPr id="54" name="TextBox 53"/>
          <p:cNvSpPr txBox="1"/>
          <p:nvPr/>
        </p:nvSpPr>
        <p:spPr>
          <a:xfrm>
            <a:off x="11164824" y="5221859"/>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30</a:t>
            </a:r>
          </a:p>
        </p:txBody>
      </p:sp>
      <p:sp>
        <p:nvSpPr>
          <p:cNvPr id="55" name="TextBox 54"/>
          <p:cNvSpPr txBox="1"/>
          <p:nvPr/>
        </p:nvSpPr>
        <p:spPr>
          <a:xfrm>
            <a:off x="13331952" y="5221859"/>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43</a:t>
            </a:r>
          </a:p>
        </p:txBody>
      </p:sp>
      <p:sp>
        <p:nvSpPr>
          <p:cNvPr id="56" name="TextBox 55"/>
          <p:cNvSpPr txBox="1"/>
          <p:nvPr/>
        </p:nvSpPr>
        <p:spPr>
          <a:xfrm>
            <a:off x="15508224" y="5221859"/>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44</a:t>
            </a:r>
          </a:p>
        </p:txBody>
      </p:sp>
      <p:sp>
        <p:nvSpPr>
          <p:cNvPr id="57" name="Rounded Rectangle 56"/>
          <p:cNvSpPr/>
          <p:nvPr/>
        </p:nvSpPr>
        <p:spPr>
          <a:xfrm>
            <a:off x="841248" y="5676900"/>
            <a:ext cx="16605504" cy="455040"/>
          </a:xfrm>
          <a:prstGeom prst="roundRect">
            <a:avLst/>
          </a:prstGeom>
          <a:solidFill>
            <a:srgbClr val="EDEAE3"/>
          </a:solidFill>
          <a:ln>
            <a:noFill/>
          </a:ln>
          <a:effectLst/>
        </p:spPr>
        <p:txBody>
          <a:bodyPr wrap="square" rtlCol="0" anchor="ctr"/>
          <a:lstStyle/>
          <a:p>
            <a:pPr algn="ctr"/>
            <a:endParaRPr/>
          </a:p>
        </p:txBody>
      </p:sp>
      <p:sp>
        <p:nvSpPr>
          <p:cNvPr id="58" name="TextBox 57"/>
          <p:cNvSpPr txBox="1"/>
          <p:nvPr/>
        </p:nvSpPr>
        <p:spPr>
          <a:xfrm>
            <a:off x="987552" y="5676900"/>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Wrong closures in the session</a:t>
            </a:r>
          </a:p>
        </p:txBody>
      </p:sp>
      <p:sp>
        <p:nvSpPr>
          <p:cNvPr id="59" name="TextBox 58"/>
          <p:cNvSpPr txBox="1"/>
          <p:nvPr/>
        </p:nvSpPr>
        <p:spPr>
          <a:xfrm>
            <a:off x="6821424" y="5676900"/>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a:t>
            </a:r>
          </a:p>
        </p:txBody>
      </p:sp>
      <p:sp>
        <p:nvSpPr>
          <p:cNvPr id="60" name="TextBox 59"/>
          <p:cNvSpPr txBox="1"/>
          <p:nvPr/>
        </p:nvSpPr>
        <p:spPr>
          <a:xfrm>
            <a:off x="8988552" y="5676900"/>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a:t>
            </a:r>
          </a:p>
        </p:txBody>
      </p:sp>
      <p:sp>
        <p:nvSpPr>
          <p:cNvPr id="61" name="TextBox 60"/>
          <p:cNvSpPr txBox="1"/>
          <p:nvPr/>
        </p:nvSpPr>
        <p:spPr>
          <a:xfrm>
            <a:off x="11164824" y="5676900"/>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62" name="TextBox 61"/>
          <p:cNvSpPr txBox="1"/>
          <p:nvPr/>
        </p:nvSpPr>
        <p:spPr>
          <a:xfrm>
            <a:off x="13331952" y="5676900"/>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a:t>
            </a:r>
          </a:p>
        </p:txBody>
      </p:sp>
      <p:sp>
        <p:nvSpPr>
          <p:cNvPr id="63" name="TextBox 62"/>
          <p:cNvSpPr txBox="1"/>
          <p:nvPr/>
        </p:nvSpPr>
        <p:spPr>
          <a:xfrm>
            <a:off x="15508224" y="5676900"/>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64" name="TextBox 63"/>
          <p:cNvSpPr txBox="1"/>
          <p:nvPr/>
        </p:nvSpPr>
        <p:spPr>
          <a:xfrm>
            <a:off x="987552" y="6131941"/>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Facts the pack could not hold, of 7</a:t>
            </a:r>
          </a:p>
        </p:txBody>
      </p:sp>
      <p:sp>
        <p:nvSpPr>
          <p:cNvPr id="65" name="TextBox 64"/>
          <p:cNvSpPr txBox="1"/>
          <p:nvPr/>
        </p:nvSpPr>
        <p:spPr>
          <a:xfrm>
            <a:off x="6821424" y="6131941"/>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66" name="TextBox 65"/>
          <p:cNvSpPr txBox="1"/>
          <p:nvPr/>
        </p:nvSpPr>
        <p:spPr>
          <a:xfrm>
            <a:off x="8988552" y="6131941"/>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67" name="TextBox 66"/>
          <p:cNvSpPr txBox="1"/>
          <p:nvPr/>
        </p:nvSpPr>
        <p:spPr>
          <a:xfrm>
            <a:off x="11164824" y="6131941"/>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a:t>
            </a:r>
          </a:p>
        </p:txBody>
      </p:sp>
      <p:sp>
        <p:nvSpPr>
          <p:cNvPr id="68" name="TextBox 67"/>
          <p:cNvSpPr txBox="1"/>
          <p:nvPr/>
        </p:nvSpPr>
        <p:spPr>
          <a:xfrm>
            <a:off x="13331952" y="6131941"/>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a:t>
            </a:r>
          </a:p>
        </p:txBody>
      </p:sp>
      <p:sp>
        <p:nvSpPr>
          <p:cNvPr id="69" name="TextBox 68"/>
          <p:cNvSpPr txBox="1"/>
          <p:nvPr/>
        </p:nvSpPr>
        <p:spPr>
          <a:xfrm>
            <a:off x="15508224" y="6131941"/>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a:t>
            </a:r>
          </a:p>
        </p:txBody>
      </p:sp>
      <p:sp>
        <p:nvSpPr>
          <p:cNvPr id="70" name="Rounded Rectangle 69"/>
          <p:cNvSpPr/>
          <p:nvPr/>
        </p:nvSpPr>
        <p:spPr>
          <a:xfrm>
            <a:off x="841248" y="6586982"/>
            <a:ext cx="16605504" cy="455040"/>
          </a:xfrm>
          <a:prstGeom prst="roundRect">
            <a:avLst/>
          </a:prstGeom>
          <a:solidFill>
            <a:srgbClr val="EDEAE3"/>
          </a:solidFill>
          <a:ln>
            <a:noFill/>
          </a:ln>
          <a:effectLst/>
        </p:spPr>
        <p:txBody>
          <a:bodyPr wrap="square" rtlCol="0" anchor="ctr"/>
          <a:lstStyle/>
          <a:p>
            <a:pPr algn="ctr"/>
            <a:endParaRPr/>
          </a:p>
        </p:txBody>
      </p:sp>
      <p:sp>
        <p:nvSpPr>
          <p:cNvPr id="71" name="TextBox 70"/>
          <p:cNvSpPr txBox="1"/>
          <p:nvPr/>
        </p:nvSpPr>
        <p:spPr>
          <a:xfrm>
            <a:off x="987552" y="6586982"/>
            <a:ext cx="5596128"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Findings with a file and a line</a:t>
            </a:r>
          </a:p>
        </p:txBody>
      </p:sp>
      <p:sp>
        <p:nvSpPr>
          <p:cNvPr id="72" name="TextBox 71"/>
          <p:cNvSpPr txBox="1"/>
          <p:nvPr/>
        </p:nvSpPr>
        <p:spPr>
          <a:xfrm>
            <a:off x="6821424" y="658698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73" name="TextBox 72"/>
          <p:cNvSpPr txBox="1"/>
          <p:nvPr/>
        </p:nvSpPr>
        <p:spPr>
          <a:xfrm>
            <a:off x="8988552" y="658698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74" name="TextBox 73"/>
          <p:cNvSpPr txBox="1"/>
          <p:nvPr/>
        </p:nvSpPr>
        <p:spPr>
          <a:xfrm>
            <a:off x="11164824" y="658698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75" name="TextBox 74"/>
          <p:cNvSpPr txBox="1"/>
          <p:nvPr/>
        </p:nvSpPr>
        <p:spPr>
          <a:xfrm>
            <a:off x="13331952" y="658698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76" name="TextBox 75"/>
          <p:cNvSpPr txBox="1"/>
          <p:nvPr/>
        </p:nvSpPr>
        <p:spPr>
          <a:xfrm>
            <a:off x="15508224" y="6586982"/>
            <a:ext cx="1865376"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79%</a:t>
            </a:r>
          </a:p>
        </p:txBody>
      </p:sp>
      <p:sp>
        <p:nvSpPr>
          <p:cNvPr id="77" name="TextBox 76"/>
          <p:cNvSpPr txBox="1"/>
          <p:nvPr/>
        </p:nvSpPr>
        <p:spPr>
          <a:xfrm>
            <a:off x="841248" y="7261479"/>
            <a:ext cx="16605504" cy="1431544"/>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Lower is better on the facts row. Two of seven surfaced for the reference cell, with two more where the pack had the class and a person supplied the instance, so four needed someone present. The environment held the remaining three. Four of seven surfaced in the thin run, which had no document that could contain them.</a:t>
            </a:r>
          </a:p>
          <a:p>
            <a:pPr algn="l">
              <a:lnSpc>
                <a:spcPts val="1652"/>
              </a:lnSpc>
              <a:spcBef>
                <a:spcPts val="500"/>
              </a:spcBef>
              <a:spcAft>
                <a:spcPts val="0"/>
              </a:spcAft>
            </a:pPr>
            <a:r>
              <a:rPr sz="1400" b="0">
                <a:solidFill>
                  <a:srgbClr val="606978"/>
                </a:solidFill>
                <a:latin typeface="Arial"/>
              </a:rPr>
              <a:t>The controlled pair is the last two columns: same room, same skill, same model, and the only difference is the environment. Twenty-four more minutes to reach one fewer finding, against $16 of tokens, most of which is the third pass run 5 never got.</a:t>
            </a:r>
          </a:p>
          <a:p>
            <a:pPr algn="l">
              <a:lnSpc>
                <a:spcPts val="1652"/>
              </a:lnSpc>
              <a:spcBef>
                <a:spcPts val="500"/>
              </a:spcBef>
              <a:spcAft>
                <a:spcPts val="0"/>
              </a:spcAft>
            </a:pPr>
            <a:r>
              <a:rPr sz="1400" b="0">
                <a:solidFill>
                  <a:srgbClr val="606978"/>
                </a:solidFill>
                <a:latin typeface="Arial"/>
              </a:rPr>
              <a:t>* Each cell counts reached findings on its own basis, and two cells' facilitator notes disagree with their own manifests. Read the row as an order of magnitude, not a ranking. Net movement for the reference cell spans three phases; every other column spans two.</a:t>
            </a:r>
          </a:p>
        </p:txBody>
      </p:sp>
      <p:sp>
        <p:nvSpPr>
          <p:cNvPr id="78" name="Rectangle 77"/>
          <p:cNvSpPr/>
          <p:nvPr/>
        </p:nvSpPr>
        <p:spPr>
          <a:xfrm>
            <a:off x="841248" y="9186798"/>
            <a:ext cx="54864" cy="369569"/>
          </a:xfrm>
          <a:prstGeom prst="rect">
            <a:avLst/>
          </a:prstGeom>
          <a:solidFill>
            <a:srgbClr val="B14B26"/>
          </a:solidFill>
          <a:ln>
            <a:noFill/>
          </a:ln>
          <a:effectLst/>
        </p:spPr>
        <p:txBody>
          <a:bodyPr wrap="square" rtlCol="0" anchor="ctr"/>
          <a:lstStyle/>
          <a:p>
            <a:pPr algn="ctr"/>
            <a:endParaRPr/>
          </a:p>
        </p:txBody>
      </p:sp>
      <p:sp>
        <p:nvSpPr>
          <p:cNvPr id="79" name="TextBox 78"/>
          <p:cNvSpPr txBox="1"/>
          <p:nvPr/>
        </p:nvSpPr>
        <p:spPr>
          <a:xfrm>
            <a:off x="1115568" y="9186798"/>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A session only helps a pack that can absorb it. The revision is where a weak model undoes the work.</a:t>
            </a:r>
          </a:p>
        </p:txBody>
      </p:sp>
      <p:sp>
        <p:nvSpPr>
          <p:cNvPr id="80" name="TextBox 79"/>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12      Security Champion Summit 2026      Brett Crawley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Rounded Rectangle 2"/>
          <p:cNvSpPr/>
          <p:nvPr/>
        </p:nvSpPr>
        <p:spPr>
          <a:xfrm>
            <a:off x="841248" y="713232"/>
            <a:ext cx="4659823"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4" name="TextBox 3"/>
          <p:cNvSpPr txBox="1"/>
          <p:nvPr/>
        </p:nvSpPr>
        <p:spPr>
          <a:xfrm>
            <a:off x="1042416" y="781812"/>
            <a:ext cx="4294063" cy="201168"/>
          </a:xfrm>
          <a:prstGeom prst="rect">
            <a:avLst/>
          </a:prstGeom>
          <a:noFill/>
        </p:spPr>
        <p:txBody>
          <a:bodyPr wrap="square" lIns="0" tIns="0" rIns="0" bIns="0" anchor="t">
            <a:spAutoFit/>
          </a:bodyPr>
          <a:lstStyle/>
          <a:p>
            <a:pPr algn="l">
              <a:lnSpc>
                <a:spcPts val="1534"/>
              </a:lnSpc>
              <a:spcAft>
                <a:spcPts val="0"/>
              </a:spcAft>
            </a:pPr>
            <a:r>
              <a:rPr sz="1300" b="1" spc="140">
                <a:solidFill>
                  <a:srgbClr val="FFFFFF"/>
                </a:solidFill>
                <a:latin typeface="Arial"/>
              </a:rPr>
              <a:t>THE SAME FINDING, FIVE WAYS, VERBATIM</a:t>
            </a:r>
          </a:p>
        </p:txBody>
      </p:sp>
      <p:sp>
        <p:nvSpPr>
          <p:cNvPr id="5" name="TextBox 4"/>
          <p:cNvSpPr txBox="1"/>
          <p:nvPr/>
        </p:nvSpPr>
        <p:spPr>
          <a:xfrm>
            <a:off x="841248" y="1335024"/>
            <a:ext cx="15179040" cy="1133856"/>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Every pack found markdown-image exfiltration. Only the presentation differs.</a:t>
            </a:r>
          </a:p>
        </p:txBody>
      </p:sp>
      <p:sp>
        <p:nvSpPr>
          <p:cNvPr id="6" name="Rounded Rectangle 5"/>
          <p:cNvSpPr/>
          <p:nvPr/>
        </p:nvSpPr>
        <p:spPr>
          <a:xfrm>
            <a:off x="841248" y="2596896"/>
            <a:ext cx="16605504" cy="1060704"/>
          </a:xfrm>
          <a:prstGeom prst="roundRect">
            <a:avLst/>
          </a:prstGeom>
          <a:solidFill>
            <a:srgbClr val="EDEAE3"/>
          </a:solidFill>
          <a:ln>
            <a:noFill/>
          </a:ln>
          <a:effectLst/>
        </p:spPr>
        <p:txBody>
          <a:bodyPr wrap="square" rtlCol="0" anchor="ctr"/>
          <a:lstStyle/>
          <a:p>
            <a:pPr algn="ctr"/>
            <a:endParaRPr/>
          </a:p>
        </p:txBody>
      </p:sp>
      <p:sp>
        <p:nvSpPr>
          <p:cNvPr id="7" name="TextBox 6"/>
          <p:cNvSpPr txBox="1"/>
          <p:nvPr/>
        </p:nvSpPr>
        <p:spPr>
          <a:xfrm>
            <a:off x="841248" y="2615184"/>
            <a:ext cx="2157984" cy="1024128"/>
          </a:xfrm>
          <a:prstGeom prst="rect">
            <a:avLst/>
          </a:prstGeom>
          <a:noFill/>
        </p:spPr>
        <p:txBody>
          <a:bodyPr wrap="square" lIns="0" tIns="0" rIns="0" bIns="0" anchor="ctr">
            <a:spAutoFit/>
          </a:bodyPr>
          <a:lstStyle/>
          <a:p>
            <a:pPr algn="r">
              <a:lnSpc>
                <a:spcPts val="6844"/>
              </a:lnSpc>
              <a:spcAft>
                <a:spcPts val="0"/>
              </a:spcAft>
            </a:pPr>
            <a:r>
              <a:rPr sz="5800" b="1">
                <a:solidFill>
                  <a:srgbClr val="B14B26"/>
                </a:solidFill>
                <a:latin typeface="Arial"/>
              </a:rPr>
              <a:t>23</a:t>
            </a:r>
          </a:p>
        </p:txBody>
      </p:sp>
      <p:sp>
        <p:nvSpPr>
          <p:cNvPr id="8" name="TextBox 7"/>
          <p:cNvSpPr txBox="1"/>
          <p:nvPr/>
        </p:nvSpPr>
        <p:spPr>
          <a:xfrm>
            <a:off x="3200400" y="2596896"/>
            <a:ext cx="1280160" cy="1060704"/>
          </a:xfrm>
          <a:prstGeom prst="rect">
            <a:avLst/>
          </a:prstGeom>
          <a:noFill/>
        </p:spPr>
        <p:txBody>
          <a:bodyPr wrap="square" lIns="0" tIns="0" rIns="0" bIns="0" anchor="ctr">
            <a:spAutoFit/>
          </a:bodyPr>
          <a:lstStyle/>
          <a:p>
            <a:pPr algn="l">
              <a:lnSpc>
                <a:spcPts val="1475"/>
              </a:lnSpc>
              <a:spcAft>
                <a:spcPts val="0"/>
              </a:spcAft>
            </a:pPr>
            <a:r>
              <a:rPr sz="1250" b="1" spc="150">
                <a:solidFill>
                  <a:srgbClr val="606978"/>
                </a:solidFill>
                <a:latin typeface="Arial"/>
              </a:rPr>
              <a:t>WORDS</a:t>
            </a:r>
          </a:p>
        </p:txBody>
      </p:sp>
      <p:sp>
        <p:nvSpPr>
          <p:cNvPr id="9" name="TextBox 8"/>
          <p:cNvSpPr txBox="1"/>
          <p:nvPr/>
        </p:nvSpPr>
        <p:spPr>
          <a:xfrm>
            <a:off x="4681728" y="2596896"/>
            <a:ext cx="12710160" cy="1060704"/>
          </a:xfrm>
          <a:prstGeom prst="rect">
            <a:avLst/>
          </a:prstGeom>
          <a:noFill/>
        </p:spPr>
        <p:txBody>
          <a:bodyPr wrap="square" lIns="0" tIns="0" rIns="0" bIns="0" anchor="ctr">
            <a:spAutoFit/>
          </a:bodyPr>
          <a:lstStyle/>
          <a:p>
            <a:pPr algn="l">
              <a:lnSpc>
                <a:spcPts val="2950"/>
              </a:lnSpc>
              <a:spcAft>
                <a:spcPts val="0"/>
              </a:spcAft>
            </a:pPr>
            <a:r>
              <a:rPr sz="2500" b="0">
                <a:solidFill>
                  <a:srgbClr val="1A1F29"/>
                </a:solidFill>
                <a:latin typeface="Georgia"/>
              </a:rPr>
              <a:t>weak model. “Client-side browser fetch.” That is the whole entry, plus an owner.</a:t>
            </a:r>
          </a:p>
        </p:txBody>
      </p:sp>
      <p:sp>
        <p:nvSpPr>
          <p:cNvPr id="10" name="TextBox 9"/>
          <p:cNvSpPr txBox="1"/>
          <p:nvPr/>
        </p:nvSpPr>
        <p:spPr>
          <a:xfrm>
            <a:off x="841248" y="3785615"/>
            <a:ext cx="2157984" cy="1024128"/>
          </a:xfrm>
          <a:prstGeom prst="rect">
            <a:avLst/>
          </a:prstGeom>
          <a:noFill/>
        </p:spPr>
        <p:txBody>
          <a:bodyPr wrap="square" lIns="0" tIns="0" rIns="0" bIns="0" anchor="ctr">
            <a:spAutoFit/>
          </a:bodyPr>
          <a:lstStyle/>
          <a:p>
            <a:pPr algn="r">
              <a:lnSpc>
                <a:spcPts val="6844"/>
              </a:lnSpc>
              <a:spcAft>
                <a:spcPts val="0"/>
              </a:spcAft>
            </a:pPr>
            <a:r>
              <a:rPr sz="5800" b="1">
                <a:solidFill>
                  <a:srgbClr val="B14B26"/>
                </a:solidFill>
                <a:latin typeface="Arial"/>
              </a:rPr>
              <a:t>450</a:t>
            </a:r>
          </a:p>
        </p:txBody>
      </p:sp>
      <p:sp>
        <p:nvSpPr>
          <p:cNvPr id="11" name="TextBox 10"/>
          <p:cNvSpPr txBox="1"/>
          <p:nvPr/>
        </p:nvSpPr>
        <p:spPr>
          <a:xfrm>
            <a:off x="3200400" y="3767328"/>
            <a:ext cx="1280160" cy="1060704"/>
          </a:xfrm>
          <a:prstGeom prst="rect">
            <a:avLst/>
          </a:prstGeom>
          <a:noFill/>
        </p:spPr>
        <p:txBody>
          <a:bodyPr wrap="square" lIns="0" tIns="0" rIns="0" bIns="0" anchor="ctr">
            <a:spAutoFit/>
          </a:bodyPr>
          <a:lstStyle/>
          <a:p>
            <a:pPr algn="l">
              <a:lnSpc>
                <a:spcPts val="1475"/>
              </a:lnSpc>
              <a:spcAft>
                <a:spcPts val="0"/>
              </a:spcAft>
            </a:pPr>
            <a:r>
              <a:rPr sz="1250" b="1" spc="150">
                <a:solidFill>
                  <a:srgbClr val="606978"/>
                </a:solidFill>
                <a:latin typeface="Arial"/>
              </a:rPr>
              <a:t>WORDS</a:t>
            </a:r>
          </a:p>
        </p:txBody>
      </p:sp>
      <p:sp>
        <p:nvSpPr>
          <p:cNvPr id="12" name="TextBox 11"/>
          <p:cNvSpPr txBox="1"/>
          <p:nvPr/>
        </p:nvSpPr>
        <p:spPr>
          <a:xfrm>
            <a:off x="4681728" y="3767328"/>
            <a:ext cx="12710160" cy="1060704"/>
          </a:xfrm>
          <a:prstGeom prst="rect">
            <a:avLst/>
          </a:prstGeom>
          <a:noFill/>
        </p:spPr>
        <p:txBody>
          <a:bodyPr wrap="square" lIns="0" tIns="0" rIns="0" bIns="0" anchor="ctr">
            <a:spAutoFit/>
          </a:bodyPr>
          <a:lstStyle/>
          <a:p>
            <a:pPr algn="l">
              <a:lnSpc>
                <a:spcPts val="2950"/>
              </a:lnSpc>
              <a:spcAft>
                <a:spcPts val="0"/>
              </a:spcAft>
            </a:pPr>
            <a:r>
              <a:rPr sz="2500" b="0">
                <a:solidFill>
                  <a:srgbClr val="1A1F29"/>
                </a:solidFill>
                <a:latin typeface="Georgia"/>
              </a:rPr>
              <a:t>weak skill. The literal payload, and img-src self, in prose with no labelled bullets.</a:t>
            </a:r>
          </a:p>
        </p:txBody>
      </p:sp>
      <p:sp>
        <p:nvSpPr>
          <p:cNvPr id="13" name="Rounded Rectangle 12"/>
          <p:cNvSpPr/>
          <p:nvPr/>
        </p:nvSpPr>
        <p:spPr>
          <a:xfrm>
            <a:off x="841248" y="4937760"/>
            <a:ext cx="16605504" cy="1060704"/>
          </a:xfrm>
          <a:prstGeom prst="roundRect">
            <a:avLst/>
          </a:prstGeom>
          <a:solidFill>
            <a:srgbClr val="EDEAE3"/>
          </a:solidFill>
          <a:ln>
            <a:noFill/>
          </a:ln>
          <a:effectLst/>
        </p:spPr>
        <p:txBody>
          <a:bodyPr wrap="square" rtlCol="0" anchor="ctr"/>
          <a:lstStyle/>
          <a:p>
            <a:pPr algn="ctr"/>
            <a:endParaRPr/>
          </a:p>
        </p:txBody>
      </p:sp>
      <p:sp>
        <p:nvSpPr>
          <p:cNvPr id="14" name="TextBox 13"/>
          <p:cNvSpPr txBox="1"/>
          <p:nvPr/>
        </p:nvSpPr>
        <p:spPr>
          <a:xfrm>
            <a:off x="841248" y="4956048"/>
            <a:ext cx="2157984" cy="1024128"/>
          </a:xfrm>
          <a:prstGeom prst="rect">
            <a:avLst/>
          </a:prstGeom>
          <a:noFill/>
        </p:spPr>
        <p:txBody>
          <a:bodyPr wrap="square" lIns="0" tIns="0" rIns="0" bIns="0" anchor="ctr">
            <a:spAutoFit/>
          </a:bodyPr>
          <a:lstStyle/>
          <a:p>
            <a:pPr algn="r">
              <a:lnSpc>
                <a:spcPts val="6844"/>
              </a:lnSpc>
              <a:spcAft>
                <a:spcPts val="0"/>
              </a:spcAft>
            </a:pPr>
            <a:r>
              <a:rPr sz="5800" b="1">
                <a:solidFill>
                  <a:srgbClr val="B14B26"/>
                </a:solidFill>
                <a:latin typeface="Arial"/>
              </a:rPr>
              <a:t>489</a:t>
            </a:r>
          </a:p>
        </p:txBody>
      </p:sp>
      <p:sp>
        <p:nvSpPr>
          <p:cNvPr id="15" name="TextBox 14"/>
          <p:cNvSpPr txBox="1"/>
          <p:nvPr/>
        </p:nvSpPr>
        <p:spPr>
          <a:xfrm>
            <a:off x="3200400" y="4937760"/>
            <a:ext cx="1280160" cy="1060704"/>
          </a:xfrm>
          <a:prstGeom prst="rect">
            <a:avLst/>
          </a:prstGeom>
          <a:noFill/>
        </p:spPr>
        <p:txBody>
          <a:bodyPr wrap="square" lIns="0" tIns="0" rIns="0" bIns="0" anchor="ctr">
            <a:spAutoFit/>
          </a:bodyPr>
          <a:lstStyle/>
          <a:p>
            <a:pPr algn="l">
              <a:lnSpc>
                <a:spcPts val="1475"/>
              </a:lnSpc>
              <a:spcAft>
                <a:spcPts val="0"/>
              </a:spcAft>
            </a:pPr>
            <a:r>
              <a:rPr sz="1250" b="1" spc="150">
                <a:solidFill>
                  <a:srgbClr val="606978"/>
                </a:solidFill>
                <a:latin typeface="Arial"/>
              </a:rPr>
              <a:t>WORDS</a:t>
            </a:r>
          </a:p>
        </p:txBody>
      </p:sp>
      <p:sp>
        <p:nvSpPr>
          <p:cNvPr id="16" name="TextBox 15"/>
          <p:cNvSpPr txBox="1"/>
          <p:nvPr/>
        </p:nvSpPr>
        <p:spPr>
          <a:xfrm>
            <a:off x="4681728" y="4937760"/>
            <a:ext cx="12710160" cy="1060704"/>
          </a:xfrm>
          <a:prstGeom prst="rect">
            <a:avLst/>
          </a:prstGeom>
          <a:noFill/>
        </p:spPr>
        <p:txBody>
          <a:bodyPr wrap="square" lIns="0" tIns="0" rIns="0" bIns="0" anchor="ctr">
            <a:spAutoFit/>
          </a:bodyPr>
          <a:lstStyle/>
          <a:p>
            <a:pPr algn="l">
              <a:lnSpc>
                <a:spcPts val="2950"/>
              </a:lnSpc>
              <a:spcAft>
                <a:spcPts val="0"/>
              </a:spcAft>
            </a:pPr>
            <a:r>
              <a:rPr sz="2500" b="0">
                <a:solidFill>
                  <a:srgbClr val="1A1F29"/>
                </a:solidFill>
                <a:latin typeface="Georgia"/>
              </a:rPr>
              <a:t>thin. Block Kit and unfurl_links=false: a specific fix, with no repository at all.</a:t>
            </a:r>
          </a:p>
        </p:txBody>
      </p:sp>
      <p:sp>
        <p:nvSpPr>
          <p:cNvPr id="17" name="TextBox 16"/>
          <p:cNvSpPr txBox="1"/>
          <p:nvPr/>
        </p:nvSpPr>
        <p:spPr>
          <a:xfrm>
            <a:off x="841248" y="6126480"/>
            <a:ext cx="2157984" cy="1024128"/>
          </a:xfrm>
          <a:prstGeom prst="rect">
            <a:avLst/>
          </a:prstGeom>
          <a:noFill/>
        </p:spPr>
        <p:txBody>
          <a:bodyPr wrap="square" lIns="0" tIns="0" rIns="0" bIns="0" anchor="ctr">
            <a:spAutoFit/>
          </a:bodyPr>
          <a:lstStyle/>
          <a:p>
            <a:pPr algn="r">
              <a:lnSpc>
                <a:spcPts val="6844"/>
              </a:lnSpc>
              <a:spcAft>
                <a:spcPts val="0"/>
              </a:spcAft>
            </a:pPr>
            <a:r>
              <a:rPr sz="5800" b="1">
                <a:solidFill>
                  <a:srgbClr val="B14B26"/>
                </a:solidFill>
                <a:latin typeface="Arial"/>
              </a:rPr>
              <a:t>700</a:t>
            </a:r>
          </a:p>
        </p:txBody>
      </p:sp>
      <p:sp>
        <p:nvSpPr>
          <p:cNvPr id="18" name="TextBox 17"/>
          <p:cNvSpPr txBox="1"/>
          <p:nvPr/>
        </p:nvSpPr>
        <p:spPr>
          <a:xfrm>
            <a:off x="3200400" y="6108192"/>
            <a:ext cx="1280160" cy="1060704"/>
          </a:xfrm>
          <a:prstGeom prst="rect">
            <a:avLst/>
          </a:prstGeom>
          <a:noFill/>
        </p:spPr>
        <p:txBody>
          <a:bodyPr wrap="square" lIns="0" tIns="0" rIns="0" bIns="0" anchor="ctr">
            <a:spAutoFit/>
          </a:bodyPr>
          <a:lstStyle/>
          <a:p>
            <a:pPr algn="l">
              <a:lnSpc>
                <a:spcPts val="1475"/>
              </a:lnSpc>
              <a:spcAft>
                <a:spcPts val="0"/>
              </a:spcAft>
            </a:pPr>
            <a:r>
              <a:rPr sz="1250" b="1" spc="150">
                <a:solidFill>
                  <a:srgbClr val="606978"/>
                </a:solidFill>
                <a:latin typeface="Arial"/>
              </a:rPr>
              <a:t>WORDS</a:t>
            </a:r>
          </a:p>
        </p:txBody>
      </p:sp>
      <p:sp>
        <p:nvSpPr>
          <p:cNvPr id="19" name="TextBox 18"/>
          <p:cNvSpPr txBox="1"/>
          <p:nvPr/>
        </p:nvSpPr>
        <p:spPr>
          <a:xfrm>
            <a:off x="4681728" y="6108192"/>
            <a:ext cx="12710160" cy="1060704"/>
          </a:xfrm>
          <a:prstGeom prst="rect">
            <a:avLst/>
          </a:prstGeom>
          <a:noFill/>
        </p:spPr>
        <p:txBody>
          <a:bodyPr wrap="square" lIns="0" tIns="0" rIns="0" bIns="0" anchor="ctr">
            <a:spAutoFit/>
          </a:bodyPr>
          <a:lstStyle/>
          <a:p>
            <a:pPr algn="l">
              <a:lnSpc>
                <a:spcPts val="2950"/>
              </a:lnSpc>
              <a:spcAft>
                <a:spcPts val="0"/>
              </a:spcAft>
            </a:pPr>
            <a:r>
              <a:rPr sz="2500" b="0">
                <a:solidFill>
                  <a:srgbClr val="1A1F29"/>
                </a:solidFill>
                <a:latin typeface="Georgia"/>
              </a:rPr>
              <a:t>no repo. The same fix, plus the room accepting it and a corrected three-day estimate.</a:t>
            </a:r>
          </a:p>
        </p:txBody>
      </p:sp>
      <p:sp>
        <p:nvSpPr>
          <p:cNvPr id="20" name="Rounded Rectangle 19"/>
          <p:cNvSpPr/>
          <p:nvPr/>
        </p:nvSpPr>
        <p:spPr>
          <a:xfrm>
            <a:off x="841248" y="7278624"/>
            <a:ext cx="16605504" cy="1060704"/>
          </a:xfrm>
          <a:prstGeom prst="roundRect">
            <a:avLst/>
          </a:prstGeom>
          <a:solidFill>
            <a:srgbClr val="EDEAE3"/>
          </a:solidFill>
          <a:ln>
            <a:noFill/>
          </a:ln>
          <a:effectLst/>
        </p:spPr>
        <p:txBody>
          <a:bodyPr wrap="square" rtlCol="0" anchor="ctr"/>
          <a:lstStyle/>
          <a:p>
            <a:pPr algn="ctr"/>
            <a:endParaRPr/>
          </a:p>
        </p:txBody>
      </p:sp>
      <p:sp>
        <p:nvSpPr>
          <p:cNvPr id="21" name="TextBox 20"/>
          <p:cNvSpPr txBox="1"/>
          <p:nvPr/>
        </p:nvSpPr>
        <p:spPr>
          <a:xfrm>
            <a:off x="841248" y="7296912"/>
            <a:ext cx="2157984" cy="1024128"/>
          </a:xfrm>
          <a:prstGeom prst="rect">
            <a:avLst/>
          </a:prstGeom>
          <a:noFill/>
        </p:spPr>
        <p:txBody>
          <a:bodyPr wrap="square" lIns="0" tIns="0" rIns="0" bIns="0" anchor="ctr">
            <a:spAutoFit/>
          </a:bodyPr>
          <a:lstStyle/>
          <a:p>
            <a:pPr algn="r">
              <a:lnSpc>
                <a:spcPts val="6844"/>
              </a:lnSpc>
              <a:spcAft>
                <a:spcPts val="0"/>
              </a:spcAft>
            </a:pPr>
            <a:r>
              <a:rPr sz="5800" b="1">
                <a:solidFill>
                  <a:srgbClr val="B14B26"/>
                </a:solidFill>
                <a:latin typeface="Arial"/>
              </a:rPr>
              <a:t>244</a:t>
            </a:r>
          </a:p>
        </p:txBody>
      </p:sp>
      <p:sp>
        <p:nvSpPr>
          <p:cNvPr id="22" name="TextBox 21"/>
          <p:cNvSpPr txBox="1"/>
          <p:nvPr/>
        </p:nvSpPr>
        <p:spPr>
          <a:xfrm>
            <a:off x="3200400" y="7278624"/>
            <a:ext cx="1280160" cy="1060704"/>
          </a:xfrm>
          <a:prstGeom prst="rect">
            <a:avLst/>
          </a:prstGeom>
          <a:noFill/>
        </p:spPr>
        <p:txBody>
          <a:bodyPr wrap="square" lIns="0" tIns="0" rIns="0" bIns="0" anchor="ctr">
            <a:spAutoFit/>
          </a:bodyPr>
          <a:lstStyle/>
          <a:p>
            <a:pPr algn="l">
              <a:lnSpc>
                <a:spcPts val="1475"/>
              </a:lnSpc>
              <a:spcAft>
                <a:spcPts val="0"/>
              </a:spcAft>
            </a:pPr>
            <a:r>
              <a:rPr sz="1250" b="1" spc="150">
                <a:solidFill>
                  <a:srgbClr val="606978"/>
                </a:solidFill>
                <a:latin typeface="Arial"/>
              </a:rPr>
              <a:t>WORDS</a:t>
            </a:r>
          </a:p>
        </p:txBody>
      </p:sp>
      <p:sp>
        <p:nvSpPr>
          <p:cNvPr id="23" name="TextBox 22"/>
          <p:cNvSpPr txBox="1"/>
          <p:nvPr/>
        </p:nvSpPr>
        <p:spPr>
          <a:xfrm>
            <a:off x="4681728" y="7278624"/>
            <a:ext cx="12710160" cy="1060704"/>
          </a:xfrm>
          <a:prstGeom prst="rect">
            <a:avLst/>
          </a:prstGeom>
          <a:noFill/>
        </p:spPr>
        <p:txBody>
          <a:bodyPr wrap="square" lIns="0" tIns="0" rIns="0" bIns="0" anchor="ctr">
            <a:spAutoFit/>
          </a:bodyPr>
          <a:lstStyle/>
          <a:p>
            <a:pPr algn="l">
              <a:lnSpc>
                <a:spcPts val="2950"/>
              </a:lnSpc>
              <a:spcAft>
                <a:spcPts val="0"/>
              </a:spcAft>
            </a:pPr>
            <a:r>
              <a:rPr sz="2500" b="0">
                <a:solidFill>
                  <a:srgbClr val="1A1F29"/>
                </a:solidFill>
                <a:latin typeface="Georgia"/>
              </a:rPr>
              <a:t>everything. The defect, the attack, the principle, and a CSP header you can paste.</a:t>
            </a:r>
          </a:p>
        </p:txBody>
      </p:sp>
      <p:sp>
        <p:nvSpPr>
          <p:cNvPr id="24" name="Rectangle 23"/>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25" name="TextBox 24"/>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Ordered as the columns, not by length. The best entry is the second shortest: three of the five hand you a header you can paste, and only this one is the finding and nothing else.</a:t>
            </a:r>
          </a:p>
        </p:txBody>
      </p:sp>
      <p:sp>
        <p:nvSpPr>
          <p:cNvPr id="26" name="TextBox 25"/>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13      Security Champion Summit 2026      Brett Crawley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WHAT A FINDING ACTUALLY CONTAINS, COUNTED PER FINDING BLOCK</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Three of the five had the code. Only one tells you where to look.</a:t>
            </a:r>
          </a:p>
        </p:txBody>
      </p:sp>
      <p:sp>
        <p:nvSpPr>
          <p:cNvPr id="5" name="Rounded Rectangle 4"/>
          <p:cNvSpPr/>
          <p:nvPr/>
        </p:nvSpPr>
        <p:spPr>
          <a:xfrm>
            <a:off x="841248" y="2066543"/>
            <a:ext cx="16605504" cy="425069"/>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987552" y="2066543"/>
            <a:ext cx="5980176" cy="425069"/>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PER FINDING</a:t>
            </a:r>
          </a:p>
        </p:txBody>
      </p:sp>
      <p:sp>
        <p:nvSpPr>
          <p:cNvPr id="7" name="TextBox 6"/>
          <p:cNvSpPr txBox="1"/>
          <p:nvPr/>
        </p:nvSpPr>
        <p:spPr>
          <a:xfrm>
            <a:off x="7196328" y="2066543"/>
            <a:ext cx="1792224"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WEAK MODEL</a:t>
            </a:r>
          </a:p>
        </p:txBody>
      </p:sp>
      <p:sp>
        <p:nvSpPr>
          <p:cNvPr id="8" name="TextBox 7"/>
          <p:cNvSpPr txBox="1"/>
          <p:nvPr/>
        </p:nvSpPr>
        <p:spPr>
          <a:xfrm>
            <a:off x="9299448" y="2066543"/>
            <a:ext cx="1792224"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WEAK SKILL</a:t>
            </a:r>
          </a:p>
        </p:txBody>
      </p:sp>
      <p:sp>
        <p:nvSpPr>
          <p:cNvPr id="9" name="TextBox 8"/>
          <p:cNvSpPr txBox="1"/>
          <p:nvPr/>
        </p:nvSpPr>
        <p:spPr>
          <a:xfrm>
            <a:off x="11393424" y="2066543"/>
            <a:ext cx="1792224"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THIN</a:t>
            </a:r>
          </a:p>
        </p:txBody>
      </p:sp>
      <p:sp>
        <p:nvSpPr>
          <p:cNvPr id="10" name="TextBox 9"/>
          <p:cNvSpPr txBox="1"/>
          <p:nvPr/>
        </p:nvSpPr>
        <p:spPr>
          <a:xfrm>
            <a:off x="13487400" y="2066543"/>
            <a:ext cx="1792224"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NO REPO</a:t>
            </a:r>
          </a:p>
        </p:txBody>
      </p:sp>
      <p:sp>
        <p:nvSpPr>
          <p:cNvPr id="11" name="TextBox 10"/>
          <p:cNvSpPr txBox="1"/>
          <p:nvPr/>
        </p:nvSpPr>
        <p:spPr>
          <a:xfrm>
            <a:off x="15581376" y="2066543"/>
            <a:ext cx="1792224" cy="425069"/>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EVERYTHING</a:t>
            </a:r>
          </a:p>
        </p:txBody>
      </p:sp>
      <p:sp>
        <p:nvSpPr>
          <p:cNvPr id="12" name="TextBox 11"/>
          <p:cNvSpPr txBox="1"/>
          <p:nvPr/>
        </p:nvSpPr>
        <p:spPr>
          <a:xfrm>
            <a:off x="987552" y="2491612"/>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File path and line number</a:t>
            </a:r>
          </a:p>
        </p:txBody>
      </p:sp>
      <p:sp>
        <p:nvSpPr>
          <p:cNvPr id="13" name="TextBox 12"/>
          <p:cNvSpPr txBox="1"/>
          <p:nvPr/>
        </p:nvSpPr>
        <p:spPr>
          <a:xfrm>
            <a:off x="7196328" y="2491612"/>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14" name="TextBox 13"/>
          <p:cNvSpPr txBox="1"/>
          <p:nvPr/>
        </p:nvSpPr>
        <p:spPr>
          <a:xfrm>
            <a:off x="9299448" y="2491612"/>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15" name="TextBox 14"/>
          <p:cNvSpPr txBox="1"/>
          <p:nvPr/>
        </p:nvSpPr>
        <p:spPr>
          <a:xfrm>
            <a:off x="11393424" y="2491612"/>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16" name="TextBox 15"/>
          <p:cNvSpPr txBox="1"/>
          <p:nvPr/>
        </p:nvSpPr>
        <p:spPr>
          <a:xfrm>
            <a:off x="13487400" y="2491612"/>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17" name="Rounded Rectangle 16"/>
          <p:cNvSpPr/>
          <p:nvPr/>
        </p:nvSpPr>
        <p:spPr>
          <a:xfrm>
            <a:off x="16058164" y="2563685"/>
            <a:ext cx="838647" cy="310896"/>
          </a:xfrm>
          <a:prstGeom prst="roundRect">
            <a:avLst>
              <a:gd name="adj" fmla="val 50000"/>
            </a:avLst>
          </a:prstGeom>
          <a:solidFill>
            <a:srgbClr val="B14B26"/>
          </a:solidFill>
          <a:ln>
            <a:noFill/>
          </a:ln>
          <a:effectLst/>
        </p:spPr>
        <p:txBody>
          <a:bodyPr wrap="square" rtlCol="0" anchor="ctr"/>
          <a:lstStyle/>
          <a:p>
            <a:pPr algn="ctr"/>
            <a:endParaRPr/>
          </a:p>
        </p:txBody>
      </p:sp>
      <p:sp>
        <p:nvSpPr>
          <p:cNvPr id="18" name="TextBox 17"/>
          <p:cNvSpPr txBox="1"/>
          <p:nvPr/>
        </p:nvSpPr>
        <p:spPr>
          <a:xfrm>
            <a:off x="15581376" y="2491612"/>
            <a:ext cx="1792224" cy="455040"/>
          </a:xfrm>
          <a:prstGeom prst="rect">
            <a:avLst/>
          </a:prstGeom>
          <a:noFill/>
        </p:spPr>
        <p:txBody>
          <a:bodyPr wrap="square" lIns="0" tIns="0" rIns="0" bIns="0" anchor="ctr">
            <a:spAutoFit/>
          </a:bodyPr>
          <a:lstStyle/>
          <a:p>
            <a:pPr algn="ctr">
              <a:lnSpc>
                <a:spcPts val="1711"/>
              </a:lnSpc>
              <a:spcAft>
                <a:spcPts val="0"/>
              </a:spcAft>
            </a:pPr>
            <a:r>
              <a:rPr sz="1450" b="1">
                <a:solidFill>
                  <a:srgbClr val="FFFFFF"/>
                </a:solidFill>
                <a:latin typeface="Arial"/>
              </a:rPr>
              <a:t>79%</a:t>
            </a:r>
          </a:p>
        </p:txBody>
      </p:sp>
      <p:sp>
        <p:nvSpPr>
          <p:cNvPr id="19" name="Rounded Rectangle 18"/>
          <p:cNvSpPr/>
          <p:nvPr/>
        </p:nvSpPr>
        <p:spPr>
          <a:xfrm>
            <a:off x="841248" y="2946653"/>
            <a:ext cx="16605504" cy="455040"/>
          </a:xfrm>
          <a:prstGeom prst="roundRect">
            <a:avLst/>
          </a:prstGeom>
          <a:solidFill>
            <a:srgbClr val="EDEAE3"/>
          </a:solidFill>
          <a:ln>
            <a:noFill/>
          </a:ln>
          <a:effectLst/>
        </p:spPr>
        <p:txBody>
          <a:bodyPr wrap="square" rtlCol="0" anchor="ctr"/>
          <a:lstStyle/>
          <a:p>
            <a:pPr algn="ctr"/>
            <a:endParaRPr/>
          </a:p>
        </p:txBody>
      </p:sp>
      <p:sp>
        <p:nvSpPr>
          <p:cNvPr id="20" name="TextBox 19"/>
          <p:cNvSpPr txBox="1"/>
          <p:nvPr/>
        </p:nvSpPr>
        <p:spPr>
          <a:xfrm>
            <a:off x="987552" y="2946653"/>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File path of any kind</a:t>
            </a:r>
          </a:p>
        </p:txBody>
      </p:sp>
      <p:sp>
        <p:nvSpPr>
          <p:cNvPr id="21" name="TextBox 20"/>
          <p:cNvSpPr txBox="1"/>
          <p:nvPr/>
        </p:nvSpPr>
        <p:spPr>
          <a:xfrm>
            <a:off x="7196328" y="2946653"/>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22" name="TextBox 21"/>
          <p:cNvSpPr txBox="1"/>
          <p:nvPr/>
        </p:nvSpPr>
        <p:spPr>
          <a:xfrm>
            <a:off x="9299448" y="2946653"/>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71%</a:t>
            </a:r>
          </a:p>
        </p:txBody>
      </p:sp>
      <p:sp>
        <p:nvSpPr>
          <p:cNvPr id="23" name="TextBox 22"/>
          <p:cNvSpPr txBox="1"/>
          <p:nvPr/>
        </p:nvSpPr>
        <p:spPr>
          <a:xfrm>
            <a:off x="11393424" y="2946653"/>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12%</a:t>
            </a:r>
          </a:p>
        </p:txBody>
      </p:sp>
      <p:sp>
        <p:nvSpPr>
          <p:cNvPr id="24" name="TextBox 23"/>
          <p:cNvSpPr txBox="1"/>
          <p:nvPr/>
        </p:nvSpPr>
        <p:spPr>
          <a:xfrm>
            <a:off x="13487400" y="2946653"/>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a:t>
            </a:r>
          </a:p>
        </p:txBody>
      </p:sp>
      <p:sp>
        <p:nvSpPr>
          <p:cNvPr id="25" name="TextBox 24"/>
          <p:cNvSpPr txBox="1"/>
          <p:nvPr/>
        </p:nvSpPr>
        <p:spPr>
          <a:xfrm>
            <a:off x="15581376" y="2946653"/>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85%</a:t>
            </a:r>
          </a:p>
        </p:txBody>
      </p:sp>
      <p:sp>
        <p:nvSpPr>
          <p:cNvPr id="26" name="TextBox 25"/>
          <p:cNvSpPr txBox="1"/>
          <p:nvPr/>
        </p:nvSpPr>
        <p:spPr>
          <a:xfrm>
            <a:off x="987552" y="3401695"/>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Ticket or design-page anchor</a:t>
            </a:r>
          </a:p>
        </p:txBody>
      </p:sp>
      <p:sp>
        <p:nvSpPr>
          <p:cNvPr id="27" name="TextBox 26"/>
          <p:cNvSpPr txBox="1"/>
          <p:nvPr/>
        </p:nvSpPr>
        <p:spPr>
          <a:xfrm>
            <a:off x="7196328" y="340169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23%</a:t>
            </a:r>
          </a:p>
        </p:txBody>
      </p:sp>
      <p:sp>
        <p:nvSpPr>
          <p:cNvPr id="28" name="TextBox 27"/>
          <p:cNvSpPr txBox="1"/>
          <p:nvPr/>
        </p:nvSpPr>
        <p:spPr>
          <a:xfrm>
            <a:off x="9299448" y="340169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51%</a:t>
            </a:r>
          </a:p>
        </p:txBody>
      </p:sp>
      <p:sp>
        <p:nvSpPr>
          <p:cNvPr id="29" name="TextBox 28"/>
          <p:cNvSpPr txBox="1"/>
          <p:nvPr/>
        </p:nvSpPr>
        <p:spPr>
          <a:xfrm>
            <a:off x="11393424" y="340169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66%</a:t>
            </a:r>
          </a:p>
        </p:txBody>
      </p:sp>
      <p:sp>
        <p:nvSpPr>
          <p:cNvPr id="30" name="TextBox 29"/>
          <p:cNvSpPr txBox="1"/>
          <p:nvPr/>
        </p:nvSpPr>
        <p:spPr>
          <a:xfrm>
            <a:off x="13487400" y="340169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66%</a:t>
            </a:r>
          </a:p>
        </p:txBody>
      </p:sp>
      <p:sp>
        <p:nvSpPr>
          <p:cNvPr id="31" name="TextBox 30"/>
          <p:cNvSpPr txBox="1"/>
          <p:nvPr/>
        </p:nvSpPr>
        <p:spPr>
          <a:xfrm>
            <a:off x="15581376" y="340169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45%</a:t>
            </a:r>
          </a:p>
        </p:txBody>
      </p:sp>
      <p:sp>
        <p:nvSpPr>
          <p:cNvPr id="32" name="Rounded Rectangle 31"/>
          <p:cNvSpPr/>
          <p:nvPr/>
        </p:nvSpPr>
        <p:spPr>
          <a:xfrm>
            <a:off x="841248" y="3856735"/>
            <a:ext cx="16605504" cy="455040"/>
          </a:xfrm>
          <a:prstGeom prst="roundRect">
            <a:avLst/>
          </a:prstGeom>
          <a:solidFill>
            <a:srgbClr val="EDEAE3"/>
          </a:solidFill>
          <a:ln>
            <a:noFill/>
          </a:ln>
          <a:effectLst/>
        </p:spPr>
        <p:txBody>
          <a:bodyPr wrap="square" rtlCol="0" anchor="ctr"/>
          <a:lstStyle/>
          <a:p>
            <a:pPr algn="ctr"/>
            <a:endParaRPr/>
          </a:p>
        </p:txBody>
      </p:sp>
      <p:sp>
        <p:nvSpPr>
          <p:cNvPr id="33" name="TextBox 32"/>
          <p:cNvSpPr txBox="1"/>
          <p:nvPr/>
        </p:nvSpPr>
        <p:spPr>
          <a:xfrm>
            <a:off x="987552" y="3856735"/>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Any locator at all</a:t>
            </a:r>
          </a:p>
        </p:txBody>
      </p:sp>
      <p:sp>
        <p:nvSpPr>
          <p:cNvPr id="34" name="TextBox 33"/>
          <p:cNvSpPr txBox="1"/>
          <p:nvPr/>
        </p:nvSpPr>
        <p:spPr>
          <a:xfrm>
            <a:off x="7196328" y="385673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23%</a:t>
            </a:r>
          </a:p>
        </p:txBody>
      </p:sp>
      <p:sp>
        <p:nvSpPr>
          <p:cNvPr id="35" name="TextBox 34"/>
          <p:cNvSpPr txBox="1"/>
          <p:nvPr/>
        </p:nvSpPr>
        <p:spPr>
          <a:xfrm>
            <a:off x="9299448" y="385673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86%</a:t>
            </a:r>
          </a:p>
        </p:txBody>
      </p:sp>
      <p:sp>
        <p:nvSpPr>
          <p:cNvPr id="36" name="TextBox 35"/>
          <p:cNvSpPr txBox="1"/>
          <p:nvPr/>
        </p:nvSpPr>
        <p:spPr>
          <a:xfrm>
            <a:off x="11393424" y="385673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66%</a:t>
            </a:r>
          </a:p>
        </p:txBody>
      </p:sp>
      <p:sp>
        <p:nvSpPr>
          <p:cNvPr id="37" name="TextBox 36"/>
          <p:cNvSpPr txBox="1"/>
          <p:nvPr/>
        </p:nvSpPr>
        <p:spPr>
          <a:xfrm>
            <a:off x="13487400" y="385673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68%</a:t>
            </a:r>
          </a:p>
        </p:txBody>
      </p:sp>
      <p:sp>
        <p:nvSpPr>
          <p:cNvPr id="38" name="TextBox 37"/>
          <p:cNvSpPr txBox="1"/>
          <p:nvPr/>
        </p:nvSpPr>
        <p:spPr>
          <a:xfrm>
            <a:off x="15581376" y="3856735"/>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93%</a:t>
            </a:r>
          </a:p>
        </p:txBody>
      </p:sp>
      <p:sp>
        <p:nvSpPr>
          <p:cNvPr id="39" name="TextBox 38"/>
          <p:cNvSpPr txBox="1"/>
          <p:nvPr/>
        </p:nvSpPr>
        <p:spPr>
          <a:xfrm>
            <a:off x="987552" y="4311776"/>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Worked attack narrative, labelled</a:t>
            </a:r>
          </a:p>
        </p:txBody>
      </p:sp>
      <p:sp>
        <p:nvSpPr>
          <p:cNvPr id="40" name="TextBox 39"/>
          <p:cNvSpPr txBox="1"/>
          <p:nvPr/>
        </p:nvSpPr>
        <p:spPr>
          <a:xfrm>
            <a:off x="7196328" y="4311776"/>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1" name="TextBox 40"/>
          <p:cNvSpPr txBox="1"/>
          <p:nvPr/>
        </p:nvSpPr>
        <p:spPr>
          <a:xfrm>
            <a:off x="9299448" y="4311776"/>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2" name="TextBox 41"/>
          <p:cNvSpPr txBox="1"/>
          <p:nvPr/>
        </p:nvSpPr>
        <p:spPr>
          <a:xfrm>
            <a:off x="11393424" y="4311776"/>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43" name="TextBox 42"/>
          <p:cNvSpPr txBox="1"/>
          <p:nvPr/>
        </p:nvSpPr>
        <p:spPr>
          <a:xfrm>
            <a:off x="13487400" y="4311776"/>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44" name="TextBox 43"/>
          <p:cNvSpPr txBox="1"/>
          <p:nvPr/>
        </p:nvSpPr>
        <p:spPr>
          <a:xfrm>
            <a:off x="15581376" y="4311776"/>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45" name="Rounded Rectangle 44"/>
          <p:cNvSpPr/>
          <p:nvPr/>
        </p:nvSpPr>
        <p:spPr>
          <a:xfrm>
            <a:off x="841248" y="4766818"/>
            <a:ext cx="16605504" cy="455040"/>
          </a:xfrm>
          <a:prstGeom prst="roundRect">
            <a:avLst/>
          </a:prstGeom>
          <a:solidFill>
            <a:srgbClr val="EDEAE3"/>
          </a:solidFill>
          <a:ln>
            <a:noFill/>
          </a:ln>
          <a:effectLst/>
        </p:spPr>
        <p:txBody>
          <a:bodyPr wrap="square" rtlCol="0" anchor="ctr"/>
          <a:lstStyle/>
          <a:p>
            <a:pPr algn="ctr"/>
            <a:endParaRPr/>
          </a:p>
        </p:txBody>
      </p:sp>
      <p:sp>
        <p:nvSpPr>
          <p:cNvPr id="46" name="TextBox 45"/>
          <p:cNvSpPr txBox="1"/>
          <p:nvPr/>
        </p:nvSpPr>
        <p:spPr>
          <a:xfrm>
            <a:off x="987552" y="4766818"/>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 mitigation</a:t>
            </a:r>
          </a:p>
        </p:txBody>
      </p:sp>
      <p:sp>
        <p:nvSpPr>
          <p:cNvPr id="47" name="TextBox 46"/>
          <p:cNvSpPr txBox="1"/>
          <p:nvPr/>
        </p:nvSpPr>
        <p:spPr>
          <a:xfrm>
            <a:off x="7196328" y="4766818"/>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48" name="TextBox 47"/>
          <p:cNvSpPr txBox="1"/>
          <p:nvPr/>
        </p:nvSpPr>
        <p:spPr>
          <a:xfrm>
            <a:off x="9299448" y="4766818"/>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77%</a:t>
            </a:r>
          </a:p>
        </p:txBody>
      </p:sp>
      <p:sp>
        <p:nvSpPr>
          <p:cNvPr id="49" name="TextBox 48"/>
          <p:cNvSpPr txBox="1"/>
          <p:nvPr/>
        </p:nvSpPr>
        <p:spPr>
          <a:xfrm>
            <a:off x="11393424" y="4766818"/>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0" name="TextBox 49"/>
          <p:cNvSpPr txBox="1"/>
          <p:nvPr/>
        </p:nvSpPr>
        <p:spPr>
          <a:xfrm>
            <a:off x="13487400" y="4766818"/>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1" name="TextBox 50"/>
          <p:cNvSpPr txBox="1"/>
          <p:nvPr/>
        </p:nvSpPr>
        <p:spPr>
          <a:xfrm>
            <a:off x="15581376" y="4766818"/>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2" name="TextBox 51"/>
          <p:cNvSpPr txBox="1"/>
          <p:nvPr/>
        </p:nvSpPr>
        <p:spPr>
          <a:xfrm>
            <a:off x="987552" y="5221859"/>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A worked mitigation you could paste</a:t>
            </a:r>
          </a:p>
        </p:txBody>
      </p:sp>
      <p:sp>
        <p:nvSpPr>
          <p:cNvPr id="53" name="TextBox 52"/>
          <p:cNvSpPr txBox="1"/>
          <p:nvPr/>
        </p:nvSpPr>
        <p:spPr>
          <a:xfrm>
            <a:off x="7196328" y="5221859"/>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54" name="TextBox 53"/>
          <p:cNvSpPr txBox="1"/>
          <p:nvPr/>
        </p:nvSpPr>
        <p:spPr>
          <a:xfrm>
            <a:off x="9299448" y="5221859"/>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a:t>
            </a:r>
          </a:p>
        </p:txBody>
      </p:sp>
      <p:sp>
        <p:nvSpPr>
          <p:cNvPr id="55" name="TextBox 54"/>
          <p:cNvSpPr txBox="1"/>
          <p:nvPr/>
        </p:nvSpPr>
        <p:spPr>
          <a:xfrm>
            <a:off x="11393424" y="5221859"/>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6" name="TextBox 55"/>
          <p:cNvSpPr txBox="1"/>
          <p:nvPr/>
        </p:nvSpPr>
        <p:spPr>
          <a:xfrm>
            <a:off x="13487400" y="5221859"/>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7" name="TextBox 56"/>
          <p:cNvSpPr txBox="1"/>
          <p:nvPr/>
        </p:nvSpPr>
        <p:spPr>
          <a:xfrm>
            <a:off x="15581376" y="5221859"/>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100%</a:t>
            </a:r>
          </a:p>
        </p:txBody>
      </p:sp>
      <p:sp>
        <p:nvSpPr>
          <p:cNvPr id="58" name="Rounded Rectangle 57"/>
          <p:cNvSpPr/>
          <p:nvPr/>
        </p:nvSpPr>
        <p:spPr>
          <a:xfrm>
            <a:off x="841248" y="5676900"/>
            <a:ext cx="16605504" cy="455040"/>
          </a:xfrm>
          <a:prstGeom prst="roundRect">
            <a:avLst/>
          </a:prstGeom>
          <a:solidFill>
            <a:srgbClr val="EDEAE3"/>
          </a:solidFill>
          <a:ln>
            <a:noFill/>
          </a:ln>
          <a:effectLst/>
        </p:spPr>
        <p:txBody>
          <a:bodyPr wrap="square" rtlCol="0" anchor="ctr"/>
          <a:lstStyle/>
          <a:p>
            <a:pPr algn="ctr"/>
            <a:endParaRPr/>
          </a:p>
        </p:txBody>
      </p:sp>
      <p:sp>
        <p:nvSpPr>
          <p:cNvPr id="59" name="TextBox 58"/>
          <p:cNvSpPr txBox="1"/>
          <p:nvPr/>
        </p:nvSpPr>
        <p:spPr>
          <a:xfrm>
            <a:off x="987552" y="5676900"/>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Reason for that severity*</a:t>
            </a:r>
          </a:p>
        </p:txBody>
      </p:sp>
      <p:sp>
        <p:nvSpPr>
          <p:cNvPr id="60" name="TextBox 59"/>
          <p:cNvSpPr txBox="1"/>
          <p:nvPr/>
        </p:nvSpPr>
        <p:spPr>
          <a:xfrm>
            <a:off x="7196328" y="5676900"/>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 of 13</a:t>
            </a:r>
          </a:p>
        </p:txBody>
      </p:sp>
      <p:sp>
        <p:nvSpPr>
          <p:cNvPr id="61" name="TextBox 60"/>
          <p:cNvSpPr txBox="1"/>
          <p:nvPr/>
        </p:nvSpPr>
        <p:spPr>
          <a:xfrm>
            <a:off x="9299448" y="5676900"/>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10 of 35</a:t>
            </a:r>
          </a:p>
        </p:txBody>
      </p:sp>
      <p:sp>
        <p:nvSpPr>
          <p:cNvPr id="62" name="TextBox 61"/>
          <p:cNvSpPr txBox="1"/>
          <p:nvPr/>
        </p:nvSpPr>
        <p:spPr>
          <a:xfrm>
            <a:off x="11393424" y="5676900"/>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0 of 74</a:t>
            </a:r>
          </a:p>
        </p:txBody>
      </p:sp>
      <p:sp>
        <p:nvSpPr>
          <p:cNvPr id="63" name="TextBox 62"/>
          <p:cNvSpPr txBox="1"/>
          <p:nvPr/>
        </p:nvSpPr>
        <p:spPr>
          <a:xfrm>
            <a:off x="13487400" y="5676900"/>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8 of 71</a:t>
            </a:r>
          </a:p>
        </p:txBody>
      </p:sp>
      <p:sp>
        <p:nvSpPr>
          <p:cNvPr id="64" name="TextBox 63"/>
          <p:cNvSpPr txBox="1"/>
          <p:nvPr/>
        </p:nvSpPr>
        <p:spPr>
          <a:xfrm>
            <a:off x="15581376" y="5676900"/>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 of 75</a:t>
            </a:r>
          </a:p>
        </p:txBody>
      </p:sp>
      <p:sp>
        <p:nvSpPr>
          <p:cNvPr id="65" name="TextBox 64"/>
          <p:cNvSpPr txBox="1"/>
          <p:nvPr/>
        </p:nvSpPr>
        <p:spPr>
          <a:xfrm>
            <a:off x="987552" y="6131941"/>
            <a:ext cx="5980176" cy="455040"/>
          </a:xfrm>
          <a:prstGeom prst="rect">
            <a:avLst/>
          </a:prstGeom>
          <a:noFill/>
        </p:spPr>
        <p:txBody>
          <a:bodyPr wrap="square" lIns="0" tIns="0" rIns="0" bIns="0" anchor="ctr">
            <a:spAutoFit/>
          </a:bodyPr>
          <a:lstStyle/>
          <a:p>
            <a:pPr algn="l">
              <a:lnSpc>
                <a:spcPts val="1711"/>
              </a:lnSpc>
              <a:spcAft>
                <a:spcPts val="0"/>
              </a:spcAft>
            </a:pPr>
            <a:r>
              <a:rPr sz="1450" b="0">
                <a:solidFill>
                  <a:srgbClr val="1A1F29"/>
                </a:solidFill>
                <a:latin typeface="Arial"/>
              </a:rPr>
              <a:t>Median words in the finding</a:t>
            </a:r>
          </a:p>
        </p:txBody>
      </p:sp>
      <p:sp>
        <p:nvSpPr>
          <p:cNvPr id="66" name="TextBox 65"/>
          <p:cNvSpPr txBox="1"/>
          <p:nvPr/>
        </p:nvSpPr>
        <p:spPr>
          <a:xfrm>
            <a:off x="7196328" y="6131941"/>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15</a:t>
            </a:r>
          </a:p>
        </p:txBody>
      </p:sp>
      <p:sp>
        <p:nvSpPr>
          <p:cNvPr id="67" name="TextBox 66"/>
          <p:cNvSpPr txBox="1"/>
          <p:nvPr/>
        </p:nvSpPr>
        <p:spPr>
          <a:xfrm>
            <a:off x="9299448" y="6131941"/>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296</a:t>
            </a:r>
          </a:p>
        </p:txBody>
      </p:sp>
      <p:sp>
        <p:nvSpPr>
          <p:cNvPr id="68" name="TextBox 67"/>
          <p:cNvSpPr txBox="1"/>
          <p:nvPr/>
        </p:nvSpPr>
        <p:spPr>
          <a:xfrm>
            <a:off x="11393424" y="6131941"/>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218</a:t>
            </a:r>
          </a:p>
        </p:txBody>
      </p:sp>
      <p:sp>
        <p:nvSpPr>
          <p:cNvPr id="69" name="TextBox 68"/>
          <p:cNvSpPr txBox="1"/>
          <p:nvPr/>
        </p:nvSpPr>
        <p:spPr>
          <a:xfrm>
            <a:off x="13487400" y="6131941"/>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339</a:t>
            </a:r>
          </a:p>
        </p:txBody>
      </p:sp>
      <p:sp>
        <p:nvSpPr>
          <p:cNvPr id="70" name="TextBox 69"/>
          <p:cNvSpPr txBox="1"/>
          <p:nvPr/>
        </p:nvSpPr>
        <p:spPr>
          <a:xfrm>
            <a:off x="15581376" y="6131941"/>
            <a:ext cx="1792224" cy="455040"/>
          </a:xfrm>
          <a:prstGeom prst="rect">
            <a:avLst/>
          </a:prstGeom>
          <a:noFill/>
        </p:spPr>
        <p:txBody>
          <a:bodyPr wrap="square" lIns="0" tIns="0" rIns="0" bIns="0" anchor="ctr">
            <a:spAutoFit/>
          </a:bodyPr>
          <a:lstStyle/>
          <a:p>
            <a:pPr algn="ctr">
              <a:lnSpc>
                <a:spcPts val="1711"/>
              </a:lnSpc>
              <a:spcAft>
                <a:spcPts val="0"/>
              </a:spcAft>
            </a:pPr>
            <a:r>
              <a:rPr sz="1450" b="0">
                <a:solidFill>
                  <a:srgbClr val="1A1F29"/>
                </a:solidFill>
                <a:latin typeface="Arial"/>
              </a:rPr>
              <a:t>199</a:t>
            </a:r>
          </a:p>
        </p:txBody>
      </p:sp>
      <p:sp>
        <p:nvSpPr>
          <p:cNvPr id="71" name="TextBox 70"/>
          <p:cNvSpPr txBox="1"/>
          <p:nvPr/>
        </p:nvSpPr>
        <p:spPr>
          <a:xfrm>
            <a:off x="841248" y="6806438"/>
            <a:ext cx="16605504" cy="1011936"/>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 The weak skill's template has no labelled example bullet. A hand count found an actor-and-steps narrative in 19 of its 26 STRIDE findings and a reproducible payload or endpoint in 7.</a:t>
            </a:r>
          </a:p>
          <a:p>
            <a:pPr algn="l">
              <a:lnSpc>
                <a:spcPts val="1652"/>
              </a:lnSpc>
              <a:spcBef>
                <a:spcPts val="500"/>
              </a:spcBef>
              <a:spcAft>
                <a:spcPts val="0"/>
              </a:spcAft>
            </a:pPr>
            <a:r>
              <a:rPr sz="1400" b="0">
                <a:solidFill>
                  <a:srgbClr val="606978"/>
                </a:solidFill>
                <a:latin typeface="Arial"/>
              </a:rPr>
              <a:t>* Severity-rationale is hand counted, and the weak skill's 10 is counted on a different test from the other four, which use an explicit rationale bullet it does not have. The file-path row counts any path: the 12% and 7% are the packs' own document names, not source files.</a:t>
            </a:r>
          </a:p>
          <a:p>
            <a:pPr algn="l">
              <a:lnSpc>
                <a:spcPts val="1652"/>
              </a:lnSpc>
              <a:spcBef>
                <a:spcPts val="500"/>
              </a:spcBef>
              <a:spcAft>
                <a:spcPts val="0"/>
              </a:spcAft>
            </a:pPr>
            <a:r>
              <a:rPr sz="1400" b="0">
                <a:solidFill>
                  <a:srgbClr val="606978"/>
                </a:solidFill>
                <a:latin typeface="Arial"/>
              </a:rPr>
              <a:t>Every pack fails on the reason. Severity is stated on virtually every finding and argued on almost none, and no pack states a scale anywhere.</a:t>
            </a:r>
          </a:p>
        </p:txBody>
      </p:sp>
      <p:sp>
        <p:nvSpPr>
          <p:cNvPr id="72" name="Rectangle 71"/>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73" name="TextBox 72"/>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An engineer told a thing is High, and not told why, cannot argue with it and cannot prioritise it against the other twenty-nine Highs.</a:t>
            </a:r>
          </a:p>
        </p:txBody>
      </p:sp>
      <p:sp>
        <p:nvSpPr>
          <p:cNvPr id="74" name="TextBox 73"/>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14      Security Champion Summit 2026      Brett Crawley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FIVE CHECKS, NONE NEEDING SECURITY EXPERTISE</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Five questions that take under a minute each.</a:t>
            </a:r>
          </a:p>
        </p:txBody>
      </p:sp>
      <p:sp>
        <p:nvSpPr>
          <p:cNvPr id="5" name="Rounded Rectangle 4"/>
          <p:cNvSpPr/>
          <p:nvPr/>
        </p:nvSpPr>
        <p:spPr>
          <a:xfrm>
            <a:off x="841248" y="2103120"/>
            <a:ext cx="16605504" cy="640080"/>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987552" y="2103120"/>
            <a:ext cx="3017520" cy="640080"/>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ASK THIS</a:t>
            </a:r>
          </a:p>
        </p:txBody>
      </p:sp>
      <p:sp>
        <p:nvSpPr>
          <p:cNvPr id="7" name="TextBox 6"/>
          <p:cNvSpPr txBox="1"/>
          <p:nvPr/>
        </p:nvSpPr>
        <p:spPr>
          <a:xfrm>
            <a:off x="4151376" y="2103120"/>
            <a:ext cx="6400800" cy="640080"/>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WHY IT WORKS</a:t>
            </a:r>
          </a:p>
        </p:txBody>
      </p:sp>
      <p:sp>
        <p:nvSpPr>
          <p:cNvPr id="8" name="TextBox 7"/>
          <p:cNvSpPr txBox="1"/>
          <p:nvPr/>
        </p:nvSpPr>
        <p:spPr>
          <a:xfrm>
            <a:off x="10817352" y="2103120"/>
            <a:ext cx="6583680" cy="640080"/>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WHAT IT CAUGHT HERE</a:t>
            </a:r>
          </a:p>
        </p:txBody>
      </p:sp>
      <p:sp>
        <p:nvSpPr>
          <p:cNvPr id="9" name="TextBox 8"/>
          <p:cNvSpPr txBox="1"/>
          <p:nvPr/>
        </p:nvSpPr>
        <p:spPr>
          <a:xfrm>
            <a:off x="987552" y="2743200"/>
            <a:ext cx="301752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Where is it?</a:t>
            </a:r>
          </a:p>
        </p:txBody>
      </p:sp>
      <p:sp>
        <p:nvSpPr>
          <p:cNvPr id="10" name="TextBox 9"/>
          <p:cNvSpPr txBox="1"/>
          <p:nvPr/>
        </p:nvSpPr>
        <p:spPr>
          <a:xfrm>
            <a:off x="4151376" y="2743200"/>
            <a:ext cx="640080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A finding with no file, config key or ticket cannot be actioned by anyone.</a:t>
            </a:r>
          </a:p>
        </p:txBody>
      </p:sp>
      <p:sp>
        <p:nvSpPr>
          <p:cNvPr id="11" name="TextBox 10"/>
          <p:cNvSpPr txBox="1"/>
          <p:nvPr/>
        </p:nvSpPr>
        <p:spPr>
          <a:xfrm>
            <a:off x="10817352" y="2743200"/>
            <a:ext cx="658368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The weak model: 77% of findings carry no locator at all.</a:t>
            </a:r>
          </a:p>
        </p:txBody>
      </p:sp>
      <p:sp>
        <p:nvSpPr>
          <p:cNvPr id="12" name="Rounded Rectangle 11"/>
          <p:cNvSpPr/>
          <p:nvPr/>
        </p:nvSpPr>
        <p:spPr>
          <a:xfrm>
            <a:off x="841248" y="3533648"/>
            <a:ext cx="16605504" cy="790447"/>
          </a:xfrm>
          <a:prstGeom prst="roundRect">
            <a:avLst/>
          </a:prstGeom>
          <a:solidFill>
            <a:srgbClr val="EDEAE3"/>
          </a:solidFill>
          <a:ln>
            <a:noFill/>
          </a:ln>
          <a:effectLst/>
        </p:spPr>
        <p:txBody>
          <a:bodyPr wrap="square" rtlCol="0" anchor="ctr"/>
          <a:lstStyle/>
          <a:p>
            <a:pPr algn="ctr"/>
            <a:endParaRPr/>
          </a:p>
        </p:txBody>
      </p:sp>
      <p:sp>
        <p:nvSpPr>
          <p:cNvPr id="13" name="TextBox 12"/>
          <p:cNvSpPr txBox="1"/>
          <p:nvPr/>
        </p:nvSpPr>
        <p:spPr>
          <a:xfrm>
            <a:off x="987552" y="3533648"/>
            <a:ext cx="301752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Show me the example.</a:t>
            </a:r>
          </a:p>
        </p:txBody>
      </p:sp>
      <p:sp>
        <p:nvSpPr>
          <p:cNvPr id="14" name="TextBox 13"/>
          <p:cNvSpPr txBox="1"/>
          <p:nvPr/>
        </p:nvSpPr>
        <p:spPr>
          <a:xfrm>
            <a:off x="4151376" y="3533648"/>
            <a:ext cx="640080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“An attacker could inject content” is a category. A worked example names the sender, the surface and what leaves.</a:t>
            </a:r>
          </a:p>
        </p:txBody>
      </p:sp>
      <p:sp>
        <p:nvSpPr>
          <p:cNvPr id="15" name="TextBox 14"/>
          <p:cNvSpPr txBox="1"/>
          <p:nvPr/>
        </p:nvSpPr>
        <p:spPr>
          <a:xfrm>
            <a:off x="10817352" y="3533648"/>
            <a:ext cx="658368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Two of five packs carry no labelled attack narrative on any finding.</a:t>
            </a:r>
          </a:p>
        </p:txBody>
      </p:sp>
      <p:sp>
        <p:nvSpPr>
          <p:cNvPr id="16" name="TextBox 15"/>
          <p:cNvSpPr txBox="1"/>
          <p:nvPr/>
        </p:nvSpPr>
        <p:spPr>
          <a:xfrm>
            <a:off x="987552" y="4324096"/>
            <a:ext cx="3017520" cy="640080"/>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Why that severity?</a:t>
            </a:r>
          </a:p>
        </p:txBody>
      </p:sp>
      <p:sp>
        <p:nvSpPr>
          <p:cNvPr id="17" name="TextBox 16"/>
          <p:cNvSpPr txBox="1"/>
          <p:nvPr/>
        </p:nvSpPr>
        <p:spPr>
          <a:xfrm>
            <a:off x="4151376" y="4324096"/>
            <a:ext cx="6400800" cy="640080"/>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No pack in this batch states a scale anywhere. High against what?</a:t>
            </a:r>
          </a:p>
        </p:txBody>
      </p:sp>
      <p:sp>
        <p:nvSpPr>
          <p:cNvPr id="18" name="TextBox 17"/>
          <p:cNvSpPr txBox="1"/>
          <p:nvPr/>
        </p:nvSpPr>
        <p:spPr>
          <a:xfrm>
            <a:off x="10817352" y="4324096"/>
            <a:ext cx="6583680" cy="640080"/>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Severity argued on 3 findings of 75, in the best pack in the batch.</a:t>
            </a:r>
          </a:p>
        </p:txBody>
      </p:sp>
      <p:sp>
        <p:nvSpPr>
          <p:cNvPr id="19" name="Rounded Rectangle 18"/>
          <p:cNvSpPr/>
          <p:nvPr/>
        </p:nvSpPr>
        <p:spPr>
          <a:xfrm>
            <a:off x="841248" y="4964176"/>
            <a:ext cx="16605504" cy="790447"/>
          </a:xfrm>
          <a:prstGeom prst="roundRect">
            <a:avLst/>
          </a:prstGeom>
          <a:solidFill>
            <a:srgbClr val="EDEAE3"/>
          </a:solidFill>
          <a:ln>
            <a:noFill/>
          </a:ln>
          <a:effectLst/>
        </p:spPr>
        <p:txBody>
          <a:bodyPr wrap="square" rtlCol="0" anchor="ctr"/>
          <a:lstStyle/>
          <a:p>
            <a:pPr algn="ctr"/>
            <a:endParaRPr/>
          </a:p>
        </p:txBody>
      </p:sp>
      <p:sp>
        <p:nvSpPr>
          <p:cNvPr id="20" name="TextBox 19"/>
          <p:cNvSpPr txBox="1"/>
          <p:nvPr/>
        </p:nvSpPr>
        <p:spPr>
          <a:xfrm>
            <a:off x="987552" y="4964176"/>
            <a:ext cx="301752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What does fixed mean?</a:t>
            </a:r>
          </a:p>
        </p:txBody>
      </p:sp>
      <p:sp>
        <p:nvSpPr>
          <p:cNvPr id="21" name="TextBox 20"/>
          <p:cNvSpPr txBox="1"/>
          <p:nvPr/>
        </p:nvSpPr>
        <p:spPr>
          <a:xfrm>
            <a:off x="4151376" y="4964176"/>
            <a:ext cx="640080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With no acceptance criterion a finding can be argued about but never closed.</a:t>
            </a:r>
          </a:p>
        </p:txBody>
      </p:sp>
      <p:sp>
        <p:nvSpPr>
          <p:cNvPr id="22" name="TextBox 21"/>
          <p:cNvSpPr txBox="1"/>
          <p:nvPr/>
        </p:nvSpPr>
        <p:spPr>
          <a:xfrm>
            <a:off x="10817352" y="4964176"/>
            <a:ext cx="658368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The weak skill: one of 35 carries one, and no finding has a requirement behind it.</a:t>
            </a:r>
          </a:p>
        </p:txBody>
      </p:sp>
      <p:sp>
        <p:nvSpPr>
          <p:cNvPr id="23" name="Rounded Rectangle 22"/>
          <p:cNvSpPr/>
          <p:nvPr/>
        </p:nvSpPr>
        <p:spPr>
          <a:xfrm>
            <a:off x="841248" y="5754624"/>
            <a:ext cx="16605504" cy="790447"/>
          </a:xfrm>
          <a:prstGeom prst="roundRect">
            <a:avLst/>
          </a:prstGeom>
          <a:solidFill>
            <a:srgbClr val="E4E0D7"/>
          </a:solidFill>
          <a:ln>
            <a:noFill/>
          </a:ln>
          <a:effectLst/>
        </p:spPr>
        <p:txBody>
          <a:bodyPr wrap="square" rtlCol="0" anchor="ctr"/>
          <a:lstStyle/>
          <a:p>
            <a:pPr algn="ctr"/>
            <a:endParaRPr/>
          </a:p>
        </p:txBody>
      </p:sp>
      <p:sp>
        <p:nvSpPr>
          <p:cNvPr id="24" name="TextBox 23"/>
          <p:cNvSpPr txBox="1"/>
          <p:nvPr/>
        </p:nvSpPr>
        <p:spPr>
          <a:xfrm>
            <a:off x="987552" y="5754624"/>
            <a:ext cx="3017520" cy="790447"/>
          </a:xfrm>
          <a:prstGeom prst="rect">
            <a:avLst/>
          </a:prstGeom>
          <a:noFill/>
        </p:spPr>
        <p:txBody>
          <a:bodyPr wrap="square" lIns="0" tIns="0" rIns="0" bIns="0" anchor="ctr">
            <a:spAutoFit/>
          </a:bodyPr>
          <a:lstStyle/>
          <a:p>
            <a:pPr algn="l">
              <a:lnSpc>
                <a:spcPts val="1888"/>
              </a:lnSpc>
              <a:spcAft>
                <a:spcPts val="0"/>
              </a:spcAft>
            </a:pPr>
            <a:r>
              <a:rPr sz="1600" b="1">
                <a:solidFill>
                  <a:srgbClr val="1A1F29"/>
                </a:solidFill>
                <a:latin typeface="Arial"/>
              </a:rPr>
              <a:t>Count it yourself.</a:t>
            </a:r>
          </a:p>
        </p:txBody>
      </p:sp>
      <p:sp>
        <p:nvSpPr>
          <p:cNvPr id="25" name="TextBox 24"/>
          <p:cNvSpPr txBox="1"/>
          <p:nvPr/>
        </p:nvSpPr>
        <p:spPr>
          <a:xfrm>
            <a:off x="4151376" y="5754624"/>
            <a:ext cx="640080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Four of these five packs make at least one claim about themselves that their own artefacts contradict.</a:t>
            </a:r>
          </a:p>
        </p:txBody>
      </p:sp>
      <p:sp>
        <p:nvSpPr>
          <p:cNvPr id="26" name="TextBox 25"/>
          <p:cNvSpPr txBox="1"/>
          <p:nvPr/>
        </p:nvSpPr>
        <p:spPr>
          <a:xfrm>
            <a:off x="10817352" y="5754624"/>
            <a:ext cx="6583680" cy="790447"/>
          </a:xfrm>
          <a:prstGeom prst="rect">
            <a:avLst/>
          </a:prstGeom>
          <a:noFill/>
        </p:spPr>
        <p:txBody>
          <a:bodyPr wrap="square" lIns="0" tIns="0" rIns="0" bIns="0" anchor="ctr">
            <a:spAutoFit/>
          </a:bodyPr>
          <a:lstStyle/>
          <a:p>
            <a:pPr algn="l">
              <a:lnSpc>
                <a:spcPts val="1888"/>
              </a:lnSpc>
              <a:spcAft>
                <a:spcPts val="0"/>
              </a:spcAft>
            </a:pPr>
            <a:r>
              <a:rPr sz="1600" b="0">
                <a:solidFill>
                  <a:srgbClr val="1A1F29"/>
                </a:solidFill>
                <a:latin typeface="Arial"/>
              </a:rPr>
              <a:t>Six examples, and the counts are wrong in both directions.</a:t>
            </a:r>
          </a:p>
        </p:txBody>
      </p:sp>
      <p:sp>
        <p:nvSpPr>
          <p:cNvPr id="27" name="TextBox 26"/>
          <p:cNvSpPr txBox="1"/>
          <p:nvPr/>
        </p:nvSpPr>
        <p:spPr>
          <a:xfrm>
            <a:off x="841248" y="6764528"/>
            <a:ext cx="16605504" cy="255524"/>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The first four test a finding. The fifth tests the pack, and it is the one that catches a document of the right shape and the wrong depth.</a:t>
            </a:r>
          </a:p>
        </p:txBody>
      </p:sp>
      <p:sp>
        <p:nvSpPr>
          <p:cNvPr id="28" name="Rectangle 27"/>
          <p:cNvSpPr/>
          <p:nvPr/>
        </p:nvSpPr>
        <p:spPr>
          <a:xfrm>
            <a:off x="841248" y="8540496"/>
            <a:ext cx="54864" cy="684276"/>
          </a:xfrm>
          <a:prstGeom prst="rect">
            <a:avLst/>
          </a:prstGeom>
          <a:solidFill>
            <a:srgbClr val="B14B26"/>
          </a:solidFill>
          <a:ln>
            <a:noFill/>
          </a:ln>
          <a:effectLst/>
        </p:spPr>
        <p:txBody>
          <a:bodyPr wrap="square" rtlCol="0" anchor="ctr"/>
          <a:lstStyle/>
          <a:p>
            <a:pPr algn="ctr"/>
            <a:endParaRPr/>
          </a:p>
        </p:txBody>
      </p:sp>
      <p:sp>
        <p:nvSpPr>
          <p:cNvPr id="29" name="TextBox 28"/>
          <p:cNvSpPr txBox="1"/>
          <p:nvPr/>
        </p:nvSpPr>
        <p:spPr>
          <a:xfrm>
            <a:off x="1115568" y="8540496"/>
            <a:ext cx="16331184" cy="684276"/>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Give these to your champions. They are the defence against a pack that passes every check a reader performs by scanning.</a:t>
            </a:r>
          </a:p>
        </p:txBody>
      </p:sp>
      <p:sp>
        <p:nvSpPr>
          <p:cNvPr id="30" name="TextBox 29"/>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15      Security Champion Summit 2026      Brett Crawley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6F3"/>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B14B26"/>
                </a:solidFill>
                <a:latin typeface="Arial"/>
              </a:rPr>
              <a:t>WHAT THE ROOM CHANGED</a:t>
            </a:r>
          </a:p>
        </p:txBody>
      </p:sp>
      <p:sp>
        <p:nvSpPr>
          <p:cNvPr id="4" name="TextBox 3"/>
          <p:cNvSpPr txBox="1"/>
          <p:nvPr/>
        </p:nvSpPr>
        <p:spPr>
          <a:xfrm>
            <a:off x="841248" y="1152144"/>
            <a:ext cx="15179040" cy="594359"/>
          </a:xfrm>
          <a:prstGeom prst="rect">
            <a:avLst/>
          </a:prstGeom>
          <a:noFill/>
        </p:spPr>
        <p:txBody>
          <a:bodyPr wrap="square" lIns="0" tIns="0" rIns="0" bIns="0" anchor="t">
            <a:spAutoFit/>
          </a:bodyPr>
          <a:lstStyle/>
          <a:p>
            <a:pPr algn="l">
              <a:lnSpc>
                <a:spcPts val="4248"/>
              </a:lnSpc>
              <a:spcAft>
                <a:spcPts val="0"/>
              </a:spcAft>
            </a:pPr>
            <a:r>
              <a:rPr sz="3600" b="0">
                <a:solidFill>
                  <a:srgbClr val="1A1F29"/>
                </a:solidFill>
                <a:latin typeface="Georgia"/>
              </a:rPr>
              <a:t>The same room made four packs better and one collapse.</a:t>
            </a:r>
          </a:p>
        </p:txBody>
      </p:sp>
      <p:sp>
        <p:nvSpPr>
          <p:cNvPr id="5" name="Rounded Rectangle 4"/>
          <p:cNvSpPr/>
          <p:nvPr/>
        </p:nvSpPr>
        <p:spPr>
          <a:xfrm>
            <a:off x="841248" y="2103120"/>
            <a:ext cx="16605504" cy="530352"/>
          </a:xfrm>
          <a:prstGeom prst="roundRect">
            <a:avLst>
              <a:gd name="adj" fmla="val 7000"/>
            </a:avLst>
          </a:prstGeom>
          <a:solidFill>
            <a:srgbClr val="1A1F29"/>
          </a:solidFill>
          <a:ln>
            <a:noFill/>
          </a:ln>
          <a:effectLst/>
        </p:spPr>
        <p:txBody>
          <a:bodyPr wrap="square" rtlCol="0" anchor="ctr"/>
          <a:lstStyle/>
          <a:p>
            <a:pPr algn="ctr"/>
            <a:endParaRPr/>
          </a:p>
        </p:txBody>
      </p:sp>
      <p:sp>
        <p:nvSpPr>
          <p:cNvPr id="6" name="TextBox 5"/>
          <p:cNvSpPr txBox="1"/>
          <p:nvPr/>
        </p:nvSpPr>
        <p:spPr>
          <a:xfrm>
            <a:off x="3392424" y="2103120"/>
            <a:ext cx="2633472" cy="530352"/>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ADDED</a:t>
            </a:r>
          </a:p>
        </p:txBody>
      </p:sp>
      <p:sp>
        <p:nvSpPr>
          <p:cNvPr id="7" name="TextBox 6"/>
          <p:cNvSpPr txBox="1"/>
          <p:nvPr/>
        </p:nvSpPr>
        <p:spPr>
          <a:xfrm>
            <a:off x="6245352" y="2103120"/>
            <a:ext cx="3767328" cy="530352"/>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CLOSED OR LOST</a:t>
            </a:r>
          </a:p>
        </p:txBody>
      </p:sp>
      <p:sp>
        <p:nvSpPr>
          <p:cNvPr id="8" name="TextBox 7"/>
          <p:cNvSpPr txBox="1"/>
          <p:nvPr/>
        </p:nvSpPr>
        <p:spPr>
          <a:xfrm>
            <a:off x="10250424" y="2103120"/>
            <a:ext cx="3767328" cy="530352"/>
          </a:xfrm>
          <a:prstGeom prst="rect">
            <a:avLst/>
          </a:prstGeom>
          <a:noFill/>
        </p:spPr>
        <p:txBody>
          <a:bodyPr wrap="square" lIns="0" tIns="0" rIns="0" bIns="0" anchor="ctr">
            <a:spAutoFit/>
          </a:bodyPr>
          <a:lstStyle/>
          <a:p>
            <a:pPr algn="l">
              <a:lnSpc>
                <a:spcPts val="1475"/>
              </a:lnSpc>
              <a:spcAft>
                <a:spcPts val="0"/>
              </a:spcAft>
            </a:pPr>
            <a:r>
              <a:rPr sz="1250" b="1" spc="140">
                <a:solidFill>
                  <a:srgbClr val="F7F6F3"/>
                </a:solidFill>
                <a:latin typeface="Arial"/>
              </a:rPr>
              <a:t>RE-RATED</a:t>
            </a:r>
          </a:p>
        </p:txBody>
      </p:sp>
      <p:sp>
        <p:nvSpPr>
          <p:cNvPr id="9" name="TextBox 8"/>
          <p:cNvSpPr txBox="1"/>
          <p:nvPr/>
        </p:nvSpPr>
        <p:spPr>
          <a:xfrm>
            <a:off x="14246352" y="2103120"/>
            <a:ext cx="3200400" cy="530352"/>
          </a:xfrm>
          <a:prstGeom prst="rect">
            <a:avLst/>
          </a:prstGeom>
          <a:noFill/>
        </p:spPr>
        <p:txBody>
          <a:bodyPr wrap="square" lIns="0" tIns="0" rIns="0" bIns="0" anchor="ctr">
            <a:spAutoFit/>
          </a:bodyPr>
          <a:lstStyle/>
          <a:p>
            <a:pPr algn="ctr">
              <a:lnSpc>
                <a:spcPts val="1475"/>
              </a:lnSpc>
              <a:spcAft>
                <a:spcPts val="0"/>
              </a:spcAft>
            </a:pPr>
            <a:r>
              <a:rPr sz="1250" b="1" spc="140">
                <a:solidFill>
                  <a:srgbClr val="F7F6F3"/>
                </a:solidFill>
                <a:latin typeface="Arial"/>
              </a:rPr>
              <a:t>WRONG CLOSURES</a:t>
            </a:r>
          </a:p>
        </p:txBody>
      </p:sp>
      <p:sp>
        <p:nvSpPr>
          <p:cNvPr id="10" name="TextBox 9"/>
          <p:cNvSpPr txBox="1"/>
          <p:nvPr/>
        </p:nvSpPr>
        <p:spPr>
          <a:xfrm>
            <a:off x="987552" y="2633472"/>
            <a:ext cx="2249424"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model</a:t>
            </a:r>
          </a:p>
        </p:txBody>
      </p:sp>
      <p:sp>
        <p:nvSpPr>
          <p:cNvPr id="11" name="TextBox 10"/>
          <p:cNvSpPr txBox="1"/>
          <p:nvPr/>
        </p:nvSpPr>
        <p:spPr>
          <a:xfrm>
            <a:off x="3392424" y="2633472"/>
            <a:ext cx="263347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S-13</a:t>
            </a:r>
          </a:p>
        </p:txBody>
      </p:sp>
      <p:sp>
        <p:nvSpPr>
          <p:cNvPr id="12" name="TextBox 11"/>
          <p:cNvSpPr txBox="1"/>
          <p:nvPr/>
        </p:nvSpPr>
        <p:spPr>
          <a:xfrm>
            <a:off x="6245352" y="2633472"/>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12 identifiers, silently</a:t>
            </a:r>
          </a:p>
        </p:txBody>
      </p:sp>
      <p:sp>
        <p:nvSpPr>
          <p:cNvPr id="13" name="TextBox 12"/>
          <p:cNvSpPr txBox="1"/>
          <p:nvPr/>
        </p:nvSpPr>
        <p:spPr>
          <a:xfrm>
            <a:off x="10250424" y="2633472"/>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logged, 1 silent</a:t>
            </a:r>
          </a:p>
        </p:txBody>
      </p:sp>
      <p:sp>
        <p:nvSpPr>
          <p:cNvPr id="14" name="TextBox 13"/>
          <p:cNvSpPr txBox="1"/>
          <p:nvPr/>
        </p:nvSpPr>
        <p:spPr>
          <a:xfrm>
            <a:off x="14246352" y="2633472"/>
            <a:ext cx="3200400" cy="53568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4</a:t>
            </a:r>
          </a:p>
        </p:txBody>
      </p:sp>
      <p:sp>
        <p:nvSpPr>
          <p:cNvPr id="15" name="Rounded Rectangle 14"/>
          <p:cNvSpPr/>
          <p:nvPr/>
        </p:nvSpPr>
        <p:spPr>
          <a:xfrm>
            <a:off x="841248" y="3169158"/>
            <a:ext cx="16605504" cy="535686"/>
          </a:xfrm>
          <a:prstGeom prst="roundRect">
            <a:avLst/>
          </a:prstGeom>
          <a:solidFill>
            <a:srgbClr val="EDEAE3"/>
          </a:solidFill>
          <a:ln>
            <a:noFill/>
          </a:ln>
          <a:effectLst/>
        </p:spPr>
        <p:txBody>
          <a:bodyPr wrap="square" rtlCol="0" anchor="ctr"/>
          <a:lstStyle/>
          <a:p>
            <a:pPr algn="ctr"/>
            <a:endParaRPr/>
          </a:p>
        </p:txBody>
      </p:sp>
      <p:sp>
        <p:nvSpPr>
          <p:cNvPr id="16" name="TextBox 15"/>
          <p:cNvSpPr txBox="1"/>
          <p:nvPr/>
        </p:nvSpPr>
        <p:spPr>
          <a:xfrm>
            <a:off x="987552" y="3169158"/>
            <a:ext cx="2249424"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weak skill</a:t>
            </a:r>
          </a:p>
        </p:txBody>
      </p:sp>
      <p:sp>
        <p:nvSpPr>
          <p:cNvPr id="17" name="TextBox 16"/>
          <p:cNvSpPr txBox="1"/>
          <p:nvPr/>
        </p:nvSpPr>
        <p:spPr>
          <a:xfrm>
            <a:off x="3392424" y="3169158"/>
            <a:ext cx="263347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2 new, 1 split in two</a:t>
            </a:r>
          </a:p>
        </p:txBody>
      </p:sp>
      <p:sp>
        <p:nvSpPr>
          <p:cNvPr id="18" name="TextBox 17"/>
          <p:cNvSpPr txBox="1"/>
          <p:nvPr/>
        </p:nvSpPr>
        <p:spPr>
          <a:xfrm>
            <a:off x="6245352" y="3169158"/>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2 closed, both retained</a:t>
            </a:r>
          </a:p>
        </p:txBody>
      </p:sp>
      <p:sp>
        <p:nvSpPr>
          <p:cNvPr id="19" name="TextBox 18"/>
          <p:cNvSpPr txBox="1"/>
          <p:nvPr/>
        </p:nvSpPr>
        <p:spPr>
          <a:xfrm>
            <a:off x="10250424" y="3169158"/>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down, 1 up</a:t>
            </a:r>
          </a:p>
        </p:txBody>
      </p:sp>
      <p:sp>
        <p:nvSpPr>
          <p:cNvPr id="20" name="TextBox 19"/>
          <p:cNvSpPr txBox="1"/>
          <p:nvPr/>
        </p:nvSpPr>
        <p:spPr>
          <a:xfrm>
            <a:off x="14246352" y="3169158"/>
            <a:ext cx="3200400" cy="53568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4</a:t>
            </a:r>
          </a:p>
        </p:txBody>
      </p:sp>
      <p:sp>
        <p:nvSpPr>
          <p:cNvPr id="21" name="TextBox 20"/>
          <p:cNvSpPr txBox="1"/>
          <p:nvPr/>
        </p:nvSpPr>
        <p:spPr>
          <a:xfrm>
            <a:off x="987552" y="3704844"/>
            <a:ext cx="2249424"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thin</a:t>
            </a:r>
          </a:p>
        </p:txBody>
      </p:sp>
      <p:sp>
        <p:nvSpPr>
          <p:cNvPr id="22" name="TextBox 21"/>
          <p:cNvSpPr txBox="1"/>
          <p:nvPr/>
        </p:nvSpPr>
        <p:spPr>
          <a:xfrm>
            <a:off x="3392424" y="3704844"/>
            <a:ext cx="263347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2</a:t>
            </a:r>
          </a:p>
        </p:txBody>
      </p:sp>
      <p:sp>
        <p:nvSpPr>
          <p:cNvPr id="23" name="TextBox 22"/>
          <p:cNvSpPr txBox="1"/>
          <p:nvPr/>
        </p:nvSpPr>
        <p:spPr>
          <a:xfrm>
            <a:off x="6245352" y="3704844"/>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none</a:t>
            </a:r>
          </a:p>
        </p:txBody>
      </p:sp>
      <p:sp>
        <p:nvSpPr>
          <p:cNvPr id="24" name="TextBox 23"/>
          <p:cNvSpPr txBox="1"/>
          <p:nvPr/>
        </p:nvSpPr>
        <p:spPr>
          <a:xfrm>
            <a:off x="10250424" y="3704844"/>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2, both upward</a:t>
            </a:r>
          </a:p>
        </p:txBody>
      </p:sp>
      <p:sp>
        <p:nvSpPr>
          <p:cNvPr id="25" name="TextBox 24"/>
          <p:cNvSpPr txBox="1"/>
          <p:nvPr/>
        </p:nvSpPr>
        <p:spPr>
          <a:xfrm>
            <a:off x="14246352" y="3704844"/>
            <a:ext cx="3200400" cy="53568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0</a:t>
            </a:r>
          </a:p>
        </p:txBody>
      </p:sp>
      <p:sp>
        <p:nvSpPr>
          <p:cNvPr id="26" name="Rounded Rectangle 25"/>
          <p:cNvSpPr/>
          <p:nvPr/>
        </p:nvSpPr>
        <p:spPr>
          <a:xfrm>
            <a:off x="841248" y="4240530"/>
            <a:ext cx="16605504" cy="535686"/>
          </a:xfrm>
          <a:prstGeom prst="roundRect">
            <a:avLst/>
          </a:prstGeom>
          <a:solidFill>
            <a:srgbClr val="EDEAE3"/>
          </a:solidFill>
          <a:ln>
            <a:noFill/>
          </a:ln>
          <a:effectLst/>
        </p:spPr>
        <p:txBody>
          <a:bodyPr wrap="square" rtlCol="0" anchor="ctr"/>
          <a:lstStyle/>
          <a:p>
            <a:pPr algn="ctr"/>
            <a:endParaRPr/>
          </a:p>
        </p:txBody>
      </p:sp>
      <p:sp>
        <p:nvSpPr>
          <p:cNvPr id="27" name="TextBox 26"/>
          <p:cNvSpPr txBox="1"/>
          <p:nvPr/>
        </p:nvSpPr>
        <p:spPr>
          <a:xfrm>
            <a:off x="987552" y="4240530"/>
            <a:ext cx="2249424"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 repo</a:t>
            </a:r>
          </a:p>
        </p:txBody>
      </p:sp>
      <p:sp>
        <p:nvSpPr>
          <p:cNvPr id="28" name="TextBox 27"/>
          <p:cNvSpPr txBox="1"/>
          <p:nvPr/>
        </p:nvSpPr>
        <p:spPr>
          <a:xfrm>
            <a:off x="3392424" y="4240530"/>
            <a:ext cx="263347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3</a:t>
            </a:r>
          </a:p>
        </p:txBody>
      </p:sp>
      <p:sp>
        <p:nvSpPr>
          <p:cNvPr id="29" name="TextBox 28"/>
          <p:cNvSpPr txBox="1"/>
          <p:nvPr/>
        </p:nvSpPr>
        <p:spPr>
          <a:xfrm>
            <a:off x="6245352" y="4240530"/>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none</a:t>
            </a:r>
          </a:p>
        </p:txBody>
      </p:sp>
      <p:sp>
        <p:nvSpPr>
          <p:cNvPr id="30" name="TextBox 29"/>
          <p:cNvSpPr txBox="1"/>
          <p:nvPr/>
        </p:nvSpPr>
        <p:spPr>
          <a:xfrm>
            <a:off x="10250424" y="4240530"/>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raised, 1 accepted as risk</a:t>
            </a:r>
          </a:p>
        </p:txBody>
      </p:sp>
      <p:sp>
        <p:nvSpPr>
          <p:cNvPr id="31" name="TextBox 30"/>
          <p:cNvSpPr txBox="1"/>
          <p:nvPr/>
        </p:nvSpPr>
        <p:spPr>
          <a:xfrm>
            <a:off x="14246352" y="4240530"/>
            <a:ext cx="3200400" cy="53568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1</a:t>
            </a:r>
          </a:p>
        </p:txBody>
      </p:sp>
      <p:sp>
        <p:nvSpPr>
          <p:cNvPr id="32" name="Rounded Rectangle 31"/>
          <p:cNvSpPr/>
          <p:nvPr/>
        </p:nvSpPr>
        <p:spPr>
          <a:xfrm>
            <a:off x="841248" y="4776216"/>
            <a:ext cx="16605504" cy="535686"/>
          </a:xfrm>
          <a:prstGeom prst="roundRect">
            <a:avLst/>
          </a:prstGeom>
          <a:solidFill>
            <a:srgbClr val="E4E0D7"/>
          </a:solidFill>
          <a:ln>
            <a:noFill/>
          </a:ln>
          <a:effectLst/>
        </p:spPr>
        <p:txBody>
          <a:bodyPr wrap="square" rtlCol="0" anchor="ctr"/>
          <a:lstStyle/>
          <a:p>
            <a:pPr algn="ctr"/>
            <a:endParaRPr/>
          </a:p>
        </p:txBody>
      </p:sp>
      <p:sp>
        <p:nvSpPr>
          <p:cNvPr id="33" name="TextBox 32"/>
          <p:cNvSpPr txBox="1"/>
          <p:nvPr/>
        </p:nvSpPr>
        <p:spPr>
          <a:xfrm>
            <a:off x="987552" y="4776216"/>
            <a:ext cx="2249424" cy="535686"/>
          </a:xfrm>
          <a:prstGeom prst="rect">
            <a:avLst/>
          </a:prstGeom>
          <a:noFill/>
        </p:spPr>
        <p:txBody>
          <a:bodyPr wrap="square" lIns="0" tIns="0" rIns="0" bIns="0" anchor="ctr">
            <a:spAutoFit/>
          </a:bodyPr>
          <a:lstStyle/>
          <a:p>
            <a:pPr algn="l">
              <a:lnSpc>
                <a:spcPts val="1770"/>
              </a:lnSpc>
              <a:spcAft>
                <a:spcPts val="0"/>
              </a:spcAft>
            </a:pPr>
            <a:r>
              <a:rPr sz="1500" b="1">
                <a:solidFill>
                  <a:srgbClr val="1A1F29"/>
                </a:solidFill>
                <a:latin typeface="Arial"/>
              </a:rPr>
              <a:t>everything</a:t>
            </a:r>
          </a:p>
        </p:txBody>
      </p:sp>
      <p:sp>
        <p:nvSpPr>
          <p:cNvPr id="34" name="TextBox 33"/>
          <p:cNvSpPr txBox="1"/>
          <p:nvPr/>
        </p:nvSpPr>
        <p:spPr>
          <a:xfrm>
            <a:off x="3392424" y="4776216"/>
            <a:ext cx="2633472"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1, plus 2 directed</a:t>
            </a:r>
          </a:p>
        </p:txBody>
      </p:sp>
      <p:sp>
        <p:nvSpPr>
          <p:cNvPr id="35" name="TextBox 34"/>
          <p:cNvSpPr txBox="1"/>
          <p:nvPr/>
        </p:nvSpPr>
        <p:spPr>
          <a:xfrm>
            <a:off x="6245352" y="4776216"/>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none</a:t>
            </a:r>
          </a:p>
        </p:txBody>
      </p:sp>
      <p:sp>
        <p:nvSpPr>
          <p:cNvPr id="36" name="TextBox 35"/>
          <p:cNvSpPr txBox="1"/>
          <p:nvPr/>
        </p:nvSpPr>
        <p:spPr>
          <a:xfrm>
            <a:off x="10250424" y="4776216"/>
            <a:ext cx="3767328" cy="535686"/>
          </a:xfrm>
          <a:prstGeom prst="rect">
            <a:avLst/>
          </a:prstGeom>
          <a:noFill/>
        </p:spPr>
        <p:txBody>
          <a:bodyPr wrap="square" lIns="0" tIns="0" rIns="0" bIns="0" anchor="ctr">
            <a:spAutoFit/>
          </a:bodyPr>
          <a:lstStyle/>
          <a:p>
            <a:pPr algn="l">
              <a:lnSpc>
                <a:spcPts val="1770"/>
              </a:lnSpc>
              <a:spcAft>
                <a:spcPts val="0"/>
              </a:spcAft>
            </a:pPr>
            <a:r>
              <a:rPr sz="1500" b="0">
                <a:solidFill>
                  <a:srgbClr val="1A1F29"/>
                </a:solidFill>
                <a:latin typeface="Arial"/>
              </a:rPr>
              <a:t>2 status changes</a:t>
            </a:r>
          </a:p>
        </p:txBody>
      </p:sp>
      <p:sp>
        <p:nvSpPr>
          <p:cNvPr id="37" name="TextBox 36"/>
          <p:cNvSpPr txBox="1"/>
          <p:nvPr/>
        </p:nvSpPr>
        <p:spPr>
          <a:xfrm>
            <a:off x="14246352" y="4776216"/>
            <a:ext cx="3200400" cy="535686"/>
          </a:xfrm>
          <a:prstGeom prst="rect">
            <a:avLst/>
          </a:prstGeom>
          <a:noFill/>
        </p:spPr>
        <p:txBody>
          <a:bodyPr wrap="square" lIns="0" tIns="0" rIns="0" bIns="0" anchor="ctr">
            <a:spAutoFit/>
          </a:bodyPr>
          <a:lstStyle/>
          <a:p>
            <a:pPr algn="ctr">
              <a:lnSpc>
                <a:spcPts val="1770"/>
              </a:lnSpc>
              <a:spcAft>
                <a:spcPts val="0"/>
              </a:spcAft>
            </a:pPr>
            <a:r>
              <a:rPr sz="1500" b="0">
                <a:solidFill>
                  <a:srgbClr val="1A1F29"/>
                </a:solidFill>
                <a:latin typeface="Arial"/>
              </a:rPr>
              <a:t>0</a:t>
            </a:r>
          </a:p>
        </p:txBody>
      </p:sp>
      <p:sp>
        <p:nvSpPr>
          <p:cNvPr id="38" name="TextBox 37"/>
          <p:cNvSpPr txBox="1"/>
          <p:nvPr/>
        </p:nvSpPr>
        <p:spPr>
          <a:xfrm>
            <a:off x="841248" y="5531358"/>
            <a:ext cx="16605504" cy="1221740"/>
          </a:xfrm>
          <a:prstGeom prst="rect">
            <a:avLst/>
          </a:prstGeom>
          <a:noFill/>
        </p:spPr>
        <p:txBody>
          <a:bodyPr wrap="square" lIns="0" tIns="0" rIns="0" bIns="0" anchor="t">
            <a:spAutoFit/>
          </a:bodyPr>
          <a:lstStyle/>
          <a:p>
            <a:pPr algn="l">
              <a:lnSpc>
                <a:spcPts val="1652"/>
              </a:lnSpc>
              <a:spcAft>
                <a:spcPts val="0"/>
              </a:spcAft>
            </a:pPr>
            <a:r>
              <a:rPr sz="1400" b="0">
                <a:solidFill>
                  <a:srgbClr val="606978"/>
                </a:solidFill>
                <a:latin typeface="Arial"/>
              </a:rPr>
              <a:t>The twelve identifiers were not a room decision. Nobody asked for the X, EoA, Cloud and K families to go; the weak model dropped them while processing the correction, and its own change log says zero findings were overturned. It also moved a finding from High to Critical without recording it. Same input, four packs better, one collapsed.</a:t>
            </a:r>
          </a:p>
          <a:p>
            <a:pPr algn="l">
              <a:lnSpc>
                <a:spcPts val="1652"/>
              </a:lnSpc>
              <a:spcBef>
                <a:spcPts val="500"/>
              </a:spcBef>
              <a:spcAft>
                <a:spcPts val="0"/>
              </a:spcAft>
            </a:pPr>
            <a:r>
              <a:rPr sz="1400" b="0">
                <a:solidFill>
                  <a:srgbClr val="606978"/>
                </a:solidFill>
                <a:latin typeface="Arial"/>
              </a:rPr>
              <a:t>The room is not free of error either: four wrong closures in each of two cells, and in the thin run it made five downgrade proposals, covering fifteen findings, that the pack did not act on.</a:t>
            </a:r>
          </a:p>
          <a:p>
            <a:pPr algn="l">
              <a:lnSpc>
                <a:spcPts val="1652"/>
              </a:lnSpc>
              <a:spcBef>
                <a:spcPts val="500"/>
              </a:spcBef>
              <a:spcAft>
                <a:spcPts val="0"/>
              </a:spcAft>
            </a:pPr>
            <a:r>
              <a:rPr sz="1400" b="0">
                <a:solidFill>
                  <a:srgbClr val="606978"/>
                </a:solidFill>
                <a:latin typeface="Arial"/>
              </a:rPr>
              <a:t>From the thin pack, which had no repository at all: “No finding in this version has been re-rated on recollection.” Four people asserted the answer and the finding did not move without the configuration to prove it.</a:t>
            </a:r>
          </a:p>
        </p:txBody>
      </p:sp>
      <p:sp>
        <p:nvSpPr>
          <p:cNvPr id="39" name="Rectangle 38"/>
          <p:cNvSpPr/>
          <p:nvPr/>
        </p:nvSpPr>
        <p:spPr>
          <a:xfrm>
            <a:off x="841248" y="8307578"/>
            <a:ext cx="54864" cy="369569"/>
          </a:xfrm>
          <a:prstGeom prst="rect">
            <a:avLst/>
          </a:prstGeom>
          <a:solidFill>
            <a:srgbClr val="B14B26"/>
          </a:solidFill>
          <a:ln>
            <a:noFill/>
          </a:ln>
          <a:effectLst/>
        </p:spPr>
        <p:txBody>
          <a:bodyPr wrap="square" rtlCol="0" anchor="ctr"/>
          <a:lstStyle/>
          <a:p>
            <a:pPr algn="ctr"/>
            <a:endParaRPr/>
          </a:p>
        </p:txBody>
      </p:sp>
      <p:sp>
        <p:nvSpPr>
          <p:cNvPr id="40" name="TextBox 39"/>
          <p:cNvSpPr txBox="1"/>
          <p:nvPr/>
        </p:nvSpPr>
        <p:spPr>
          <a:xfrm>
            <a:off x="1115568" y="8307578"/>
            <a:ext cx="16331184" cy="369569"/>
          </a:xfrm>
          <a:prstGeom prst="rect">
            <a:avLst/>
          </a:prstGeom>
          <a:noFill/>
        </p:spPr>
        <p:txBody>
          <a:bodyPr wrap="square" lIns="0" tIns="0" rIns="0" bIns="0" anchor="t">
            <a:spAutoFit/>
          </a:bodyPr>
          <a:lstStyle/>
          <a:p>
            <a:pPr algn="l">
              <a:lnSpc>
                <a:spcPts val="2477"/>
              </a:lnSpc>
              <a:spcAft>
                <a:spcPts val="0"/>
              </a:spcAft>
            </a:pPr>
            <a:r>
              <a:rPr sz="2100" b="0">
                <a:solidFill>
                  <a:srgbClr val="1A1F29"/>
                </a:solidFill>
                <a:latin typeface="Georgia"/>
              </a:rPr>
              <a:t>It supplies what no document holds, it gets corrected back, and the correction is what gets written down.</a:t>
            </a:r>
          </a:p>
        </p:txBody>
      </p:sp>
      <p:sp>
        <p:nvSpPr>
          <p:cNvPr id="41" name="TextBox 40"/>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606978"/>
                </a:solidFill>
                <a:latin typeface="Arial"/>
              </a:rPr>
              <a:t>16      Security Champion Summit 2026      Brett Crawley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0E121A"/>
          </a:solidFill>
          <a:ln>
            <a:noFill/>
          </a:ln>
          <a:effectLst/>
        </p:spPr>
        <p:txBody>
          <a:bodyPr rtlCol="0" anchor="ctr"/>
          <a:lstStyle/>
          <a:p>
            <a:pPr algn="ctr"/>
            <a:endParaRPr/>
          </a:p>
        </p:txBody>
      </p:sp>
      <p:sp>
        <p:nvSpPr>
          <p:cNvPr id="3" name="TextBox 2"/>
          <p:cNvSpPr txBox="1"/>
          <p:nvPr/>
        </p:nvSpPr>
        <p:spPr>
          <a:xfrm>
            <a:off x="841248" y="713232"/>
            <a:ext cx="16605504" cy="274320"/>
          </a:xfrm>
          <a:prstGeom prst="rect">
            <a:avLst/>
          </a:prstGeom>
          <a:noFill/>
        </p:spPr>
        <p:txBody>
          <a:bodyPr wrap="square" lIns="0" tIns="0" rIns="0" bIns="0" anchor="t">
            <a:spAutoFit/>
          </a:bodyPr>
          <a:lstStyle/>
          <a:p>
            <a:pPr algn="l">
              <a:lnSpc>
                <a:spcPts val="1534"/>
              </a:lnSpc>
              <a:spcAft>
                <a:spcPts val="0"/>
              </a:spcAft>
            </a:pPr>
            <a:r>
              <a:rPr sz="1300" b="1" spc="150">
                <a:solidFill>
                  <a:srgbClr val="969DAA"/>
                </a:solidFill>
                <a:latin typeface="Arial"/>
              </a:rPr>
              <a:t>CLOSE</a:t>
            </a:r>
          </a:p>
        </p:txBody>
      </p:sp>
      <p:sp>
        <p:nvSpPr>
          <p:cNvPr id="4" name="Rectangle 3"/>
          <p:cNvSpPr/>
          <p:nvPr/>
        </p:nvSpPr>
        <p:spPr>
          <a:xfrm>
            <a:off x="841248" y="1828800"/>
            <a:ext cx="54864" cy="1005840"/>
          </a:xfrm>
          <a:prstGeom prst="rect">
            <a:avLst/>
          </a:prstGeom>
          <a:solidFill>
            <a:srgbClr val="B14B26"/>
          </a:solidFill>
          <a:ln>
            <a:noFill/>
          </a:ln>
          <a:effectLst/>
        </p:spPr>
        <p:txBody>
          <a:bodyPr wrap="square" rtlCol="0" anchor="ctr"/>
          <a:lstStyle/>
          <a:p>
            <a:pPr algn="ctr"/>
            <a:endParaRPr/>
          </a:p>
        </p:txBody>
      </p:sp>
      <p:sp>
        <p:nvSpPr>
          <p:cNvPr id="5" name="TextBox 4"/>
          <p:cNvSpPr txBox="1"/>
          <p:nvPr/>
        </p:nvSpPr>
        <p:spPr>
          <a:xfrm>
            <a:off x="1188720" y="1828800"/>
            <a:ext cx="14282928" cy="1005840"/>
          </a:xfrm>
          <a:prstGeom prst="rect">
            <a:avLst/>
          </a:prstGeom>
          <a:noFill/>
        </p:spPr>
        <p:txBody>
          <a:bodyPr wrap="square" lIns="0" tIns="0" rIns="0" bIns="0" anchor="t">
            <a:spAutoFit/>
          </a:bodyPr>
          <a:lstStyle/>
          <a:p>
            <a:pPr algn="l">
              <a:lnSpc>
                <a:spcPts val="5427"/>
              </a:lnSpc>
              <a:spcAft>
                <a:spcPts val="0"/>
              </a:spcAft>
            </a:pPr>
            <a:r>
              <a:rPr sz="4600" b="0">
                <a:solidFill>
                  <a:srgbClr val="F4F2ED"/>
                </a:solidFill>
                <a:latin typeface="Georgia"/>
              </a:rPr>
              <a:t>The threat model was never the point.</a:t>
            </a:r>
          </a:p>
        </p:txBody>
      </p:sp>
      <p:sp>
        <p:nvSpPr>
          <p:cNvPr id="6" name="TextBox 5"/>
          <p:cNvSpPr txBox="1"/>
          <p:nvPr/>
        </p:nvSpPr>
        <p:spPr>
          <a:xfrm>
            <a:off x="1188720" y="3401568"/>
            <a:ext cx="14081760" cy="4297680"/>
          </a:xfrm>
          <a:prstGeom prst="rect">
            <a:avLst/>
          </a:prstGeom>
          <a:noFill/>
        </p:spPr>
        <p:txBody>
          <a:bodyPr wrap="square" lIns="0" tIns="0" rIns="0" bIns="0" anchor="t">
            <a:spAutoFit/>
          </a:bodyPr>
          <a:lstStyle/>
          <a:p>
            <a:pPr algn="l">
              <a:lnSpc>
                <a:spcPts val="2242"/>
              </a:lnSpc>
              <a:spcAft>
                <a:spcPts val="0"/>
              </a:spcAft>
            </a:pPr>
            <a:r>
              <a:rPr sz="1900" b="0">
                <a:solidFill>
                  <a:srgbClr val="F4F2ED"/>
                </a:solidFill>
                <a:latin typeface="Georgia"/>
              </a:rPr>
              <a:t>The product is collective, complete understanding of what is being built. Some of the most consequential vulnerabilities here were disagreements about how the system worked that nobody knew they were having. The review surfaces them, the room settles them, and the correction gets written down, stored with the code, and read by the next model.</a:t>
            </a:r>
          </a:p>
          <a:p>
            <a:pPr algn="l">
              <a:lnSpc>
                <a:spcPts val="2242"/>
              </a:lnSpc>
              <a:spcBef>
                <a:spcPts val="1300"/>
              </a:spcBef>
              <a:spcAft>
                <a:spcPts val="0"/>
              </a:spcAft>
            </a:pPr>
            <a:r>
              <a:rPr sz="1900" b="0">
                <a:solidFill>
                  <a:srgbClr val="969DAA"/>
                </a:solidFill>
                <a:latin typeface="Georgia"/>
              </a:rPr>
              <a:t>And you already paid for all of this: context and open questions, a candidate register, the threat model and its risk register, use and abuse and counter-use cases, security architecture current and target, gap analysis of required against built, an SRTM with test artefacts, and an executive security review.</a:t>
            </a:r>
          </a:p>
          <a:p>
            <a:pPr algn="l">
              <a:lnSpc>
                <a:spcPts val="2242"/>
              </a:lnSpc>
              <a:spcBef>
                <a:spcPts val="1300"/>
              </a:spcBef>
              <a:spcAft>
                <a:spcPts val="0"/>
              </a:spcAft>
            </a:pPr>
            <a:r>
              <a:rPr sz="1900" b="0">
                <a:solidFill>
                  <a:srgbClr val="969DAA"/>
                </a:solidFill>
                <a:latin typeface="Georgia"/>
              </a:rPr>
              <a:t>Nine documents. The requirements, the tests that would prove them and four corrected diagrams are all sitting there for whatever builds the thing next. Nothing here tested that, and it is the obvious next experiment.</a:t>
            </a:r>
          </a:p>
          <a:p>
            <a:pPr algn="l">
              <a:lnSpc>
                <a:spcPts val="2242"/>
              </a:lnSpc>
              <a:spcBef>
                <a:spcPts val="1300"/>
              </a:spcBef>
              <a:spcAft>
                <a:spcPts val="0"/>
              </a:spcAft>
            </a:pPr>
            <a:r>
              <a:rPr sz="1900" b="0">
                <a:solidFill>
                  <a:srgbClr val="969DAA"/>
                </a:solidFill>
                <a:latin typeface="Georgia"/>
              </a:rPr>
              <a:t>And the learning leaves the room with the people who were in it. What gets argued out in that session is what they carry into the next design review, the next pull request, and the conversation at the coffee machine. Nothing in this evaluation measures that, and it is still the reason the session is worth the time.</a:t>
            </a:r>
          </a:p>
        </p:txBody>
      </p:sp>
      <p:sp>
        <p:nvSpPr>
          <p:cNvPr id="7" name="Rectangle 6"/>
          <p:cNvSpPr/>
          <p:nvPr/>
        </p:nvSpPr>
        <p:spPr>
          <a:xfrm>
            <a:off x="841248" y="8010144"/>
            <a:ext cx="54864" cy="1097280"/>
          </a:xfrm>
          <a:prstGeom prst="rect">
            <a:avLst/>
          </a:prstGeom>
          <a:solidFill>
            <a:srgbClr val="B14B26"/>
          </a:solidFill>
          <a:ln>
            <a:noFill/>
          </a:ln>
          <a:effectLst/>
        </p:spPr>
        <p:txBody>
          <a:bodyPr wrap="square" rtlCol="0" anchor="ctr"/>
          <a:lstStyle/>
          <a:p>
            <a:pPr algn="ctr"/>
            <a:endParaRPr/>
          </a:p>
        </p:txBody>
      </p:sp>
      <p:sp>
        <p:nvSpPr>
          <p:cNvPr id="8" name="TextBox 7"/>
          <p:cNvSpPr txBox="1"/>
          <p:nvPr/>
        </p:nvSpPr>
        <p:spPr>
          <a:xfrm>
            <a:off x="1188720" y="8010144"/>
            <a:ext cx="15243048" cy="1097280"/>
          </a:xfrm>
          <a:prstGeom prst="rect">
            <a:avLst/>
          </a:prstGeom>
          <a:noFill/>
        </p:spPr>
        <p:txBody>
          <a:bodyPr wrap="square" lIns="0" tIns="0" rIns="0" bIns="0" anchor="t">
            <a:spAutoFit/>
          </a:bodyPr>
          <a:lstStyle/>
          <a:p>
            <a:pPr algn="l">
              <a:lnSpc>
                <a:spcPts val="3068"/>
              </a:lnSpc>
              <a:spcAft>
                <a:spcPts val="0"/>
              </a:spcAft>
            </a:pPr>
            <a:r>
              <a:rPr sz="2600" b="0">
                <a:solidFill>
                  <a:srgbClr val="F4F2ED"/>
                </a:solidFill>
                <a:latin typeface="Georgia"/>
              </a:rPr>
              <a:t>A model can produce a document. Only a room can produce collective understanding.</a:t>
            </a:r>
          </a:p>
          <a:p>
            <a:pPr algn="l">
              <a:lnSpc>
                <a:spcPts val="3068"/>
              </a:lnSpc>
              <a:spcBef>
                <a:spcPts val="800"/>
              </a:spcBef>
              <a:spcAft>
                <a:spcPts val="0"/>
              </a:spcAft>
            </a:pPr>
            <a:r>
              <a:rPr sz="2600" b="0">
                <a:solidFill>
                  <a:srgbClr val="B14B26"/>
                </a:solidFill>
                <a:latin typeface="Georgia"/>
              </a:rPr>
              <a:t>That is the part that cannot be automated away.</a:t>
            </a:r>
          </a:p>
        </p:txBody>
      </p:sp>
      <p:sp>
        <p:nvSpPr>
          <p:cNvPr id="9" name="TextBox 8"/>
          <p:cNvSpPr txBox="1"/>
          <p:nvPr/>
        </p:nvSpPr>
        <p:spPr>
          <a:xfrm>
            <a:off x="841248" y="9674352"/>
            <a:ext cx="16605504" cy="274320"/>
          </a:xfrm>
          <a:prstGeom prst="rect">
            <a:avLst/>
          </a:prstGeom>
          <a:noFill/>
        </p:spPr>
        <p:txBody>
          <a:bodyPr wrap="square" lIns="0" tIns="0" rIns="0" bIns="0" anchor="t">
            <a:spAutoFit/>
          </a:bodyPr>
          <a:lstStyle/>
          <a:p>
            <a:pPr algn="l">
              <a:lnSpc>
                <a:spcPts val="1416"/>
              </a:lnSpc>
              <a:spcAft>
                <a:spcPts val="0"/>
              </a:spcAft>
            </a:pPr>
            <a:r>
              <a:rPr sz="1200" b="0" spc="120">
                <a:solidFill>
                  <a:srgbClr val="969DAA"/>
                </a:solidFill>
                <a:latin typeface="Arial"/>
              </a:rPr>
              <a:t>17      Security Champion Summit 2026      Brett Crawley</a:t>
            </a:r>
          </a:p>
        </p:txBody>
      </p:sp>
    </p:spTree>
  </p:cSld>
  <p:clrMapOvr>
    <a:masterClrMapping/>
  </p:clrMapOvr>
</p:sld>
</file>

<file path=ppt/theme/theme1.xml><?xml version="1.0" encoding="utf-8"?>
<a:theme xmlns:a="http://schemas.openxmlformats.org/drawingml/2006/main" name="De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3467</Words>
  <Application>Microsoft Macintosh PowerPoint</Application>
  <PresentationFormat>Custom</PresentationFormat>
  <Paragraphs>528</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Brett Crawley</dc:creator>
  <cp:keywords/>
  <dc:description/>
  <cp:lastModifiedBy>Jonathan Brett Crawley</cp:lastModifiedBy>
  <cp:revision>3</cp:revision>
  <dcterms:created xsi:type="dcterms:W3CDTF">2026-10-14T14:49:41Z</dcterms:created>
  <dcterms:modified xsi:type="dcterms:W3CDTF">2026-10-19T10:20:05Z</dcterms:modified>
  <cp:category/>
</cp:coreProperties>
</file>